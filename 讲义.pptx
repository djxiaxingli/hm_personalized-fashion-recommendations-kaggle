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12192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58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5323" y="461238"/>
            <a:ext cx="9201353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2650" y="1957197"/>
            <a:ext cx="10128250" cy="4185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3" Type="http://schemas.openxmlformats.org/officeDocument/2006/relationships/image" Target="../media/image38.png"/><Relationship Id="rId7" Type="http://schemas.openxmlformats.org/officeDocument/2006/relationships/image" Target="../media/image4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png"/><Relationship Id="rId9" Type="http://schemas.openxmlformats.org/officeDocument/2006/relationships/image" Target="../media/image4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g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jpg"/><Relationship Id="rId5" Type="http://schemas.openxmlformats.org/officeDocument/2006/relationships/image" Target="../media/image53.jpg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jpg"/><Relationship Id="rId5" Type="http://schemas.openxmlformats.org/officeDocument/2006/relationships/image" Target="../media/image55.jp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8.jpg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jpg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4.jp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.jp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jpg"/><Relationship Id="rId4" Type="http://schemas.openxmlformats.org/officeDocument/2006/relationships/image" Target="../media/image6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10953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总目</a:t>
            </a:r>
            <a:r>
              <a:rPr sz="2800" b="1" spc="-20" dirty="0">
                <a:latin typeface="宋体"/>
                <a:cs typeface="宋体"/>
              </a:rPr>
              <a:t>录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5323" y="1371257"/>
            <a:ext cx="1563370" cy="12598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微软雅黑"/>
                <a:cs typeface="微软雅黑"/>
              </a:rPr>
              <a:t>讲义1</a:t>
            </a:r>
            <a:endParaRPr sz="18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理解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K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a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gg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96713" y="1366735"/>
            <a:ext cx="2896235" cy="12598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微软雅黑"/>
                <a:cs typeface="微软雅黑"/>
              </a:rPr>
              <a:t>讲义2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b="1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b="1" spc="-2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b="1" spc="-2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95323" y="3325418"/>
            <a:ext cx="624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讲义3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5450" y="3831285"/>
            <a:ext cx="339026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Coo_matrix and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csr</a:t>
            </a:r>
            <a:r>
              <a:rPr sz="1800" b="1" spc="-2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matrix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 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49811" y="3372611"/>
            <a:ext cx="1788160" cy="1250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讲义4</a:t>
            </a:r>
            <a:endParaRPr sz="1800">
              <a:latin typeface="微软雅黑"/>
              <a:cs typeface="微软雅黑"/>
            </a:endParaRPr>
          </a:p>
          <a:p>
            <a:pPr marL="448945" indent="-342900">
              <a:lnSpc>
                <a:spcPct val="100000"/>
              </a:lnSpc>
              <a:spcBef>
                <a:spcPts val="2080"/>
              </a:spcBef>
              <a:buFont typeface="Arial"/>
              <a:buChar char="•"/>
              <a:tabLst>
                <a:tab pos="448945" algn="l"/>
                <a:tab pos="449580" algn="l"/>
              </a:tabLst>
            </a:pP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Small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tricks</a:t>
            </a:r>
            <a:endParaRPr sz="1800">
              <a:latin typeface="微软雅黑"/>
              <a:cs typeface="微软雅黑"/>
            </a:endParaRPr>
          </a:p>
          <a:p>
            <a:pPr marL="459740" indent="-35369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459740" algn="l"/>
                <a:tab pos="460375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模型融合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845" y="1282763"/>
            <a:ext cx="154178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Clr>
                <a:srgbClr val="2D75B6"/>
              </a:buClr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2D75B6"/>
              </a:buClr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b="1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理解ka</a:t>
            </a:r>
            <a:r>
              <a:rPr sz="1800" b="1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gg</a:t>
            </a:r>
            <a:r>
              <a:rPr sz="1800" b="1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1109471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796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1111796" y="0"/>
                </a:lnTo>
                <a:lnTo>
                  <a:pt x="1113256" y="292"/>
                </a:lnTo>
                <a:lnTo>
                  <a:pt x="1114488" y="1117"/>
                </a:lnTo>
                <a:lnTo>
                  <a:pt x="1115314" y="2362"/>
                </a:lnTo>
                <a:lnTo>
                  <a:pt x="1115606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1115606" y="462724"/>
                </a:lnTo>
                <a:lnTo>
                  <a:pt x="1115314" y="464185"/>
                </a:lnTo>
                <a:lnTo>
                  <a:pt x="1114488" y="465416"/>
                </a:lnTo>
                <a:lnTo>
                  <a:pt x="1113256" y="466242"/>
                </a:lnTo>
                <a:lnTo>
                  <a:pt x="1111796" y="466534"/>
                </a:lnTo>
                <a:close/>
              </a:path>
              <a:path w="111569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115695" h="466725">
                <a:moveTo>
                  <a:pt x="1107986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107986" y="3810"/>
                </a:lnTo>
                <a:lnTo>
                  <a:pt x="1107986" y="7620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1107986" y="3810"/>
                </a:lnTo>
                <a:lnTo>
                  <a:pt x="1111796" y="7620"/>
                </a:lnTo>
                <a:lnTo>
                  <a:pt x="1115606" y="7620"/>
                </a:lnTo>
                <a:lnTo>
                  <a:pt x="1115606" y="458914"/>
                </a:lnTo>
                <a:lnTo>
                  <a:pt x="111179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7620"/>
                </a:moveTo>
                <a:lnTo>
                  <a:pt x="1111796" y="7620"/>
                </a:lnTo>
                <a:lnTo>
                  <a:pt x="1107986" y="3810"/>
                </a:lnTo>
                <a:lnTo>
                  <a:pt x="1115606" y="3810"/>
                </a:lnTo>
                <a:lnTo>
                  <a:pt x="1115606" y="7620"/>
                </a:lnTo>
                <a:close/>
              </a:path>
              <a:path w="111569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110798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462724"/>
                </a:moveTo>
                <a:lnTo>
                  <a:pt x="1107986" y="462724"/>
                </a:lnTo>
                <a:lnTo>
                  <a:pt x="1111796" y="458914"/>
                </a:lnTo>
                <a:lnTo>
                  <a:pt x="1115606" y="458914"/>
                </a:lnTo>
                <a:lnTo>
                  <a:pt x="1115606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5766435" cy="383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比赛背景</a:t>
            </a:r>
            <a:endParaRPr sz="1800">
              <a:latin typeface="微软雅黑"/>
              <a:cs typeface="微软雅黑"/>
            </a:endParaRPr>
          </a:p>
          <a:p>
            <a:pPr marL="38100" marR="5080">
              <a:lnSpc>
                <a:spcPct val="150000"/>
              </a:lnSpc>
              <a:spcBef>
                <a:spcPts val="1914"/>
              </a:spcBef>
            </a:pPr>
            <a:r>
              <a:rPr sz="1800" spc="-5" dirty="0">
                <a:latin typeface="Calibri"/>
                <a:cs typeface="Calibri"/>
              </a:rPr>
              <a:t>H&amp;M</a:t>
            </a:r>
            <a:r>
              <a:rPr sz="1800" dirty="0">
                <a:latin typeface="宋体"/>
                <a:cs typeface="宋体"/>
              </a:rPr>
              <a:t>集团拥有</a:t>
            </a:r>
            <a:r>
              <a:rPr sz="1800" spc="-5" dirty="0">
                <a:latin typeface="Calibri"/>
                <a:cs typeface="Calibri"/>
              </a:rPr>
              <a:t>53</a:t>
            </a:r>
            <a:r>
              <a:rPr sz="1800" dirty="0">
                <a:latin typeface="宋体"/>
                <a:cs typeface="宋体"/>
              </a:rPr>
              <a:t>个网上市场和大约</a:t>
            </a:r>
            <a:r>
              <a:rPr sz="1800" spc="-5" dirty="0">
                <a:latin typeface="Calibri"/>
                <a:cs typeface="Calibri"/>
              </a:rPr>
              <a:t>4850</a:t>
            </a:r>
            <a:r>
              <a:rPr sz="1800" dirty="0">
                <a:latin typeface="宋体"/>
                <a:cs typeface="宋体"/>
              </a:rPr>
              <a:t>家商店。其网上 商店为购物者提供了广泛的产品选择，供其浏览。但是， 由于选择太多，顾客可能无法迅速找到他们感兴趣的东 西或他们正在寻找的东西，最终，他们可能不会购买。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38100" marR="5080">
              <a:lnSpc>
                <a:spcPct val="150000"/>
              </a:lnSpc>
              <a:spcBef>
                <a:spcPts val="1170"/>
              </a:spcBef>
            </a:pPr>
            <a:r>
              <a:rPr sz="1800" dirty="0">
                <a:latin typeface="宋体"/>
                <a:cs typeface="宋体"/>
              </a:rPr>
              <a:t>为了提高购物体验，产品推荐是关键。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更重要的是，帮 助顾客做出正确的选择对可持续发展也有积极意义，因 为它可以减少退货，从而最大限度地减少运输中的排放。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72998" y="2121992"/>
            <a:ext cx="5272455" cy="3644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1109471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796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1111796" y="0"/>
                </a:lnTo>
                <a:lnTo>
                  <a:pt x="1113256" y="292"/>
                </a:lnTo>
                <a:lnTo>
                  <a:pt x="1114488" y="1117"/>
                </a:lnTo>
                <a:lnTo>
                  <a:pt x="1115314" y="2362"/>
                </a:lnTo>
                <a:lnTo>
                  <a:pt x="1115606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1115606" y="462724"/>
                </a:lnTo>
                <a:lnTo>
                  <a:pt x="1115314" y="464185"/>
                </a:lnTo>
                <a:lnTo>
                  <a:pt x="1114488" y="465416"/>
                </a:lnTo>
                <a:lnTo>
                  <a:pt x="1113256" y="466242"/>
                </a:lnTo>
                <a:lnTo>
                  <a:pt x="1111796" y="466534"/>
                </a:lnTo>
                <a:close/>
              </a:path>
              <a:path w="111569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115695" h="466725">
                <a:moveTo>
                  <a:pt x="1107986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107986" y="3810"/>
                </a:lnTo>
                <a:lnTo>
                  <a:pt x="1107986" y="7620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1107986" y="3810"/>
                </a:lnTo>
                <a:lnTo>
                  <a:pt x="1111796" y="7620"/>
                </a:lnTo>
                <a:lnTo>
                  <a:pt x="1115606" y="7620"/>
                </a:lnTo>
                <a:lnTo>
                  <a:pt x="1115606" y="458914"/>
                </a:lnTo>
                <a:lnTo>
                  <a:pt x="111179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7620"/>
                </a:moveTo>
                <a:lnTo>
                  <a:pt x="1111796" y="7620"/>
                </a:lnTo>
                <a:lnTo>
                  <a:pt x="1107986" y="3810"/>
                </a:lnTo>
                <a:lnTo>
                  <a:pt x="1115606" y="3810"/>
                </a:lnTo>
                <a:lnTo>
                  <a:pt x="1115606" y="7620"/>
                </a:lnTo>
                <a:close/>
              </a:path>
              <a:path w="111569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110798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462724"/>
                </a:moveTo>
                <a:lnTo>
                  <a:pt x="1107986" y="462724"/>
                </a:lnTo>
                <a:lnTo>
                  <a:pt x="1111796" y="458914"/>
                </a:lnTo>
                <a:lnTo>
                  <a:pt x="1115606" y="458914"/>
                </a:lnTo>
                <a:lnTo>
                  <a:pt x="1115606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5670550" cy="424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比赛背景</a:t>
            </a:r>
            <a:endParaRPr sz="1800">
              <a:latin typeface="微软雅黑"/>
              <a:cs typeface="微软雅黑"/>
            </a:endParaRPr>
          </a:p>
          <a:p>
            <a:pPr marL="38100" marR="100965" algn="just">
              <a:lnSpc>
                <a:spcPct val="150000"/>
              </a:lnSpc>
              <a:spcBef>
                <a:spcPts val="1914"/>
              </a:spcBef>
            </a:pPr>
            <a:r>
              <a:rPr sz="1800" dirty="0">
                <a:latin typeface="宋体"/>
                <a:cs typeface="宋体"/>
              </a:rPr>
              <a:t>在这次竞赛中，参赛者将根据</a:t>
            </a:r>
            <a:r>
              <a:rPr sz="1800" spc="-5" dirty="0"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&amp;M</a:t>
            </a:r>
            <a:r>
              <a:rPr sz="1800" dirty="0">
                <a:latin typeface="宋体"/>
                <a:cs typeface="宋体"/>
              </a:rPr>
              <a:t>集团以往交易的数据 以及客户和产品的元数据来开发产品推荐。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可用的元数 据从简单的数据，如服装类型和客户年龄，到产品描述 的文本数据，再到服装图片的图像数据。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对于哪些信息可能是有用的，没有任何先入为主的看法</a:t>
            </a:r>
            <a:r>
              <a:rPr sz="1800" dirty="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 marL="38100" marR="5080" algn="just">
              <a:lnSpc>
                <a:spcPct val="150000"/>
              </a:lnSpc>
            </a:pPr>
            <a:r>
              <a:rPr sz="1800" spc="-5" dirty="0">
                <a:latin typeface="Calibri"/>
                <a:cs typeface="Calibri"/>
              </a:rPr>
              <a:t>-</a:t>
            </a:r>
            <a:r>
              <a:rPr sz="1800" dirty="0">
                <a:latin typeface="宋体"/>
                <a:cs typeface="宋体"/>
              </a:rPr>
              <a:t>这要由你自己去发现。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如果你想研究分类数据类型的算 法，或深入研究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NL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和图像处理的深度学习，那是由你决 定的。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72998" y="2121992"/>
            <a:ext cx="5272455" cy="3644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191" y="1427988"/>
            <a:ext cx="1107947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0267" y="142353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808" y="466521"/>
                </a:moveTo>
                <a:lnTo>
                  <a:pt x="3809" y="466521"/>
                </a:lnTo>
                <a:lnTo>
                  <a:pt x="2349" y="466229"/>
                </a:lnTo>
                <a:lnTo>
                  <a:pt x="1117" y="465404"/>
                </a:lnTo>
                <a:lnTo>
                  <a:pt x="292" y="464172"/>
                </a:lnTo>
                <a:lnTo>
                  <a:pt x="0" y="462711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111808" y="0"/>
                </a:lnTo>
                <a:lnTo>
                  <a:pt x="1113269" y="292"/>
                </a:lnTo>
                <a:lnTo>
                  <a:pt x="1114501" y="1117"/>
                </a:lnTo>
                <a:lnTo>
                  <a:pt x="1115326" y="2349"/>
                </a:lnTo>
                <a:lnTo>
                  <a:pt x="1115618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01"/>
                </a:lnTo>
                <a:lnTo>
                  <a:pt x="3809" y="458901"/>
                </a:lnTo>
                <a:lnTo>
                  <a:pt x="7619" y="462711"/>
                </a:lnTo>
                <a:lnTo>
                  <a:pt x="1115618" y="462711"/>
                </a:lnTo>
                <a:lnTo>
                  <a:pt x="1115326" y="464172"/>
                </a:lnTo>
                <a:lnTo>
                  <a:pt x="1114501" y="465404"/>
                </a:lnTo>
                <a:lnTo>
                  <a:pt x="1113269" y="466229"/>
                </a:lnTo>
                <a:lnTo>
                  <a:pt x="1111808" y="466521"/>
                </a:lnTo>
                <a:close/>
              </a:path>
              <a:path w="1115695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115695" h="466725">
                <a:moveTo>
                  <a:pt x="1107998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107998" y="3809"/>
                </a:lnTo>
                <a:lnTo>
                  <a:pt x="1107998" y="7619"/>
                </a:lnTo>
                <a:close/>
              </a:path>
              <a:path w="1115695" h="466725">
                <a:moveTo>
                  <a:pt x="1107998" y="462711"/>
                </a:moveTo>
                <a:lnTo>
                  <a:pt x="1107998" y="3809"/>
                </a:lnTo>
                <a:lnTo>
                  <a:pt x="1111808" y="7619"/>
                </a:lnTo>
                <a:lnTo>
                  <a:pt x="1115618" y="7619"/>
                </a:lnTo>
                <a:lnTo>
                  <a:pt x="1115618" y="458901"/>
                </a:lnTo>
                <a:lnTo>
                  <a:pt x="1111808" y="458901"/>
                </a:lnTo>
                <a:lnTo>
                  <a:pt x="1107998" y="462711"/>
                </a:lnTo>
                <a:close/>
              </a:path>
              <a:path w="1115695" h="466725">
                <a:moveTo>
                  <a:pt x="1115618" y="7619"/>
                </a:moveTo>
                <a:lnTo>
                  <a:pt x="1111808" y="7619"/>
                </a:lnTo>
                <a:lnTo>
                  <a:pt x="1107998" y="3809"/>
                </a:lnTo>
                <a:lnTo>
                  <a:pt x="1115618" y="3809"/>
                </a:lnTo>
                <a:lnTo>
                  <a:pt x="1115618" y="7619"/>
                </a:lnTo>
                <a:close/>
              </a:path>
              <a:path w="1115695" h="466725">
                <a:moveTo>
                  <a:pt x="7619" y="462711"/>
                </a:moveTo>
                <a:lnTo>
                  <a:pt x="3809" y="458901"/>
                </a:lnTo>
                <a:lnTo>
                  <a:pt x="7619" y="458901"/>
                </a:lnTo>
                <a:lnTo>
                  <a:pt x="7619" y="462711"/>
                </a:lnTo>
                <a:close/>
              </a:path>
              <a:path w="1115695" h="466725">
                <a:moveTo>
                  <a:pt x="1107998" y="462711"/>
                </a:moveTo>
                <a:lnTo>
                  <a:pt x="7619" y="462711"/>
                </a:lnTo>
                <a:lnTo>
                  <a:pt x="7619" y="458901"/>
                </a:lnTo>
                <a:lnTo>
                  <a:pt x="1107998" y="458901"/>
                </a:lnTo>
                <a:lnTo>
                  <a:pt x="1107998" y="462711"/>
                </a:lnTo>
                <a:close/>
              </a:path>
              <a:path w="1115695" h="466725">
                <a:moveTo>
                  <a:pt x="1115618" y="462711"/>
                </a:moveTo>
                <a:lnTo>
                  <a:pt x="1107998" y="462711"/>
                </a:lnTo>
                <a:lnTo>
                  <a:pt x="1111808" y="458901"/>
                </a:lnTo>
                <a:lnTo>
                  <a:pt x="1115618" y="458901"/>
                </a:lnTo>
                <a:lnTo>
                  <a:pt x="1115618" y="46271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4191" y="156958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比赛数据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604" y="2339923"/>
            <a:ext cx="499300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272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在这个挑战中，你会得到客户在不同时期的购买 历史，以及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支持性元数据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48600"/>
              </a:lnSpc>
              <a:spcBef>
                <a:spcPts val="1260"/>
              </a:spcBef>
            </a:pPr>
            <a:r>
              <a:rPr sz="1800" dirty="0">
                <a:latin typeface="宋体"/>
                <a:cs typeface="宋体"/>
              </a:rPr>
              <a:t>你的挑战是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预测每个客户在训练数据结束后的</a:t>
            </a:r>
            <a:r>
              <a:rPr sz="1800" dirty="0">
                <a:solidFill>
                  <a:srgbClr val="FF0000"/>
                </a:solidFill>
                <a:latin typeface="Segoe Print"/>
                <a:cs typeface="Segoe Print"/>
              </a:rPr>
              <a:t>7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天 内会购买什么物品。</a:t>
            </a:r>
            <a:r>
              <a:rPr sz="1800" dirty="0">
                <a:latin typeface="宋体"/>
                <a:cs typeface="宋体"/>
              </a:rPr>
              <a:t>在这段时间内没有进行任何 购买的客户将被排除在评分之外。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73039" y="1185011"/>
            <a:ext cx="6245796" cy="53402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191" y="1427988"/>
            <a:ext cx="1107947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0267" y="142353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808" y="466521"/>
                </a:moveTo>
                <a:lnTo>
                  <a:pt x="3809" y="466521"/>
                </a:lnTo>
                <a:lnTo>
                  <a:pt x="2349" y="466229"/>
                </a:lnTo>
                <a:lnTo>
                  <a:pt x="1117" y="465404"/>
                </a:lnTo>
                <a:lnTo>
                  <a:pt x="292" y="464172"/>
                </a:lnTo>
                <a:lnTo>
                  <a:pt x="0" y="462711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111808" y="0"/>
                </a:lnTo>
                <a:lnTo>
                  <a:pt x="1113269" y="292"/>
                </a:lnTo>
                <a:lnTo>
                  <a:pt x="1114501" y="1117"/>
                </a:lnTo>
                <a:lnTo>
                  <a:pt x="1115326" y="2349"/>
                </a:lnTo>
                <a:lnTo>
                  <a:pt x="1115618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01"/>
                </a:lnTo>
                <a:lnTo>
                  <a:pt x="3809" y="458901"/>
                </a:lnTo>
                <a:lnTo>
                  <a:pt x="7619" y="462711"/>
                </a:lnTo>
                <a:lnTo>
                  <a:pt x="1115618" y="462711"/>
                </a:lnTo>
                <a:lnTo>
                  <a:pt x="1115326" y="464172"/>
                </a:lnTo>
                <a:lnTo>
                  <a:pt x="1114501" y="465404"/>
                </a:lnTo>
                <a:lnTo>
                  <a:pt x="1113269" y="466229"/>
                </a:lnTo>
                <a:lnTo>
                  <a:pt x="1111808" y="466521"/>
                </a:lnTo>
                <a:close/>
              </a:path>
              <a:path w="1115695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115695" h="466725">
                <a:moveTo>
                  <a:pt x="1107998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107998" y="3809"/>
                </a:lnTo>
                <a:lnTo>
                  <a:pt x="1107998" y="7619"/>
                </a:lnTo>
                <a:close/>
              </a:path>
              <a:path w="1115695" h="466725">
                <a:moveTo>
                  <a:pt x="1107998" y="462711"/>
                </a:moveTo>
                <a:lnTo>
                  <a:pt x="1107998" y="3809"/>
                </a:lnTo>
                <a:lnTo>
                  <a:pt x="1111808" y="7619"/>
                </a:lnTo>
                <a:lnTo>
                  <a:pt x="1115618" y="7619"/>
                </a:lnTo>
                <a:lnTo>
                  <a:pt x="1115618" y="458901"/>
                </a:lnTo>
                <a:lnTo>
                  <a:pt x="1111808" y="458901"/>
                </a:lnTo>
                <a:lnTo>
                  <a:pt x="1107998" y="462711"/>
                </a:lnTo>
                <a:close/>
              </a:path>
              <a:path w="1115695" h="466725">
                <a:moveTo>
                  <a:pt x="1115618" y="7619"/>
                </a:moveTo>
                <a:lnTo>
                  <a:pt x="1111808" y="7619"/>
                </a:lnTo>
                <a:lnTo>
                  <a:pt x="1107998" y="3809"/>
                </a:lnTo>
                <a:lnTo>
                  <a:pt x="1115618" y="3809"/>
                </a:lnTo>
                <a:lnTo>
                  <a:pt x="1115618" y="7619"/>
                </a:lnTo>
                <a:close/>
              </a:path>
              <a:path w="1115695" h="466725">
                <a:moveTo>
                  <a:pt x="7619" y="462711"/>
                </a:moveTo>
                <a:lnTo>
                  <a:pt x="3809" y="458901"/>
                </a:lnTo>
                <a:lnTo>
                  <a:pt x="7619" y="458901"/>
                </a:lnTo>
                <a:lnTo>
                  <a:pt x="7619" y="462711"/>
                </a:lnTo>
                <a:close/>
              </a:path>
              <a:path w="1115695" h="466725">
                <a:moveTo>
                  <a:pt x="1107998" y="462711"/>
                </a:moveTo>
                <a:lnTo>
                  <a:pt x="7619" y="462711"/>
                </a:lnTo>
                <a:lnTo>
                  <a:pt x="7619" y="458901"/>
                </a:lnTo>
                <a:lnTo>
                  <a:pt x="1107998" y="458901"/>
                </a:lnTo>
                <a:lnTo>
                  <a:pt x="1107998" y="462711"/>
                </a:lnTo>
                <a:close/>
              </a:path>
              <a:path w="1115695" h="466725">
                <a:moveTo>
                  <a:pt x="1115618" y="462711"/>
                </a:moveTo>
                <a:lnTo>
                  <a:pt x="1107998" y="462711"/>
                </a:lnTo>
                <a:lnTo>
                  <a:pt x="1111808" y="458901"/>
                </a:lnTo>
                <a:lnTo>
                  <a:pt x="1115618" y="458901"/>
                </a:lnTo>
                <a:lnTo>
                  <a:pt x="1115618" y="46271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4191" y="156958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比赛数据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3940" y="2347544"/>
            <a:ext cx="5495925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b="1" spc="-5" dirty="0">
                <a:latin typeface="Segoe Print"/>
                <a:cs typeface="Segoe Print"/>
              </a:rPr>
              <a:t>images/</a:t>
            </a:r>
            <a:r>
              <a:rPr sz="1800" b="1" spc="-4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-</a:t>
            </a:r>
            <a:r>
              <a:rPr sz="1800" spc="-30" dirty="0">
                <a:latin typeface="Segoe Print"/>
                <a:cs typeface="Segoe Print"/>
              </a:rPr>
              <a:t> </a:t>
            </a:r>
            <a:r>
              <a:rPr sz="1800" dirty="0">
                <a:latin typeface="宋体"/>
                <a:cs typeface="宋体"/>
              </a:rPr>
              <a:t>每个</a:t>
            </a:r>
            <a:r>
              <a:rPr sz="1800" spc="-5" dirty="0">
                <a:latin typeface="Segoe Print"/>
                <a:cs typeface="Segoe Print"/>
              </a:rPr>
              <a:t>article_id</a:t>
            </a:r>
            <a:r>
              <a:rPr sz="1800" dirty="0">
                <a:latin typeface="宋体"/>
                <a:cs typeface="宋体"/>
              </a:rPr>
              <a:t>对应的图片文件夹；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注意，  不是所有的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article_id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值都有对应的图片。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>
              <a:latin typeface="Times New Roman"/>
              <a:cs typeface="Times New Roman"/>
            </a:endParaRPr>
          </a:p>
          <a:p>
            <a:pPr marL="12700" marR="155575">
              <a:lnSpc>
                <a:spcPct val="147200"/>
              </a:lnSpc>
            </a:pPr>
            <a:r>
              <a:rPr sz="1800" b="1" spc="-5" dirty="0">
                <a:latin typeface="Segoe Print"/>
                <a:cs typeface="Segoe Print"/>
              </a:rPr>
              <a:t>articles.csv</a:t>
            </a:r>
            <a:r>
              <a:rPr sz="1800" b="1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-</a:t>
            </a:r>
            <a:r>
              <a:rPr sz="1800" spc="-25" dirty="0">
                <a:latin typeface="Segoe Print"/>
                <a:cs typeface="Segoe Print"/>
              </a:rPr>
              <a:t> </a:t>
            </a:r>
            <a:r>
              <a:rPr sz="1800" dirty="0">
                <a:latin typeface="宋体"/>
                <a:cs typeface="宋体"/>
              </a:rPr>
              <a:t>每个可供购买的</a:t>
            </a:r>
            <a:r>
              <a:rPr sz="1800" spc="-5" dirty="0">
                <a:latin typeface="Segoe Print"/>
                <a:cs typeface="Segoe Print"/>
              </a:rPr>
              <a:t>article_id</a:t>
            </a:r>
            <a:r>
              <a:rPr sz="1800" dirty="0">
                <a:latin typeface="宋体"/>
                <a:cs typeface="宋体"/>
              </a:rPr>
              <a:t>的详细元数 据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 marR="176530">
              <a:lnSpc>
                <a:spcPct val="147200"/>
              </a:lnSpc>
              <a:spcBef>
                <a:spcPts val="1290"/>
              </a:spcBef>
            </a:pPr>
            <a:r>
              <a:rPr sz="1800" b="1" spc="-5" dirty="0">
                <a:latin typeface="Segoe Print"/>
                <a:cs typeface="Segoe Print"/>
              </a:rPr>
              <a:t>customers.csv</a:t>
            </a:r>
            <a:r>
              <a:rPr sz="1800" b="1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-</a:t>
            </a:r>
            <a:r>
              <a:rPr sz="1800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宋体"/>
                <a:cs typeface="宋体"/>
              </a:rPr>
              <a:t>数据集中每个</a:t>
            </a:r>
            <a:r>
              <a:rPr sz="1800" spc="-5" dirty="0">
                <a:latin typeface="Segoe Print"/>
                <a:cs typeface="Segoe Print"/>
              </a:rPr>
              <a:t>customer_id</a:t>
            </a:r>
            <a:r>
              <a:rPr sz="1800" dirty="0">
                <a:latin typeface="宋体"/>
                <a:cs typeface="宋体"/>
              </a:rPr>
              <a:t>的元数 据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Segoe Print"/>
                <a:cs typeface="Segoe Print"/>
              </a:rPr>
              <a:t>sample_submission.csv</a:t>
            </a:r>
            <a:r>
              <a:rPr sz="1800" b="1" spc="-15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-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宋体"/>
                <a:cs typeface="宋体"/>
              </a:rPr>
              <a:t>正确格式的提交样本文件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49619" y="1492910"/>
            <a:ext cx="5437441" cy="47751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4191" y="1427988"/>
            <a:ext cx="1107947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0267" y="142353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808" y="466521"/>
                </a:moveTo>
                <a:lnTo>
                  <a:pt x="3809" y="466521"/>
                </a:lnTo>
                <a:lnTo>
                  <a:pt x="2349" y="466229"/>
                </a:lnTo>
                <a:lnTo>
                  <a:pt x="1117" y="465404"/>
                </a:lnTo>
                <a:lnTo>
                  <a:pt x="292" y="464172"/>
                </a:lnTo>
                <a:lnTo>
                  <a:pt x="0" y="462711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111808" y="0"/>
                </a:lnTo>
                <a:lnTo>
                  <a:pt x="1113269" y="292"/>
                </a:lnTo>
                <a:lnTo>
                  <a:pt x="1114501" y="1117"/>
                </a:lnTo>
                <a:lnTo>
                  <a:pt x="1115326" y="2349"/>
                </a:lnTo>
                <a:lnTo>
                  <a:pt x="1115618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01"/>
                </a:lnTo>
                <a:lnTo>
                  <a:pt x="3809" y="458901"/>
                </a:lnTo>
                <a:lnTo>
                  <a:pt x="7619" y="462711"/>
                </a:lnTo>
                <a:lnTo>
                  <a:pt x="1115618" y="462711"/>
                </a:lnTo>
                <a:lnTo>
                  <a:pt x="1115326" y="464172"/>
                </a:lnTo>
                <a:lnTo>
                  <a:pt x="1114501" y="465404"/>
                </a:lnTo>
                <a:lnTo>
                  <a:pt x="1113269" y="466229"/>
                </a:lnTo>
                <a:lnTo>
                  <a:pt x="1111808" y="466521"/>
                </a:lnTo>
                <a:close/>
              </a:path>
              <a:path w="1115695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115695" h="466725">
                <a:moveTo>
                  <a:pt x="1107998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107998" y="3809"/>
                </a:lnTo>
                <a:lnTo>
                  <a:pt x="1107998" y="7619"/>
                </a:lnTo>
                <a:close/>
              </a:path>
              <a:path w="1115695" h="466725">
                <a:moveTo>
                  <a:pt x="1107998" y="462711"/>
                </a:moveTo>
                <a:lnTo>
                  <a:pt x="1107998" y="3809"/>
                </a:lnTo>
                <a:lnTo>
                  <a:pt x="1111808" y="7619"/>
                </a:lnTo>
                <a:lnTo>
                  <a:pt x="1115618" y="7619"/>
                </a:lnTo>
                <a:lnTo>
                  <a:pt x="1115618" y="458901"/>
                </a:lnTo>
                <a:lnTo>
                  <a:pt x="1111808" y="458901"/>
                </a:lnTo>
                <a:lnTo>
                  <a:pt x="1107998" y="462711"/>
                </a:lnTo>
                <a:close/>
              </a:path>
              <a:path w="1115695" h="466725">
                <a:moveTo>
                  <a:pt x="1115618" y="7619"/>
                </a:moveTo>
                <a:lnTo>
                  <a:pt x="1111808" y="7619"/>
                </a:lnTo>
                <a:lnTo>
                  <a:pt x="1107998" y="3809"/>
                </a:lnTo>
                <a:lnTo>
                  <a:pt x="1115618" y="3809"/>
                </a:lnTo>
                <a:lnTo>
                  <a:pt x="1115618" y="7619"/>
                </a:lnTo>
                <a:close/>
              </a:path>
              <a:path w="1115695" h="466725">
                <a:moveTo>
                  <a:pt x="7619" y="462711"/>
                </a:moveTo>
                <a:lnTo>
                  <a:pt x="3809" y="458901"/>
                </a:lnTo>
                <a:lnTo>
                  <a:pt x="7619" y="458901"/>
                </a:lnTo>
                <a:lnTo>
                  <a:pt x="7619" y="462711"/>
                </a:lnTo>
                <a:close/>
              </a:path>
              <a:path w="1115695" h="466725">
                <a:moveTo>
                  <a:pt x="1107998" y="462711"/>
                </a:moveTo>
                <a:lnTo>
                  <a:pt x="7619" y="462711"/>
                </a:lnTo>
                <a:lnTo>
                  <a:pt x="7619" y="458901"/>
                </a:lnTo>
                <a:lnTo>
                  <a:pt x="1107998" y="458901"/>
                </a:lnTo>
                <a:lnTo>
                  <a:pt x="1107998" y="462711"/>
                </a:lnTo>
                <a:close/>
              </a:path>
              <a:path w="1115695" h="466725">
                <a:moveTo>
                  <a:pt x="1115618" y="462711"/>
                </a:moveTo>
                <a:lnTo>
                  <a:pt x="1107998" y="462711"/>
                </a:lnTo>
                <a:lnTo>
                  <a:pt x="1111808" y="458901"/>
                </a:lnTo>
                <a:lnTo>
                  <a:pt x="1115618" y="458901"/>
                </a:lnTo>
                <a:lnTo>
                  <a:pt x="1115618" y="46271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4191" y="1569580"/>
            <a:ext cx="1108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比赛数据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957" y="2264181"/>
            <a:ext cx="5511800" cy="33020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40"/>
              </a:spcBef>
            </a:pPr>
            <a:r>
              <a:rPr sz="1800" b="1" spc="-5" dirty="0">
                <a:latin typeface="Segoe Print"/>
                <a:cs typeface="Segoe Print"/>
              </a:rPr>
              <a:t>transactions_train.csv</a:t>
            </a:r>
            <a:r>
              <a:rPr sz="1800" b="1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Segoe Print"/>
                <a:cs typeface="Segoe Print"/>
              </a:rPr>
              <a:t>-</a:t>
            </a:r>
            <a:r>
              <a:rPr sz="1800" spc="-10" dirty="0">
                <a:latin typeface="Segoe Print"/>
                <a:cs typeface="Segoe Print"/>
              </a:rPr>
              <a:t> </a:t>
            </a:r>
            <a:r>
              <a:rPr sz="1800" dirty="0">
                <a:latin typeface="宋体"/>
                <a:cs typeface="宋体"/>
              </a:rPr>
              <a:t>训练数据，包括每个客户 在每个日期的购买情况，以及其他信息。重复的行对应 于同一物品的多次购买。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你的任务是预测每个顾客在紧 接训练数据期之后的</a:t>
            </a:r>
            <a:r>
              <a:rPr sz="1800" dirty="0">
                <a:solidFill>
                  <a:srgbClr val="FF0000"/>
                </a:solidFill>
                <a:latin typeface="Segoe Print"/>
                <a:cs typeface="Segoe Print"/>
              </a:rPr>
              <a:t>7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天内将购买的物品</a:t>
            </a:r>
            <a:r>
              <a:rPr sz="1800" spc="-5" dirty="0">
                <a:solidFill>
                  <a:srgbClr val="FF0000"/>
                </a:solidFill>
                <a:latin typeface="Segoe Print"/>
                <a:cs typeface="Segoe Print"/>
              </a:rPr>
              <a:t>_ID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48600"/>
              </a:lnSpc>
            </a:pPr>
            <a:r>
              <a:rPr sz="1800" dirty="0">
                <a:latin typeface="宋体"/>
                <a:cs typeface="宋体"/>
              </a:rPr>
              <a:t>注意：你必须对提交的样本中发现的所有</a:t>
            </a:r>
            <a:r>
              <a:rPr sz="1800" spc="-5" dirty="0">
                <a:latin typeface="Segoe Print"/>
                <a:cs typeface="Segoe Print"/>
              </a:rPr>
              <a:t>c</a:t>
            </a:r>
            <a:r>
              <a:rPr sz="1800" dirty="0">
                <a:latin typeface="Segoe Print"/>
                <a:cs typeface="Segoe Print"/>
              </a:rPr>
              <a:t>usto</a:t>
            </a:r>
            <a:r>
              <a:rPr sz="1800" spc="-5" dirty="0">
                <a:latin typeface="Segoe Print"/>
                <a:cs typeface="Segoe Print"/>
              </a:rPr>
              <a:t>mer_i</a:t>
            </a:r>
            <a:r>
              <a:rPr sz="1800" dirty="0">
                <a:latin typeface="Segoe Print"/>
                <a:cs typeface="Segoe Print"/>
              </a:rPr>
              <a:t>d </a:t>
            </a:r>
            <a:r>
              <a:rPr sz="1800" dirty="0">
                <a:latin typeface="宋体"/>
                <a:cs typeface="宋体"/>
              </a:rPr>
              <a:t>值进行预测。所有在测试期间进行购买的客户都会被打 分，无论他们在训练数据中是否有购买记录。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06120" y="1801367"/>
            <a:ext cx="5080939" cy="44666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1109471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796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1111796" y="0"/>
                </a:lnTo>
                <a:lnTo>
                  <a:pt x="1113256" y="292"/>
                </a:lnTo>
                <a:lnTo>
                  <a:pt x="1114488" y="1117"/>
                </a:lnTo>
                <a:lnTo>
                  <a:pt x="1115314" y="2362"/>
                </a:lnTo>
                <a:lnTo>
                  <a:pt x="1115606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1115606" y="462724"/>
                </a:lnTo>
                <a:lnTo>
                  <a:pt x="1115314" y="464185"/>
                </a:lnTo>
                <a:lnTo>
                  <a:pt x="1114488" y="465416"/>
                </a:lnTo>
                <a:lnTo>
                  <a:pt x="1113256" y="466242"/>
                </a:lnTo>
                <a:lnTo>
                  <a:pt x="1111796" y="466534"/>
                </a:lnTo>
                <a:close/>
              </a:path>
              <a:path w="111569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115695" h="466725">
                <a:moveTo>
                  <a:pt x="1107986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107986" y="3810"/>
                </a:lnTo>
                <a:lnTo>
                  <a:pt x="1107986" y="7620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1107986" y="3810"/>
                </a:lnTo>
                <a:lnTo>
                  <a:pt x="1111796" y="7620"/>
                </a:lnTo>
                <a:lnTo>
                  <a:pt x="1115606" y="7620"/>
                </a:lnTo>
                <a:lnTo>
                  <a:pt x="1115606" y="458914"/>
                </a:lnTo>
                <a:lnTo>
                  <a:pt x="111179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7620"/>
                </a:moveTo>
                <a:lnTo>
                  <a:pt x="1111796" y="7620"/>
                </a:lnTo>
                <a:lnTo>
                  <a:pt x="1107986" y="3810"/>
                </a:lnTo>
                <a:lnTo>
                  <a:pt x="1115606" y="3810"/>
                </a:lnTo>
                <a:lnTo>
                  <a:pt x="1115606" y="7620"/>
                </a:lnTo>
                <a:close/>
              </a:path>
              <a:path w="111569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110798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462724"/>
                </a:moveTo>
                <a:lnTo>
                  <a:pt x="1107986" y="462724"/>
                </a:lnTo>
                <a:lnTo>
                  <a:pt x="1111796" y="458914"/>
                </a:lnTo>
                <a:lnTo>
                  <a:pt x="1115606" y="458914"/>
                </a:lnTo>
                <a:lnTo>
                  <a:pt x="1115606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1109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评价标准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313" y="2122385"/>
            <a:ext cx="5566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本次竞赛采用了</a:t>
            </a:r>
            <a:r>
              <a:rPr sz="1800" spc="-105" dirty="0">
                <a:latin typeface="宋体"/>
                <a:cs typeface="宋体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Mean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Average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Precision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@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12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(MAP@12)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3900" y="2615183"/>
            <a:ext cx="7104888" cy="12893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80313" y="4134472"/>
            <a:ext cx="907605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9071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</a:t>
            </a:r>
            <a:r>
              <a:rPr sz="1800" dirty="0">
                <a:latin typeface="宋体"/>
                <a:cs typeface="宋体"/>
              </a:rPr>
              <a:t>是客户数量 </a:t>
            </a:r>
            <a:r>
              <a:rPr sz="1800" dirty="0">
                <a:latin typeface="Calibri"/>
                <a:cs typeface="Calibri"/>
              </a:rPr>
              <a:t>P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-5" dirty="0">
                <a:latin typeface="Calibri"/>
                <a:cs typeface="Calibri"/>
              </a:rPr>
              <a:t>)</a:t>
            </a:r>
            <a:r>
              <a:rPr sz="1800" dirty="0">
                <a:latin typeface="宋体"/>
                <a:cs typeface="宋体"/>
              </a:rPr>
              <a:t>是截止到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dirty="0">
                <a:latin typeface="宋体"/>
                <a:cs typeface="宋体"/>
              </a:rPr>
              <a:t>的精度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sz="1800" spc="-5" dirty="0">
                <a:latin typeface="Calibri"/>
                <a:cs typeface="Calibri"/>
              </a:rPr>
              <a:t>n</a:t>
            </a:r>
            <a:r>
              <a:rPr sz="1800" dirty="0">
                <a:latin typeface="宋体"/>
                <a:cs typeface="宋体"/>
              </a:rPr>
              <a:t>是每个客户的预测数量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dirty="0">
                <a:latin typeface="宋体"/>
                <a:cs typeface="宋体"/>
              </a:rPr>
              <a:t>是每个客户的基础真值数量 </a:t>
            </a:r>
            <a:r>
              <a:rPr sz="1800" spc="-2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spc="-5" dirty="0">
                <a:latin typeface="Calibri"/>
                <a:cs typeface="Calibri"/>
              </a:rPr>
              <a:t>)</a:t>
            </a:r>
            <a:r>
              <a:rPr sz="1800" dirty="0">
                <a:latin typeface="宋体"/>
                <a:cs typeface="宋体"/>
              </a:rPr>
              <a:t>是一个指标函数，如果等级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dirty="0">
                <a:latin typeface="宋体"/>
                <a:cs typeface="宋体"/>
              </a:rPr>
              <a:t>的项目是一个相关（正确）的标签，则等于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宋体"/>
                <a:cs typeface="宋体"/>
              </a:rPr>
              <a:t>，否则为</a:t>
            </a:r>
            <a:r>
              <a:rPr sz="1800" spc="-5" dirty="0">
                <a:latin typeface="Calibri"/>
                <a:cs typeface="Calibri"/>
              </a:rPr>
              <a:t>0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理解比赛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1109471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1115695" cy="466725"/>
          </a:xfrm>
          <a:custGeom>
            <a:avLst/>
            <a:gdLst/>
            <a:ahLst/>
            <a:cxnLst/>
            <a:rect l="l" t="t" r="r" b="b"/>
            <a:pathLst>
              <a:path w="1115695" h="466725">
                <a:moveTo>
                  <a:pt x="1111796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1111796" y="0"/>
                </a:lnTo>
                <a:lnTo>
                  <a:pt x="1113256" y="292"/>
                </a:lnTo>
                <a:lnTo>
                  <a:pt x="1114488" y="1117"/>
                </a:lnTo>
                <a:lnTo>
                  <a:pt x="1115314" y="2362"/>
                </a:lnTo>
                <a:lnTo>
                  <a:pt x="1115606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1115606" y="462724"/>
                </a:lnTo>
                <a:lnTo>
                  <a:pt x="1115314" y="464185"/>
                </a:lnTo>
                <a:lnTo>
                  <a:pt x="1114488" y="465416"/>
                </a:lnTo>
                <a:lnTo>
                  <a:pt x="1113256" y="466242"/>
                </a:lnTo>
                <a:lnTo>
                  <a:pt x="1111796" y="466534"/>
                </a:lnTo>
                <a:close/>
              </a:path>
              <a:path w="111569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115695" h="466725">
                <a:moveTo>
                  <a:pt x="1107986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107986" y="3810"/>
                </a:lnTo>
                <a:lnTo>
                  <a:pt x="1107986" y="7620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1107986" y="3810"/>
                </a:lnTo>
                <a:lnTo>
                  <a:pt x="1111796" y="7620"/>
                </a:lnTo>
                <a:lnTo>
                  <a:pt x="1115606" y="7620"/>
                </a:lnTo>
                <a:lnTo>
                  <a:pt x="1115606" y="458914"/>
                </a:lnTo>
                <a:lnTo>
                  <a:pt x="111179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7620"/>
                </a:moveTo>
                <a:lnTo>
                  <a:pt x="1111796" y="7620"/>
                </a:lnTo>
                <a:lnTo>
                  <a:pt x="1107986" y="3810"/>
                </a:lnTo>
                <a:lnTo>
                  <a:pt x="1115606" y="3810"/>
                </a:lnTo>
                <a:lnTo>
                  <a:pt x="1115606" y="7620"/>
                </a:lnTo>
                <a:close/>
              </a:path>
              <a:path w="111569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1115695" h="466725">
                <a:moveTo>
                  <a:pt x="1107986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1107986" y="458914"/>
                </a:lnTo>
                <a:lnTo>
                  <a:pt x="1107986" y="462724"/>
                </a:lnTo>
                <a:close/>
              </a:path>
              <a:path w="1115695" h="466725">
                <a:moveTo>
                  <a:pt x="1115606" y="462724"/>
                </a:moveTo>
                <a:lnTo>
                  <a:pt x="1107986" y="462724"/>
                </a:lnTo>
                <a:lnTo>
                  <a:pt x="1111796" y="458914"/>
                </a:lnTo>
                <a:lnTo>
                  <a:pt x="1115606" y="458914"/>
                </a:lnTo>
                <a:lnTo>
                  <a:pt x="1115606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557530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评价标准</a:t>
            </a:r>
            <a:endParaRPr sz="1800">
              <a:latin typeface="微软雅黑"/>
              <a:cs typeface="微软雅黑"/>
            </a:endParaRPr>
          </a:p>
          <a:p>
            <a:pPr marL="21590">
              <a:lnSpc>
                <a:spcPct val="100000"/>
              </a:lnSpc>
              <a:spcBef>
                <a:spcPts val="1455"/>
              </a:spcBef>
            </a:pPr>
            <a:r>
              <a:rPr sz="1800" dirty="0">
                <a:latin typeface="宋体"/>
                <a:cs typeface="宋体"/>
              </a:rPr>
              <a:t>本次竞赛采用了</a:t>
            </a:r>
            <a:r>
              <a:rPr sz="1800" spc="-105" dirty="0">
                <a:latin typeface="宋体"/>
                <a:cs typeface="宋体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Mean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Average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Precision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@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12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(MAP@12)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1040" y="2325623"/>
            <a:ext cx="7104888" cy="12893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80313" y="3667925"/>
            <a:ext cx="9076055" cy="29057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Calibri"/>
                <a:cs typeface="Calibri"/>
              </a:rPr>
              <a:t>U</a:t>
            </a:r>
            <a:r>
              <a:rPr sz="1800" dirty="0">
                <a:latin typeface="宋体"/>
                <a:cs typeface="宋体"/>
              </a:rPr>
              <a:t>是客户数量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Calibri"/>
                <a:cs typeface="Calibri"/>
              </a:rPr>
              <a:t>P(k)</a:t>
            </a:r>
            <a:r>
              <a:rPr sz="1800" dirty="0">
                <a:latin typeface="宋体"/>
                <a:cs typeface="宋体"/>
              </a:rPr>
              <a:t>是截止到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dirty="0">
                <a:latin typeface="宋体"/>
                <a:cs typeface="宋体"/>
              </a:rPr>
              <a:t>的精度</a:t>
            </a:r>
            <a:endParaRPr sz="1800">
              <a:latin typeface="宋体"/>
              <a:cs typeface="宋体"/>
            </a:endParaRPr>
          </a:p>
          <a:p>
            <a:pPr marL="12700" marR="6129655">
              <a:lnSpc>
                <a:spcPct val="150000"/>
              </a:lnSpc>
            </a:pPr>
            <a:r>
              <a:rPr sz="1800" spc="-5" dirty="0">
                <a:latin typeface="Calibri"/>
                <a:cs typeface="Calibri"/>
              </a:rPr>
              <a:t>n</a:t>
            </a:r>
            <a:r>
              <a:rPr sz="1800" dirty="0">
                <a:latin typeface="宋体"/>
                <a:cs typeface="宋体"/>
              </a:rPr>
              <a:t>是每个客户的预测数量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dirty="0">
                <a:latin typeface="宋体"/>
                <a:cs typeface="宋体"/>
              </a:rPr>
              <a:t>是每个客户的基础真值数量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Calibri"/>
                <a:cs typeface="Calibri"/>
              </a:rPr>
              <a:t>rel(k)</a:t>
            </a:r>
            <a:r>
              <a:rPr sz="1800" dirty="0">
                <a:latin typeface="宋体"/>
                <a:cs typeface="宋体"/>
              </a:rPr>
              <a:t>是一个指标函数，如果等级</a:t>
            </a:r>
            <a:r>
              <a:rPr sz="1800" dirty="0">
                <a:latin typeface="Calibri"/>
                <a:cs typeface="Calibri"/>
              </a:rPr>
              <a:t>k</a:t>
            </a:r>
            <a:r>
              <a:rPr sz="1800" dirty="0">
                <a:latin typeface="宋体"/>
                <a:cs typeface="宋体"/>
              </a:rPr>
              <a:t>的项目是一个相关（正确）的标签，则等于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否则为</a:t>
            </a:r>
            <a:r>
              <a:rPr sz="1800" spc="-5" dirty="0">
                <a:latin typeface="Calibri"/>
                <a:cs typeface="Calibri"/>
              </a:rPr>
              <a:t>0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H&amp;M</a:t>
            </a:r>
            <a:r>
              <a:rPr sz="1800" dirty="0">
                <a:latin typeface="宋体"/>
                <a:cs typeface="宋体"/>
              </a:rPr>
              <a:t>竞赛评价指标详解</a:t>
            </a:r>
            <a:r>
              <a:rPr sz="1800" spc="-95" dirty="0">
                <a:latin typeface="宋体"/>
                <a:cs typeface="宋体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Understanding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Mean </a:t>
            </a:r>
            <a:r>
              <a:rPr sz="1800" u="sng" spc="-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Average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Precision 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|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Kaggle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9731" y="1504531"/>
            <a:ext cx="8824595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当进入到一场比赛的</a:t>
            </a:r>
            <a:r>
              <a:rPr sz="1800" spc="-5" dirty="0">
                <a:latin typeface="Calibri"/>
                <a:cs typeface="Calibri"/>
              </a:rPr>
              <a:t>Overview</a:t>
            </a:r>
            <a:r>
              <a:rPr sz="1800" dirty="0">
                <a:latin typeface="宋体"/>
                <a:cs typeface="宋体"/>
              </a:rPr>
              <a:t>页面后，先读完</a:t>
            </a:r>
            <a:r>
              <a:rPr sz="1800" spc="-5" dirty="0">
                <a:latin typeface="Calibri"/>
                <a:cs typeface="Calibri"/>
              </a:rPr>
              <a:t>Description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了解比赛讲了一件什么事情。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1435" y="2623185"/>
            <a:ext cx="5272811" cy="4087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29475" y="1504531"/>
            <a:ext cx="4647565" cy="138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spcBef>
                <a:spcPts val="2090"/>
              </a:spcBef>
            </a:pPr>
            <a:r>
              <a:rPr sz="1800" dirty="0">
                <a:latin typeface="宋体"/>
                <a:cs typeface="宋体"/>
              </a:rPr>
              <a:t>然后进入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tio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800" dirty="0">
                <a:latin typeface="宋体"/>
                <a:cs typeface="宋体"/>
              </a:rPr>
              <a:t>，这一部分介绍了比赛的评 价算法。以及最终提交文件的格式。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77370" y="1709115"/>
            <a:ext cx="5808078" cy="45888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8977" y="1504531"/>
            <a:ext cx="9843135" cy="1162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spcBef>
                <a:spcPts val="310"/>
              </a:spcBef>
            </a:pPr>
            <a:r>
              <a:rPr sz="1800" spc="-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im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li</a:t>
            </a:r>
            <a:r>
              <a:rPr sz="1800" spc="-5" dirty="0">
                <a:latin typeface="Calibri"/>
                <a:cs typeface="Calibri"/>
              </a:rPr>
              <a:t>ne</a:t>
            </a:r>
            <a:r>
              <a:rPr sz="1800" dirty="0">
                <a:latin typeface="宋体"/>
                <a:cs typeface="宋体"/>
              </a:rPr>
              <a:t>随便看一下好了，知道什么时候停止组队和什么时候结束就行。注意这里是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4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-0</a:t>
            </a:r>
            <a:r>
              <a:rPr sz="1800" dirty="0">
                <a:latin typeface="宋体"/>
                <a:cs typeface="宋体"/>
              </a:rPr>
              <a:t>的时间， 比北京时间迟</a:t>
            </a:r>
            <a:r>
              <a:rPr sz="1800" spc="-5" dirty="0">
                <a:latin typeface="Calibri"/>
                <a:cs typeface="Calibri"/>
              </a:rPr>
              <a:t>8</a:t>
            </a:r>
            <a:r>
              <a:rPr sz="1800" dirty="0">
                <a:latin typeface="宋体"/>
                <a:cs typeface="宋体"/>
              </a:rPr>
              <a:t>小时。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0262" y="2733586"/>
            <a:ext cx="9884867" cy="35705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b="1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b="1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542036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 marL="92075">
              <a:lnSpc>
                <a:spcPct val="100000"/>
              </a:lnSpc>
              <a:spcBef>
                <a:spcPts val="2155"/>
              </a:spcBef>
            </a:pPr>
            <a:r>
              <a:rPr sz="1800" dirty="0">
                <a:latin typeface="宋体"/>
                <a:cs typeface="宋体"/>
              </a:rPr>
              <a:t>之后进入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800" dirty="0">
                <a:latin typeface="宋体"/>
                <a:cs typeface="宋体"/>
              </a:rPr>
              <a:t>页面，这里每一行都要仔细看吧，每份</a:t>
            </a:r>
            <a:endParaRPr sz="1800">
              <a:latin typeface="宋体"/>
              <a:cs typeface="宋体"/>
            </a:endParaRPr>
          </a:p>
          <a:p>
            <a:pPr marL="92075" marR="5080">
              <a:lnSpc>
                <a:spcPct val="150000"/>
              </a:lnSpc>
            </a:pPr>
            <a:r>
              <a:rPr sz="1800" spc="-5" dirty="0">
                <a:latin typeface="Calibri"/>
                <a:cs typeface="Calibri"/>
              </a:rPr>
              <a:t>c</a:t>
            </a:r>
            <a:r>
              <a:rPr sz="1800" spc="-30" dirty="0">
                <a:latin typeface="Calibri"/>
                <a:cs typeface="Calibri"/>
              </a:rPr>
              <a:t>s</a:t>
            </a:r>
            <a:r>
              <a:rPr sz="1800" dirty="0">
                <a:latin typeface="Calibri"/>
                <a:cs typeface="Calibri"/>
              </a:rPr>
              <a:t>v</a:t>
            </a:r>
            <a:r>
              <a:rPr sz="1800" dirty="0">
                <a:latin typeface="宋体"/>
                <a:cs typeface="宋体"/>
              </a:rPr>
              <a:t>文件里的每个字段都会有解释的，很多细节甚至会 影响到比赛的打法。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91490" y="1658505"/>
            <a:ext cx="4607852" cy="46159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1020953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 marL="92075" marR="5080">
              <a:lnSpc>
                <a:spcPct val="150000"/>
              </a:lnSpc>
              <a:spcBef>
                <a:spcPts val="1075"/>
              </a:spcBef>
            </a:pPr>
            <a:r>
              <a:rPr sz="1800" dirty="0">
                <a:latin typeface="宋体"/>
                <a:cs typeface="宋体"/>
              </a:rPr>
              <a:t>看完了官方的介绍后，一般我们可以先进入</a:t>
            </a:r>
            <a:r>
              <a:rPr sz="1800" spc="-5" dirty="0">
                <a:latin typeface="Calibri"/>
                <a:cs typeface="Calibri"/>
              </a:rPr>
              <a:t>Discussion</a:t>
            </a:r>
            <a:r>
              <a:rPr sz="1800" dirty="0">
                <a:latin typeface="宋体"/>
                <a:cs typeface="宋体"/>
              </a:rPr>
              <a:t>区，最上面的</a:t>
            </a:r>
            <a:r>
              <a:rPr sz="1800" spc="-5" dirty="0">
                <a:latin typeface="Calibri"/>
                <a:cs typeface="Calibri"/>
              </a:rPr>
              <a:t>pined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topics</a:t>
            </a:r>
            <a:r>
              <a:rPr sz="1800" dirty="0">
                <a:latin typeface="宋体"/>
                <a:cs typeface="宋体"/>
              </a:rPr>
              <a:t>是官方的置顶的话题，  比较重要，往往是官方在比赛过程中发现了一些问题后，做出的调整。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5690" y="2870212"/>
            <a:ext cx="4311853" cy="3987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1020381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 marL="92075" marR="5080">
              <a:lnSpc>
                <a:spcPct val="150000"/>
              </a:lnSpc>
              <a:spcBef>
                <a:spcPts val="1075"/>
              </a:spcBef>
            </a:pPr>
            <a:r>
              <a:rPr sz="1800" dirty="0">
                <a:latin typeface="宋体"/>
                <a:cs typeface="宋体"/>
              </a:rPr>
              <a:t>看完</a:t>
            </a:r>
            <a:r>
              <a:rPr sz="1800" spc="-5" dirty="0">
                <a:latin typeface="Calibri"/>
                <a:cs typeface="Calibri"/>
              </a:rPr>
              <a:t>pined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topics</a:t>
            </a:r>
            <a:r>
              <a:rPr sz="1800" dirty="0">
                <a:latin typeface="宋体"/>
                <a:cs typeface="宋体"/>
              </a:rPr>
              <a:t>后，可以先回到</a:t>
            </a:r>
            <a:r>
              <a:rPr sz="1800" spc="-10" dirty="0">
                <a:latin typeface="Calibri"/>
                <a:cs typeface="Calibri"/>
              </a:rPr>
              <a:t>code</a:t>
            </a:r>
            <a:r>
              <a:rPr sz="1800" dirty="0">
                <a:latin typeface="宋体"/>
                <a:cs typeface="宋体"/>
              </a:rPr>
              <a:t>区，可以按</a:t>
            </a:r>
            <a:r>
              <a:rPr sz="1800" spc="-10" dirty="0">
                <a:latin typeface="Calibri"/>
                <a:cs typeface="Calibri"/>
              </a:rPr>
              <a:t>votes</a:t>
            </a:r>
            <a:r>
              <a:rPr sz="1800" dirty="0">
                <a:latin typeface="宋体"/>
                <a:cs typeface="宋体"/>
              </a:rPr>
              <a:t>排序，找一些关键词例如</a:t>
            </a:r>
            <a:r>
              <a:rPr sz="1800" spc="-10" dirty="0">
                <a:latin typeface="宋体"/>
                <a:cs typeface="宋体"/>
              </a:rPr>
              <a:t>：</a:t>
            </a:r>
            <a:r>
              <a:rPr sz="1800" spc="-10" dirty="0">
                <a:latin typeface="Calibri"/>
                <a:cs typeface="Calibri"/>
              </a:rPr>
              <a:t>EDA</a:t>
            </a:r>
            <a:r>
              <a:rPr sz="1800" spc="-10" dirty="0">
                <a:latin typeface="宋体"/>
                <a:cs typeface="宋体"/>
              </a:rPr>
              <a:t>（</a:t>
            </a:r>
            <a:r>
              <a:rPr sz="1800" dirty="0">
                <a:latin typeface="宋体"/>
                <a:cs typeface="宋体"/>
              </a:rPr>
              <a:t>数据探索）、 </a:t>
            </a:r>
            <a:r>
              <a:rPr sz="1800" spc="-5" dirty="0">
                <a:latin typeface="Calibri"/>
                <a:cs typeface="Calibri"/>
              </a:rPr>
              <a:t>S</a:t>
            </a:r>
            <a:r>
              <a:rPr sz="1800" spc="-25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2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dirty="0">
                <a:latin typeface="宋体"/>
                <a:cs typeface="宋体"/>
              </a:rPr>
              <a:t>（适合刚参加比赛）、</a:t>
            </a:r>
            <a:r>
              <a:rPr sz="1800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li</a:t>
            </a:r>
            <a:r>
              <a:rPr sz="1800" spc="-5" dirty="0">
                <a:latin typeface="Calibri"/>
                <a:cs typeface="Calibri"/>
              </a:rPr>
              <a:t>ne</a:t>
            </a:r>
            <a:r>
              <a:rPr sz="1800" dirty="0">
                <a:latin typeface="宋体"/>
                <a:cs typeface="宋体"/>
              </a:rPr>
              <a:t>（基线模型），里面有大神对数据做了基本分析，而且往往有很 多图表，有助于你进一步理解数据，如数据分布是否有类别不平衡的问题，之类的。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61511" y="3266300"/>
            <a:ext cx="3795395" cy="35916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1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理解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K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a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gg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2031492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2038985" cy="466725"/>
          </a:xfrm>
          <a:custGeom>
            <a:avLst/>
            <a:gdLst/>
            <a:ahLst/>
            <a:cxnLst/>
            <a:rect l="l" t="t" r="r" b="b"/>
            <a:pathLst>
              <a:path w="2038985" h="466725">
                <a:moveTo>
                  <a:pt x="2035124" y="466534"/>
                </a:moveTo>
                <a:lnTo>
                  <a:pt x="3810" y="466534"/>
                </a:lnTo>
                <a:lnTo>
                  <a:pt x="2349" y="466242"/>
                </a:lnTo>
                <a:lnTo>
                  <a:pt x="1104" y="465416"/>
                </a:lnTo>
                <a:lnTo>
                  <a:pt x="279" y="464185"/>
                </a:lnTo>
                <a:lnTo>
                  <a:pt x="0" y="462724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2035124" y="0"/>
                </a:lnTo>
                <a:lnTo>
                  <a:pt x="2036584" y="292"/>
                </a:lnTo>
                <a:lnTo>
                  <a:pt x="2037829" y="1117"/>
                </a:lnTo>
                <a:lnTo>
                  <a:pt x="2038654" y="2362"/>
                </a:lnTo>
                <a:lnTo>
                  <a:pt x="2038934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458914"/>
                </a:lnTo>
                <a:lnTo>
                  <a:pt x="3810" y="458914"/>
                </a:lnTo>
                <a:lnTo>
                  <a:pt x="7620" y="462724"/>
                </a:lnTo>
                <a:lnTo>
                  <a:pt x="2038934" y="462724"/>
                </a:lnTo>
                <a:lnTo>
                  <a:pt x="2038654" y="464185"/>
                </a:lnTo>
                <a:lnTo>
                  <a:pt x="2037829" y="465416"/>
                </a:lnTo>
                <a:lnTo>
                  <a:pt x="2036584" y="466242"/>
                </a:lnTo>
                <a:lnTo>
                  <a:pt x="2035124" y="466534"/>
                </a:lnTo>
                <a:close/>
              </a:path>
              <a:path w="2038985" h="466725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2038985" h="466725">
                <a:moveTo>
                  <a:pt x="2031314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2031314" y="3810"/>
                </a:lnTo>
                <a:lnTo>
                  <a:pt x="2031314" y="7620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2031314" y="3810"/>
                </a:lnTo>
                <a:lnTo>
                  <a:pt x="2035124" y="7620"/>
                </a:lnTo>
                <a:lnTo>
                  <a:pt x="2038934" y="7620"/>
                </a:lnTo>
                <a:lnTo>
                  <a:pt x="2038934" y="458914"/>
                </a:lnTo>
                <a:lnTo>
                  <a:pt x="203512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7620"/>
                </a:moveTo>
                <a:lnTo>
                  <a:pt x="2035124" y="7620"/>
                </a:lnTo>
                <a:lnTo>
                  <a:pt x="2031314" y="3810"/>
                </a:lnTo>
                <a:lnTo>
                  <a:pt x="2038934" y="3810"/>
                </a:lnTo>
                <a:lnTo>
                  <a:pt x="2038934" y="7620"/>
                </a:lnTo>
                <a:close/>
              </a:path>
              <a:path w="2038985" h="466725">
                <a:moveTo>
                  <a:pt x="7620" y="462724"/>
                </a:moveTo>
                <a:lnTo>
                  <a:pt x="3810" y="458914"/>
                </a:lnTo>
                <a:lnTo>
                  <a:pt x="7620" y="458914"/>
                </a:lnTo>
                <a:lnTo>
                  <a:pt x="7620" y="462724"/>
                </a:lnTo>
                <a:close/>
              </a:path>
              <a:path w="2038985" h="466725">
                <a:moveTo>
                  <a:pt x="2031314" y="462724"/>
                </a:moveTo>
                <a:lnTo>
                  <a:pt x="7620" y="462724"/>
                </a:lnTo>
                <a:lnTo>
                  <a:pt x="7620" y="458914"/>
                </a:lnTo>
                <a:lnTo>
                  <a:pt x="2031314" y="458914"/>
                </a:lnTo>
                <a:lnTo>
                  <a:pt x="2031314" y="462724"/>
                </a:lnTo>
                <a:close/>
              </a:path>
              <a:path w="2038985" h="466725">
                <a:moveTo>
                  <a:pt x="2038934" y="462724"/>
                </a:moveTo>
                <a:lnTo>
                  <a:pt x="2031314" y="462724"/>
                </a:lnTo>
                <a:lnTo>
                  <a:pt x="2035124" y="458914"/>
                </a:lnTo>
                <a:lnTo>
                  <a:pt x="2038934" y="458914"/>
                </a:lnTo>
                <a:lnTo>
                  <a:pt x="2038934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1144" y="1504531"/>
            <a:ext cx="9877425" cy="3566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如何入门一场比赛</a:t>
            </a:r>
            <a:endParaRPr sz="1800">
              <a:latin typeface="微软雅黑"/>
              <a:cs typeface="微软雅黑"/>
            </a:endParaRPr>
          </a:p>
          <a:p>
            <a:pPr marL="92075">
              <a:lnSpc>
                <a:spcPct val="100000"/>
              </a:lnSpc>
              <a:spcBef>
                <a:spcPts val="1955"/>
              </a:spcBef>
            </a:pPr>
            <a:r>
              <a:rPr sz="1800" dirty="0">
                <a:latin typeface="宋体"/>
                <a:cs typeface="宋体"/>
              </a:rPr>
              <a:t>读完比赛规则和看完一些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35" dirty="0">
                <a:latin typeface="Calibri"/>
                <a:cs typeface="Calibri"/>
              </a:rPr>
              <a:t>D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dirty="0">
                <a:latin typeface="宋体"/>
                <a:cs typeface="宋体"/>
              </a:rPr>
              <a:t>后，对比赛已经有一个初步了解了。这时候，就可以在</a:t>
            </a:r>
            <a:r>
              <a:rPr sz="1800" dirty="0">
                <a:latin typeface="Calibri"/>
                <a:cs typeface="Calibri"/>
              </a:rPr>
              <a:t>Co</a:t>
            </a:r>
            <a:r>
              <a:rPr sz="1800" spc="-5" dirty="0">
                <a:latin typeface="Calibri"/>
                <a:cs typeface="Calibri"/>
              </a:rPr>
              <a:t>de</a:t>
            </a:r>
            <a:r>
              <a:rPr sz="1800" dirty="0">
                <a:latin typeface="宋体"/>
                <a:cs typeface="宋体"/>
              </a:rPr>
              <a:t>区找一些</a:t>
            </a:r>
            <a:endParaRPr sz="1800">
              <a:latin typeface="宋体"/>
              <a:cs typeface="宋体"/>
            </a:endParaRPr>
          </a:p>
          <a:p>
            <a:pPr marL="92075">
              <a:lnSpc>
                <a:spcPct val="100000"/>
              </a:lnSpc>
              <a:spcBef>
                <a:spcPts val="1080"/>
              </a:spcBef>
            </a:pPr>
            <a:r>
              <a:rPr sz="1800" spc="-5" dirty="0">
                <a:latin typeface="Calibri"/>
                <a:cs typeface="Calibri"/>
              </a:rPr>
              <a:t>Baseline</a:t>
            </a:r>
            <a:r>
              <a:rPr sz="1800" dirty="0">
                <a:latin typeface="宋体"/>
                <a:cs typeface="宋体"/>
              </a:rPr>
              <a:t>认真阅读一下，或者找一些高分的（</a:t>
            </a:r>
            <a:r>
              <a:rPr sz="1800" spc="-5" dirty="0">
                <a:latin typeface="宋体"/>
                <a:cs typeface="宋体"/>
              </a:rPr>
              <a:t>按</a:t>
            </a:r>
            <a:r>
              <a:rPr sz="1800" spc="-10" dirty="0">
                <a:latin typeface="Calibri"/>
                <a:cs typeface="Calibri"/>
              </a:rPr>
              <a:t>score</a:t>
            </a:r>
            <a:r>
              <a:rPr sz="1800" dirty="0">
                <a:latin typeface="宋体"/>
                <a:cs typeface="宋体"/>
              </a:rPr>
              <a:t>排序</a:t>
            </a:r>
            <a:r>
              <a:rPr sz="1800" spc="-10" dirty="0">
                <a:latin typeface="宋体"/>
                <a:cs typeface="宋体"/>
              </a:rPr>
              <a:t>）</a:t>
            </a:r>
            <a:r>
              <a:rPr sz="1800" spc="-10" dirty="0">
                <a:latin typeface="Calibri"/>
                <a:cs typeface="Calibri"/>
              </a:rPr>
              <a:t>code</a:t>
            </a:r>
            <a:r>
              <a:rPr sz="1800" dirty="0">
                <a:latin typeface="宋体"/>
                <a:cs typeface="宋体"/>
              </a:rPr>
              <a:t>运行、提交一下了。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宋体"/>
                <a:cs typeface="宋体"/>
              </a:rPr>
              <a:t>这里我推荐几篇</a:t>
            </a:r>
            <a:r>
              <a:rPr sz="1800" spc="-5" dirty="0">
                <a:latin typeface="Calibri"/>
                <a:cs typeface="Calibri"/>
              </a:rPr>
              <a:t>Baseline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包括了各种主流框架、模型。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solidFill>
                  <a:srgbClr val="1F2023"/>
                </a:solidFill>
                <a:latin typeface="Segoe Print"/>
                <a:cs typeface="Segoe Print"/>
              </a:rPr>
              <a:t>EDA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H&amp;M </a:t>
            </a:r>
            <a:r>
              <a:rPr sz="1800" u="sng" spc="-1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EDA FIRST LOOK 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|</a:t>
            </a:r>
            <a:r>
              <a:rPr sz="1800" u="sng" spc="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Kaggle</a:t>
            </a:r>
            <a:endParaRPr sz="1800">
              <a:latin typeface="Calibri"/>
              <a:cs typeface="Calibri"/>
            </a:endParaRPr>
          </a:p>
          <a:p>
            <a:pPr marL="92075" marR="2815590">
              <a:lnSpc>
                <a:spcPts val="3240"/>
              </a:lnSpc>
              <a:spcBef>
                <a:spcPts val="45"/>
              </a:spcBef>
            </a:pPr>
            <a:r>
              <a:rPr sz="1800" dirty="0">
                <a:latin typeface="宋体"/>
                <a:cs typeface="宋体"/>
              </a:rPr>
              <a:t>推荐系统经典</a:t>
            </a:r>
            <a:r>
              <a:rPr sz="1800" spc="-5" dirty="0">
                <a:latin typeface="Calibri"/>
                <a:cs typeface="Calibri"/>
              </a:rPr>
              <a:t>ALS</a:t>
            </a:r>
            <a:r>
              <a:rPr sz="1800" dirty="0">
                <a:latin typeface="宋体"/>
                <a:cs typeface="宋体"/>
              </a:rPr>
              <a:t>模型</a:t>
            </a:r>
            <a:r>
              <a:rPr sz="1800" spc="-5" dirty="0">
                <a:latin typeface="Calibri"/>
                <a:cs typeface="Calibri"/>
              </a:rPr>
              <a:t>Baseline: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H&amp;M 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-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Implicit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ALS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model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[0.014]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|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Kaggle </a:t>
            </a:r>
            <a:r>
              <a:rPr sz="1800" spc="-10" dirty="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Pytorch </a:t>
            </a:r>
            <a:r>
              <a:rPr sz="1800" spc="-5" dirty="0">
                <a:latin typeface="Calibri"/>
                <a:cs typeface="Calibri"/>
              </a:rPr>
              <a:t>Baseline 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H&amp;M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Pure Pytorch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Baseline </a:t>
            </a: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|</a:t>
            </a:r>
            <a:r>
              <a:rPr sz="1800" u="sng" spc="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Kaggle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646" y="6012548"/>
            <a:ext cx="5793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推荐解决方案：</a:t>
            </a:r>
            <a:r>
              <a:rPr sz="1800" spc="-204" dirty="0">
                <a:latin typeface="宋体"/>
                <a:cs typeface="宋体"/>
              </a:rPr>
              <a:t> </a:t>
            </a:r>
            <a:r>
              <a:rPr sz="1800" b="1" spc="-5" dirty="0">
                <a:solidFill>
                  <a:srgbClr val="1F2023"/>
                </a:solidFill>
                <a:latin typeface="Segoe Print"/>
                <a:cs typeface="Segoe Print"/>
              </a:rPr>
              <a:t>LSTM</a:t>
            </a:r>
            <a:r>
              <a:rPr sz="1800" b="1" spc="-5" dirty="0">
                <a:solidFill>
                  <a:srgbClr val="1F2023"/>
                </a:solidFill>
                <a:latin typeface="宋体"/>
                <a:cs typeface="宋体"/>
              </a:rPr>
              <a:t>、</a:t>
            </a:r>
            <a:r>
              <a:rPr sz="1800" b="1" spc="-5" dirty="0">
                <a:solidFill>
                  <a:srgbClr val="1F2023"/>
                </a:solidFill>
                <a:latin typeface="Segoe Print"/>
                <a:cs typeface="Segoe Print"/>
              </a:rPr>
              <a:t>Rule-Based</a:t>
            </a:r>
            <a:r>
              <a:rPr sz="1800" b="1" spc="-5" dirty="0">
                <a:solidFill>
                  <a:srgbClr val="1F2023"/>
                </a:solidFill>
                <a:latin typeface="宋体"/>
                <a:cs typeface="宋体"/>
              </a:rPr>
              <a:t>、</a:t>
            </a:r>
            <a:r>
              <a:rPr sz="1800" b="1" spc="-5" dirty="0">
                <a:solidFill>
                  <a:srgbClr val="1F2023"/>
                </a:solidFill>
                <a:latin typeface="Segoe Print"/>
                <a:cs typeface="Segoe Print"/>
              </a:rPr>
              <a:t>Kmeans</a:t>
            </a:r>
            <a:r>
              <a:rPr sz="1800" b="1" dirty="0">
                <a:solidFill>
                  <a:srgbClr val="1F2023"/>
                </a:solidFill>
                <a:latin typeface="宋体"/>
                <a:cs typeface="宋体"/>
              </a:rPr>
              <a:t>、</a:t>
            </a:r>
            <a:r>
              <a:rPr sz="1800" b="1" spc="-5" dirty="0">
                <a:solidFill>
                  <a:srgbClr val="1F2023"/>
                </a:solidFill>
                <a:latin typeface="Segoe Print"/>
                <a:cs typeface="Segoe Print"/>
              </a:rPr>
              <a:t>CNN</a:t>
            </a:r>
            <a:endParaRPr sz="1800">
              <a:latin typeface="Segoe Print"/>
              <a:cs typeface="Segoe Prin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0845" y="1282763"/>
            <a:ext cx="289623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b="1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b="1" spc="-2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b="1" spc="-2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55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99501" y="1765211"/>
            <a:ext cx="574040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我首先把客户在某个特定日期购买的商品集合称为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篮子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。 然后，这个问题可以真正被总结为预测下一个篮子。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/>
                <a:cs typeface="宋体"/>
              </a:rPr>
              <a:t>处理这类问题的一般方法如下：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 marR="809625">
              <a:lnSpc>
                <a:spcPct val="147200"/>
              </a:lnSpc>
              <a:spcBef>
                <a:spcPts val="1290"/>
              </a:spcBef>
            </a:pPr>
            <a:r>
              <a:rPr sz="1800" b="1" spc="-5" dirty="0">
                <a:solidFill>
                  <a:srgbClr val="FF0000"/>
                </a:solidFill>
                <a:latin typeface="Segoe Print"/>
                <a:cs typeface="Segoe Print"/>
              </a:rPr>
              <a:t>1.</a:t>
            </a:r>
            <a:r>
              <a:rPr sz="1800" b="1" spc="-40" dirty="0">
                <a:solidFill>
                  <a:srgbClr val="FF0000"/>
                </a:solidFill>
                <a:latin typeface="Segoe Print"/>
                <a:cs typeface="Segoe Print"/>
              </a:rPr>
              <a:t> 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为每个消费者生成他们可以购买的候选商品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。 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这些</a:t>
            </a:r>
            <a:r>
              <a:rPr sz="1800" b="1" dirty="0">
                <a:solidFill>
                  <a:srgbClr val="121212"/>
                </a:solidFill>
                <a:latin typeface="宋体"/>
                <a:cs typeface="宋体"/>
              </a:rPr>
              <a:t>候选商品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就是你的正样本和负样本。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55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5323" y="1574330"/>
            <a:ext cx="9151620" cy="400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正样本</a:t>
            </a:r>
            <a:r>
              <a:rPr sz="1800" spc="-18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和</a:t>
            </a:r>
            <a:r>
              <a:rPr sz="1800" spc="-18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负样本</a:t>
            </a:r>
            <a:r>
              <a:rPr sz="1800" spc="-18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表格创建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48600"/>
              </a:lnSpc>
              <a:spcBef>
                <a:spcPts val="1200"/>
              </a:spcBef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我们有一个候选商品的列表，我们根据该商品在下周是否售出，将销售量标记为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0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或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1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。 想象一下，我们想创建负面样本，作为上个星期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1000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个最受欢迎的商品的列表。其中一些 商品会被顾客购买。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所以你需要创建的表是：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14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customer_id</a:t>
            </a:r>
            <a:endParaRPr sz="1800">
              <a:latin typeface="Segoe Print"/>
              <a:cs typeface="Segoe Print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label 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：是否被购买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article_id 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：来自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1000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个最受欢迎的项目的列表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55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19529" y="2002586"/>
            <a:ext cx="8638540" cy="234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产生这些候选商品的策略可能是</a:t>
            </a: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H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&amp;M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这场比赛中最重要的方面。这些策略可以基于：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客户以前的购物篮之间的物品相似性（包括图像相似性）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基于用户的协同过滤。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最近的一个篮子（希望用户会再次购买）。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基于模型对没有交易历史的客户进行预测。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55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80514" y="1112329"/>
            <a:ext cx="8255000" cy="523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一旦你为每个客户准备好了所有不同的策略，那么就应该创建一个巨大的表，其中 有这样的列。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14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observation_date</a:t>
            </a:r>
            <a:r>
              <a:rPr sz="1800" spc="-10" dirty="0">
                <a:solidFill>
                  <a:srgbClr val="121212"/>
                </a:solidFill>
                <a:latin typeface="Segoe Print"/>
                <a:cs typeface="Segoe Print"/>
              </a:rPr>
              <a:t> 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- 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你进行预测的日期。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customer_id</a:t>
            </a:r>
            <a:endParaRPr sz="1800">
              <a:latin typeface="Segoe Print"/>
              <a:cs typeface="Segoe Print"/>
            </a:endParaRPr>
          </a:p>
          <a:p>
            <a:pPr marL="298450" indent="-28575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article_id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下周购买的商品</a:t>
            </a:r>
            <a:r>
              <a:rPr sz="1800" spc="-5" dirty="0">
                <a:solidFill>
                  <a:srgbClr val="121212"/>
                </a:solidFill>
                <a:latin typeface="宋体"/>
                <a:cs typeface="宋体"/>
              </a:rPr>
              <a:t>（</a:t>
            </a: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label</a:t>
            </a:r>
            <a:r>
              <a:rPr sz="1800" spc="-5" dirty="0">
                <a:solidFill>
                  <a:srgbClr val="121212"/>
                </a:solidFill>
                <a:latin typeface="宋体"/>
                <a:cs typeface="宋体"/>
              </a:rPr>
              <a:t>）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消费者的静态属性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消费者的动态属性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article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的静态属性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article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的动态属性（也许是商品的受欢迎程度之类的）。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latin typeface="Calibri"/>
                <a:cs typeface="Calibri"/>
              </a:rPr>
              <a:t>article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是否存在于策略中以及哪些策略中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策略分数（不管它是什么）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许多其他与用户有关的项目的特征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553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9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推荐系统比赛思路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95323" y="1662074"/>
            <a:ext cx="9055100" cy="412496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800" b="1" spc="-5" dirty="0">
                <a:solidFill>
                  <a:srgbClr val="FF0000"/>
                </a:solidFill>
                <a:latin typeface="Segoe Print"/>
                <a:cs typeface="Segoe Print"/>
              </a:rPr>
              <a:t>2. 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建立一个排序模型，对消费者的候选商品进行排序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12700" marR="347980">
              <a:lnSpc>
                <a:spcPts val="3300"/>
              </a:lnSpc>
              <a:spcBef>
                <a:spcPts val="180"/>
              </a:spcBef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排序是一个不同于分类的问题，但一般来说，分类模型也可以使用。一个比较好的排名 模型是</a:t>
            </a: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LightGBM</a:t>
            </a:r>
            <a:r>
              <a:rPr sz="1800" spc="-5" dirty="0">
                <a:solidFill>
                  <a:srgbClr val="121212"/>
                </a:solidFill>
                <a:latin typeface="宋体"/>
                <a:cs typeface="宋体"/>
              </a:rPr>
              <a:t>（</a:t>
            </a: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RecSys </a:t>
            </a:r>
            <a:r>
              <a:rPr sz="1800" dirty="0">
                <a:solidFill>
                  <a:srgbClr val="121212"/>
                </a:solidFill>
                <a:latin typeface="Segoe Print"/>
                <a:cs typeface="Segoe Print"/>
              </a:rPr>
              <a:t>2019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比赛中使用了它）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Times New Roman"/>
              <a:cs typeface="Times New Roman"/>
            </a:endParaRPr>
          </a:p>
          <a:p>
            <a:pPr marL="12700" marR="151765">
              <a:lnSpc>
                <a:spcPct val="150000"/>
              </a:lnSpc>
            </a:pP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Segoe Print"/>
                <a:cs typeface="Segoe Print"/>
              </a:rPr>
              <a:t>https://lightgbm.readthedocs.io/en/latest/pythonapi/lightgbm.LGBMRanker. </a:t>
            </a:r>
            <a:r>
              <a:rPr sz="1800" spc="-5" dirty="0">
                <a:solidFill>
                  <a:srgbClr val="0562C1"/>
                </a:solidFill>
                <a:latin typeface="Segoe Print"/>
                <a:cs typeface="Segoe Print"/>
              </a:rPr>
              <a:t>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Segoe Print"/>
                <a:cs typeface="Segoe Print"/>
              </a:rPr>
              <a:t>html</a:t>
            </a:r>
            <a:endParaRPr sz="1800">
              <a:latin typeface="Segoe Print"/>
              <a:cs typeface="Segoe Prin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21212"/>
                </a:solidFill>
                <a:latin typeface="宋体"/>
                <a:cs typeface="宋体"/>
              </a:rPr>
              <a:t>小提</a:t>
            </a:r>
            <a:r>
              <a:rPr sz="1800" b="1" spc="-10" dirty="0">
                <a:solidFill>
                  <a:srgbClr val="121212"/>
                </a:solidFill>
                <a:latin typeface="宋体"/>
                <a:cs typeface="宋体"/>
              </a:rPr>
              <a:t>示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140"/>
              </a:spcBef>
              <a:buFont typeface="Segoe Print"/>
              <a:buAutoNum type="arabicPeriod"/>
              <a:tabLst>
                <a:tab pos="35560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做好数据采样，增加本地</a:t>
            </a: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CV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和</a:t>
            </a:r>
            <a:r>
              <a:rPr sz="1800" spc="-5" dirty="0">
                <a:solidFill>
                  <a:srgbClr val="121212"/>
                </a:solidFill>
                <a:latin typeface="Segoe Print"/>
                <a:cs typeface="Segoe Print"/>
              </a:rPr>
              <a:t>LB</a:t>
            </a: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之间的相关性。</a:t>
            </a:r>
            <a:endParaRPr sz="1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019"/>
              </a:spcBef>
              <a:buFont typeface="Segoe Print"/>
              <a:buAutoNum type="arabicPeriod"/>
              <a:tabLst>
                <a:tab pos="355600" algn="l"/>
              </a:tabLst>
            </a:pPr>
            <a:r>
              <a:rPr sz="1800" dirty="0">
                <a:solidFill>
                  <a:srgbClr val="121212"/>
                </a:solidFill>
                <a:latin typeface="宋体"/>
                <a:cs typeface="宋体"/>
              </a:rPr>
              <a:t>快速测试不同的想法。快速的本地验证是这场的关键，因为你必须做尽可能多的实验。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6146" y="2070938"/>
            <a:ext cx="835469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SAR </a:t>
            </a:r>
            <a:r>
              <a:rPr sz="1800" spc="-5" dirty="0">
                <a:latin typeface="Calibri"/>
                <a:cs typeface="Calibri"/>
              </a:rPr>
              <a:t>(Simple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Recommendation)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宋体"/>
                <a:cs typeface="宋体"/>
              </a:rPr>
              <a:t>一种快速、可扩展的基于用户操作记录的 个性化推荐算法，快速且可扩展。它能给出易于理解且可解释的推荐结果，同时还 处理了『冷启动』问题。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SAR</a:t>
            </a:r>
            <a:r>
              <a:rPr sz="1800" dirty="0">
                <a:latin typeface="宋体"/>
                <a:cs typeface="宋体"/>
              </a:rPr>
              <a:t>是一种近邻算法，用于为每一位用户找到最需要的物品。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6860" y="1292352"/>
            <a:ext cx="699516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43596" y="1289037"/>
            <a:ext cx="707390" cy="466725"/>
          </a:xfrm>
          <a:custGeom>
            <a:avLst/>
            <a:gdLst/>
            <a:ahLst/>
            <a:cxnLst/>
            <a:rect l="l" t="t" r="r" b="b"/>
            <a:pathLst>
              <a:path w="707389" h="466725">
                <a:moveTo>
                  <a:pt x="703033" y="466534"/>
                </a:moveTo>
                <a:lnTo>
                  <a:pt x="3809" y="466534"/>
                </a:lnTo>
                <a:lnTo>
                  <a:pt x="2349" y="466242"/>
                </a:lnTo>
                <a:lnTo>
                  <a:pt x="1117" y="465416"/>
                </a:lnTo>
                <a:lnTo>
                  <a:pt x="292" y="464172"/>
                </a:lnTo>
                <a:lnTo>
                  <a:pt x="0" y="462724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703033" y="0"/>
                </a:lnTo>
                <a:lnTo>
                  <a:pt x="704494" y="292"/>
                </a:lnTo>
                <a:lnTo>
                  <a:pt x="705726" y="1117"/>
                </a:lnTo>
                <a:lnTo>
                  <a:pt x="706551" y="2349"/>
                </a:lnTo>
                <a:lnTo>
                  <a:pt x="706843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14"/>
                </a:lnTo>
                <a:lnTo>
                  <a:pt x="3809" y="458914"/>
                </a:lnTo>
                <a:lnTo>
                  <a:pt x="7619" y="462724"/>
                </a:lnTo>
                <a:lnTo>
                  <a:pt x="706843" y="462724"/>
                </a:lnTo>
                <a:lnTo>
                  <a:pt x="706551" y="464172"/>
                </a:lnTo>
                <a:lnTo>
                  <a:pt x="705726" y="465416"/>
                </a:lnTo>
                <a:lnTo>
                  <a:pt x="704494" y="466242"/>
                </a:lnTo>
                <a:lnTo>
                  <a:pt x="703033" y="466534"/>
                </a:lnTo>
                <a:close/>
              </a:path>
              <a:path w="707389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707389" h="466725">
                <a:moveTo>
                  <a:pt x="699223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699223" y="3809"/>
                </a:lnTo>
                <a:lnTo>
                  <a:pt x="699223" y="7619"/>
                </a:lnTo>
                <a:close/>
              </a:path>
              <a:path w="707389" h="466725">
                <a:moveTo>
                  <a:pt x="699223" y="462724"/>
                </a:moveTo>
                <a:lnTo>
                  <a:pt x="699223" y="3809"/>
                </a:lnTo>
                <a:lnTo>
                  <a:pt x="703033" y="7619"/>
                </a:lnTo>
                <a:lnTo>
                  <a:pt x="706843" y="7619"/>
                </a:lnTo>
                <a:lnTo>
                  <a:pt x="706843" y="458914"/>
                </a:lnTo>
                <a:lnTo>
                  <a:pt x="703033" y="458914"/>
                </a:lnTo>
                <a:lnTo>
                  <a:pt x="699223" y="462724"/>
                </a:lnTo>
                <a:close/>
              </a:path>
              <a:path w="707389" h="466725">
                <a:moveTo>
                  <a:pt x="706843" y="7619"/>
                </a:moveTo>
                <a:lnTo>
                  <a:pt x="703033" y="7619"/>
                </a:lnTo>
                <a:lnTo>
                  <a:pt x="699223" y="3809"/>
                </a:lnTo>
                <a:lnTo>
                  <a:pt x="706843" y="3809"/>
                </a:lnTo>
                <a:lnTo>
                  <a:pt x="706843" y="7619"/>
                </a:lnTo>
                <a:close/>
              </a:path>
              <a:path w="707389" h="466725">
                <a:moveTo>
                  <a:pt x="7619" y="462724"/>
                </a:moveTo>
                <a:lnTo>
                  <a:pt x="3809" y="458914"/>
                </a:lnTo>
                <a:lnTo>
                  <a:pt x="7619" y="458914"/>
                </a:lnTo>
                <a:lnTo>
                  <a:pt x="7619" y="462724"/>
                </a:lnTo>
                <a:close/>
              </a:path>
              <a:path w="707389" h="466725">
                <a:moveTo>
                  <a:pt x="699223" y="462724"/>
                </a:moveTo>
                <a:lnTo>
                  <a:pt x="7619" y="462724"/>
                </a:lnTo>
                <a:lnTo>
                  <a:pt x="7619" y="458914"/>
                </a:lnTo>
                <a:lnTo>
                  <a:pt x="699223" y="458914"/>
                </a:lnTo>
                <a:lnTo>
                  <a:pt x="699223" y="462724"/>
                </a:lnTo>
                <a:close/>
              </a:path>
              <a:path w="707389" h="466725">
                <a:moveTo>
                  <a:pt x="706843" y="462724"/>
                </a:moveTo>
                <a:lnTo>
                  <a:pt x="699223" y="462724"/>
                </a:lnTo>
                <a:lnTo>
                  <a:pt x="703033" y="458914"/>
                </a:lnTo>
                <a:lnTo>
                  <a:pt x="706843" y="458914"/>
                </a:lnTo>
                <a:lnTo>
                  <a:pt x="706843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46860" y="1435087"/>
            <a:ext cx="69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6146" y="1969426"/>
            <a:ext cx="8385175" cy="41402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dirty="0">
                <a:latin typeface="宋体"/>
                <a:cs typeface="宋体"/>
              </a:rPr>
              <a:t>可以简单的理解，</a:t>
            </a:r>
            <a:r>
              <a:rPr sz="1800" spc="-20" dirty="0">
                <a:latin typeface="Calibri"/>
                <a:cs typeface="Calibri"/>
              </a:rPr>
              <a:t>S</a:t>
            </a:r>
            <a:r>
              <a:rPr sz="1800" spc="-5" dirty="0">
                <a:latin typeface="Calibri"/>
                <a:cs typeface="Calibri"/>
              </a:rPr>
              <a:t>AR</a:t>
            </a:r>
            <a:r>
              <a:rPr sz="1800" dirty="0">
                <a:latin typeface="宋体"/>
                <a:cs typeface="宋体"/>
              </a:rPr>
              <a:t>的优点就是从各方面来讲都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简单、快速，但又具备相当精度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易于训练和部署且高精度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快速训练——只需要简单的计算即可获得预测矩阵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快速预测评分——只需要将相似度矩阵与评分向量作乘法运算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宋体"/>
                <a:cs typeface="宋体"/>
              </a:rPr>
              <a:t>如何正确使用</a:t>
            </a:r>
            <a:r>
              <a:rPr sz="1800" b="1" spc="-15" dirty="0">
                <a:latin typeface="Calibri"/>
                <a:cs typeface="Calibri"/>
              </a:rPr>
              <a:t>SAR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不关注用户特征或物品特征，它在需要用户特征或物品特征的场景下表现较差。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占用内存高。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它需要创建多个稀疏矩阵。大多数基于矩阵分解的算法也存在该问题。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它倾向于一个隐含的评分方案，但不预测评分。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6860" y="1292352"/>
            <a:ext cx="1322831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43596" y="1289037"/>
            <a:ext cx="1330960" cy="466725"/>
          </a:xfrm>
          <a:custGeom>
            <a:avLst/>
            <a:gdLst/>
            <a:ahLst/>
            <a:cxnLst/>
            <a:rect l="l" t="t" r="r" b="b"/>
            <a:pathLst>
              <a:path w="1330960" h="466725">
                <a:moveTo>
                  <a:pt x="1326603" y="466534"/>
                </a:moveTo>
                <a:lnTo>
                  <a:pt x="3809" y="466534"/>
                </a:lnTo>
                <a:lnTo>
                  <a:pt x="2349" y="466242"/>
                </a:lnTo>
                <a:lnTo>
                  <a:pt x="1117" y="465416"/>
                </a:lnTo>
                <a:lnTo>
                  <a:pt x="292" y="464172"/>
                </a:lnTo>
                <a:lnTo>
                  <a:pt x="0" y="462724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326603" y="0"/>
                </a:lnTo>
                <a:lnTo>
                  <a:pt x="1328064" y="292"/>
                </a:lnTo>
                <a:lnTo>
                  <a:pt x="1329296" y="1117"/>
                </a:lnTo>
                <a:lnTo>
                  <a:pt x="1330121" y="2349"/>
                </a:lnTo>
                <a:lnTo>
                  <a:pt x="1330413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14"/>
                </a:lnTo>
                <a:lnTo>
                  <a:pt x="3809" y="458914"/>
                </a:lnTo>
                <a:lnTo>
                  <a:pt x="7619" y="462724"/>
                </a:lnTo>
                <a:lnTo>
                  <a:pt x="1330413" y="462724"/>
                </a:lnTo>
                <a:lnTo>
                  <a:pt x="1330121" y="464172"/>
                </a:lnTo>
                <a:lnTo>
                  <a:pt x="1329296" y="465416"/>
                </a:lnTo>
                <a:lnTo>
                  <a:pt x="1328064" y="466242"/>
                </a:lnTo>
                <a:lnTo>
                  <a:pt x="1326603" y="466534"/>
                </a:lnTo>
                <a:close/>
              </a:path>
              <a:path w="1330960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330960" h="466725">
                <a:moveTo>
                  <a:pt x="1322793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322793" y="3809"/>
                </a:lnTo>
                <a:lnTo>
                  <a:pt x="1322793" y="7619"/>
                </a:lnTo>
                <a:close/>
              </a:path>
              <a:path w="1330960" h="466725">
                <a:moveTo>
                  <a:pt x="1322793" y="462724"/>
                </a:moveTo>
                <a:lnTo>
                  <a:pt x="1322793" y="3809"/>
                </a:lnTo>
                <a:lnTo>
                  <a:pt x="1326603" y="7619"/>
                </a:lnTo>
                <a:lnTo>
                  <a:pt x="1330413" y="7619"/>
                </a:lnTo>
                <a:lnTo>
                  <a:pt x="1330413" y="458914"/>
                </a:lnTo>
                <a:lnTo>
                  <a:pt x="1326603" y="458914"/>
                </a:lnTo>
                <a:lnTo>
                  <a:pt x="1322793" y="462724"/>
                </a:lnTo>
                <a:close/>
              </a:path>
              <a:path w="1330960" h="466725">
                <a:moveTo>
                  <a:pt x="1330413" y="7619"/>
                </a:moveTo>
                <a:lnTo>
                  <a:pt x="1326603" y="7619"/>
                </a:lnTo>
                <a:lnTo>
                  <a:pt x="1322793" y="3809"/>
                </a:lnTo>
                <a:lnTo>
                  <a:pt x="1330413" y="3809"/>
                </a:lnTo>
                <a:lnTo>
                  <a:pt x="1330413" y="7619"/>
                </a:lnTo>
                <a:close/>
              </a:path>
              <a:path w="1330960" h="466725">
                <a:moveTo>
                  <a:pt x="7619" y="462724"/>
                </a:moveTo>
                <a:lnTo>
                  <a:pt x="3809" y="458914"/>
                </a:lnTo>
                <a:lnTo>
                  <a:pt x="7619" y="458914"/>
                </a:lnTo>
                <a:lnTo>
                  <a:pt x="7619" y="462724"/>
                </a:lnTo>
                <a:close/>
              </a:path>
              <a:path w="1330960" h="466725">
                <a:moveTo>
                  <a:pt x="1322793" y="462724"/>
                </a:moveTo>
                <a:lnTo>
                  <a:pt x="7619" y="462724"/>
                </a:lnTo>
                <a:lnTo>
                  <a:pt x="7619" y="458914"/>
                </a:lnTo>
                <a:lnTo>
                  <a:pt x="1322793" y="458914"/>
                </a:lnTo>
                <a:lnTo>
                  <a:pt x="1322793" y="462724"/>
                </a:lnTo>
                <a:close/>
              </a:path>
              <a:path w="1330960" h="466725">
                <a:moveTo>
                  <a:pt x="1330413" y="462724"/>
                </a:moveTo>
                <a:lnTo>
                  <a:pt x="1322793" y="462724"/>
                </a:lnTo>
                <a:lnTo>
                  <a:pt x="1326603" y="458914"/>
                </a:lnTo>
                <a:lnTo>
                  <a:pt x="1330413" y="458914"/>
                </a:lnTo>
                <a:lnTo>
                  <a:pt x="1330413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46860" y="1435087"/>
            <a:ext cx="13233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微软雅黑"/>
                <a:cs typeface="微软雅黑"/>
              </a:rPr>
              <a:t>SAR</a:t>
            </a: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的优点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6146" y="2070938"/>
            <a:ext cx="8018145" cy="20828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宋体"/>
                <a:cs typeface="宋体"/>
              </a:rPr>
              <a:t>接下来从高层次介绍</a:t>
            </a:r>
            <a:r>
              <a:rPr sz="1800" b="1" spc="-15" dirty="0">
                <a:latin typeface="Calibri"/>
                <a:cs typeface="Calibri"/>
              </a:rPr>
              <a:t>SAR</a:t>
            </a:r>
            <a:r>
              <a:rPr sz="1800" b="1" dirty="0">
                <a:latin typeface="宋体"/>
                <a:cs typeface="宋体"/>
              </a:rPr>
              <a:t>架构</a:t>
            </a:r>
            <a:r>
              <a:rPr sz="1800" b="1" spc="-10" dirty="0">
                <a:latin typeface="宋体"/>
                <a:cs typeface="宋体"/>
              </a:rPr>
              <a:t>：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/>
                <a:cs typeface="宋体"/>
              </a:rPr>
              <a:t>在这个较高的层次来说</a:t>
            </a:r>
            <a:r>
              <a:rPr sz="1800" spc="-10" dirty="0">
                <a:latin typeface="宋体"/>
                <a:cs typeface="宋体"/>
              </a:rPr>
              <a:t>，</a:t>
            </a:r>
            <a:r>
              <a:rPr sz="1800" spc="-10" dirty="0">
                <a:latin typeface="Calibri"/>
                <a:cs typeface="Calibri"/>
              </a:rPr>
              <a:t>SAR</a:t>
            </a:r>
            <a:r>
              <a:rPr sz="1800" dirty="0">
                <a:latin typeface="宋体"/>
                <a:cs typeface="宋体"/>
              </a:rPr>
              <a:t>会创建下述两个中间矩阵，用于构造推荐评分：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基于物品间关联性构造的物品相似度矩阵</a:t>
            </a:r>
            <a:r>
              <a:rPr sz="1800" spc="-500" dirty="0">
                <a:latin typeface="宋体"/>
                <a:cs typeface="宋体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基于用户</a:t>
            </a:r>
            <a:r>
              <a:rPr sz="1800" spc="-5" dirty="0">
                <a:latin typeface="Calibri"/>
                <a:cs typeface="Calibri"/>
              </a:rPr>
              <a:t>-</a:t>
            </a:r>
            <a:r>
              <a:rPr sz="1800" dirty="0">
                <a:latin typeface="宋体"/>
                <a:cs typeface="宋体"/>
              </a:rPr>
              <a:t>物品关联性构造的用户喜好矩阵</a:t>
            </a:r>
            <a:r>
              <a:rPr sz="1800" spc="-500" dirty="0">
                <a:latin typeface="宋体"/>
                <a:cs typeface="宋体"/>
              </a:rPr>
              <a:t> 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/>
                <a:cs typeface="宋体"/>
              </a:rPr>
              <a:t>物品关于用户的推荐评分即通过创建矩阵</a:t>
            </a:r>
            <a:r>
              <a:rPr sz="1800" spc="-515" dirty="0">
                <a:latin typeface="宋体"/>
                <a:cs typeface="宋体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dirty="0">
                <a:latin typeface="宋体"/>
                <a:cs typeface="宋体"/>
              </a:rPr>
              <a:t>与</a:t>
            </a:r>
            <a:r>
              <a:rPr sz="1800" spc="-509" dirty="0">
                <a:latin typeface="宋体"/>
                <a:cs typeface="宋体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并执行矩阵积运算</a:t>
            </a:r>
            <a:r>
              <a:rPr sz="1800" spc="-509" dirty="0">
                <a:latin typeface="宋体"/>
                <a:cs typeface="宋体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dirty="0">
                <a:latin typeface="宋体"/>
                <a:cs typeface="宋体"/>
              </a:rPr>
              <a:t>求得。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46860" y="1292352"/>
            <a:ext cx="1092708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43596" y="1289037"/>
            <a:ext cx="1099820" cy="466725"/>
          </a:xfrm>
          <a:custGeom>
            <a:avLst/>
            <a:gdLst/>
            <a:ahLst/>
            <a:cxnLst/>
            <a:rect l="l" t="t" r="r" b="b"/>
            <a:pathLst>
              <a:path w="1099820" h="466725">
                <a:moveTo>
                  <a:pt x="1095768" y="466534"/>
                </a:moveTo>
                <a:lnTo>
                  <a:pt x="3809" y="466534"/>
                </a:lnTo>
                <a:lnTo>
                  <a:pt x="2349" y="466242"/>
                </a:lnTo>
                <a:lnTo>
                  <a:pt x="1117" y="465416"/>
                </a:lnTo>
                <a:lnTo>
                  <a:pt x="292" y="464172"/>
                </a:lnTo>
                <a:lnTo>
                  <a:pt x="0" y="462724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095768" y="0"/>
                </a:lnTo>
                <a:lnTo>
                  <a:pt x="1097229" y="292"/>
                </a:lnTo>
                <a:lnTo>
                  <a:pt x="1098461" y="1117"/>
                </a:lnTo>
                <a:lnTo>
                  <a:pt x="1099286" y="2349"/>
                </a:lnTo>
                <a:lnTo>
                  <a:pt x="1099578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14"/>
                </a:lnTo>
                <a:lnTo>
                  <a:pt x="3809" y="458914"/>
                </a:lnTo>
                <a:lnTo>
                  <a:pt x="7619" y="462724"/>
                </a:lnTo>
                <a:lnTo>
                  <a:pt x="1099578" y="462724"/>
                </a:lnTo>
                <a:lnTo>
                  <a:pt x="1099286" y="464172"/>
                </a:lnTo>
                <a:lnTo>
                  <a:pt x="1098461" y="465416"/>
                </a:lnTo>
                <a:lnTo>
                  <a:pt x="1097229" y="466242"/>
                </a:lnTo>
                <a:lnTo>
                  <a:pt x="1095768" y="466534"/>
                </a:lnTo>
                <a:close/>
              </a:path>
              <a:path w="1099820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099820" h="466725">
                <a:moveTo>
                  <a:pt x="1091958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091958" y="3809"/>
                </a:lnTo>
                <a:lnTo>
                  <a:pt x="1091958" y="7619"/>
                </a:lnTo>
                <a:close/>
              </a:path>
              <a:path w="1099820" h="466725">
                <a:moveTo>
                  <a:pt x="1091958" y="462724"/>
                </a:moveTo>
                <a:lnTo>
                  <a:pt x="1091958" y="3809"/>
                </a:lnTo>
                <a:lnTo>
                  <a:pt x="1095768" y="7619"/>
                </a:lnTo>
                <a:lnTo>
                  <a:pt x="1099578" y="7619"/>
                </a:lnTo>
                <a:lnTo>
                  <a:pt x="1099578" y="458914"/>
                </a:lnTo>
                <a:lnTo>
                  <a:pt x="1095768" y="458914"/>
                </a:lnTo>
                <a:lnTo>
                  <a:pt x="1091958" y="462724"/>
                </a:lnTo>
                <a:close/>
              </a:path>
              <a:path w="1099820" h="466725">
                <a:moveTo>
                  <a:pt x="1099578" y="7619"/>
                </a:moveTo>
                <a:lnTo>
                  <a:pt x="1095768" y="7619"/>
                </a:lnTo>
                <a:lnTo>
                  <a:pt x="1091958" y="3809"/>
                </a:lnTo>
                <a:lnTo>
                  <a:pt x="1099578" y="3809"/>
                </a:lnTo>
                <a:lnTo>
                  <a:pt x="1099578" y="7619"/>
                </a:lnTo>
                <a:close/>
              </a:path>
              <a:path w="1099820" h="466725">
                <a:moveTo>
                  <a:pt x="7619" y="462724"/>
                </a:moveTo>
                <a:lnTo>
                  <a:pt x="3809" y="458914"/>
                </a:lnTo>
                <a:lnTo>
                  <a:pt x="7619" y="458914"/>
                </a:lnTo>
                <a:lnTo>
                  <a:pt x="7619" y="462724"/>
                </a:lnTo>
                <a:close/>
              </a:path>
              <a:path w="1099820" h="466725">
                <a:moveTo>
                  <a:pt x="1091958" y="462724"/>
                </a:moveTo>
                <a:lnTo>
                  <a:pt x="7619" y="462724"/>
                </a:lnTo>
                <a:lnTo>
                  <a:pt x="7619" y="458914"/>
                </a:lnTo>
                <a:lnTo>
                  <a:pt x="1091958" y="458914"/>
                </a:lnTo>
                <a:lnTo>
                  <a:pt x="1091958" y="462724"/>
                </a:lnTo>
                <a:close/>
              </a:path>
              <a:path w="1099820" h="466725">
                <a:moveTo>
                  <a:pt x="1099578" y="462724"/>
                </a:moveTo>
                <a:lnTo>
                  <a:pt x="1091958" y="462724"/>
                </a:lnTo>
                <a:lnTo>
                  <a:pt x="1095768" y="458914"/>
                </a:lnTo>
                <a:lnTo>
                  <a:pt x="1099578" y="458914"/>
                </a:lnTo>
                <a:lnTo>
                  <a:pt x="1099578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546860" y="1435087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微软雅黑"/>
                <a:cs typeface="微软雅黑"/>
              </a:rPr>
              <a:t>SAR</a:t>
            </a: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算法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b="1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b="1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46860" y="1292352"/>
            <a:ext cx="1092708" cy="4587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43596" y="1289037"/>
            <a:ext cx="1099820" cy="466725"/>
          </a:xfrm>
          <a:custGeom>
            <a:avLst/>
            <a:gdLst/>
            <a:ahLst/>
            <a:cxnLst/>
            <a:rect l="l" t="t" r="r" b="b"/>
            <a:pathLst>
              <a:path w="1099820" h="466725">
                <a:moveTo>
                  <a:pt x="1095768" y="466534"/>
                </a:moveTo>
                <a:lnTo>
                  <a:pt x="3809" y="466534"/>
                </a:lnTo>
                <a:lnTo>
                  <a:pt x="2349" y="466242"/>
                </a:lnTo>
                <a:lnTo>
                  <a:pt x="1117" y="465416"/>
                </a:lnTo>
                <a:lnTo>
                  <a:pt x="292" y="464172"/>
                </a:lnTo>
                <a:lnTo>
                  <a:pt x="0" y="462724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095768" y="0"/>
                </a:lnTo>
                <a:lnTo>
                  <a:pt x="1097229" y="292"/>
                </a:lnTo>
                <a:lnTo>
                  <a:pt x="1098461" y="1117"/>
                </a:lnTo>
                <a:lnTo>
                  <a:pt x="1099286" y="2349"/>
                </a:lnTo>
                <a:lnTo>
                  <a:pt x="1099578" y="3809"/>
                </a:lnTo>
                <a:lnTo>
                  <a:pt x="7619" y="3809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458914"/>
                </a:lnTo>
                <a:lnTo>
                  <a:pt x="3809" y="458914"/>
                </a:lnTo>
                <a:lnTo>
                  <a:pt x="7619" y="462724"/>
                </a:lnTo>
                <a:lnTo>
                  <a:pt x="1099578" y="462724"/>
                </a:lnTo>
                <a:lnTo>
                  <a:pt x="1099286" y="464172"/>
                </a:lnTo>
                <a:lnTo>
                  <a:pt x="1098461" y="465416"/>
                </a:lnTo>
                <a:lnTo>
                  <a:pt x="1097229" y="466242"/>
                </a:lnTo>
                <a:lnTo>
                  <a:pt x="1095768" y="466534"/>
                </a:lnTo>
                <a:close/>
              </a:path>
              <a:path w="1099820" h="466725">
                <a:moveTo>
                  <a:pt x="7619" y="7619"/>
                </a:moveTo>
                <a:lnTo>
                  <a:pt x="3809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1099820" h="466725">
                <a:moveTo>
                  <a:pt x="1091958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1091958" y="3809"/>
                </a:lnTo>
                <a:lnTo>
                  <a:pt x="1091958" y="7619"/>
                </a:lnTo>
                <a:close/>
              </a:path>
              <a:path w="1099820" h="466725">
                <a:moveTo>
                  <a:pt x="1091958" y="462724"/>
                </a:moveTo>
                <a:lnTo>
                  <a:pt x="1091958" y="3809"/>
                </a:lnTo>
                <a:lnTo>
                  <a:pt x="1095768" y="7619"/>
                </a:lnTo>
                <a:lnTo>
                  <a:pt x="1099578" y="7619"/>
                </a:lnTo>
                <a:lnTo>
                  <a:pt x="1099578" y="458914"/>
                </a:lnTo>
                <a:lnTo>
                  <a:pt x="1095768" y="458914"/>
                </a:lnTo>
                <a:lnTo>
                  <a:pt x="1091958" y="462724"/>
                </a:lnTo>
                <a:close/>
              </a:path>
              <a:path w="1099820" h="466725">
                <a:moveTo>
                  <a:pt x="1099578" y="7619"/>
                </a:moveTo>
                <a:lnTo>
                  <a:pt x="1095768" y="7619"/>
                </a:lnTo>
                <a:lnTo>
                  <a:pt x="1091958" y="3809"/>
                </a:lnTo>
                <a:lnTo>
                  <a:pt x="1099578" y="3809"/>
                </a:lnTo>
                <a:lnTo>
                  <a:pt x="1099578" y="7619"/>
                </a:lnTo>
                <a:close/>
              </a:path>
              <a:path w="1099820" h="466725">
                <a:moveTo>
                  <a:pt x="7619" y="462724"/>
                </a:moveTo>
                <a:lnTo>
                  <a:pt x="3809" y="458914"/>
                </a:lnTo>
                <a:lnTo>
                  <a:pt x="7619" y="458914"/>
                </a:lnTo>
                <a:lnTo>
                  <a:pt x="7619" y="462724"/>
                </a:lnTo>
                <a:close/>
              </a:path>
              <a:path w="1099820" h="466725">
                <a:moveTo>
                  <a:pt x="1091958" y="462724"/>
                </a:moveTo>
                <a:lnTo>
                  <a:pt x="7619" y="462724"/>
                </a:lnTo>
                <a:lnTo>
                  <a:pt x="7619" y="458914"/>
                </a:lnTo>
                <a:lnTo>
                  <a:pt x="1091958" y="458914"/>
                </a:lnTo>
                <a:lnTo>
                  <a:pt x="1091958" y="462724"/>
                </a:lnTo>
                <a:close/>
              </a:path>
              <a:path w="1099820" h="466725">
                <a:moveTo>
                  <a:pt x="1099578" y="462724"/>
                </a:moveTo>
                <a:lnTo>
                  <a:pt x="1091958" y="462724"/>
                </a:lnTo>
                <a:lnTo>
                  <a:pt x="1095768" y="458914"/>
                </a:lnTo>
                <a:lnTo>
                  <a:pt x="1099578" y="458914"/>
                </a:lnTo>
                <a:lnTo>
                  <a:pt x="1099578" y="462724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546860" y="1435087"/>
            <a:ext cx="109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微软雅黑"/>
                <a:cs typeface="微软雅黑"/>
              </a:rPr>
              <a:t>SAR</a:t>
            </a:r>
            <a:r>
              <a:rPr sz="1800" dirty="0">
                <a:solidFill>
                  <a:srgbClr val="FFFFFF"/>
                </a:solidFill>
                <a:latin typeface="微软雅黑"/>
                <a:cs typeface="微软雅黑"/>
              </a:rPr>
              <a:t>算法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082074" y="1210081"/>
          <a:ext cx="6358254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9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英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文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中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文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Transaction data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用户操作记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录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Item-Item similarity matrix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物品相似度矩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阵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User-Item affinity matrix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用户喜好矩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阵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5" dirty="0">
                          <a:latin typeface="Calibri"/>
                          <a:cs typeface="Calibri"/>
                        </a:rPr>
                        <a:t>dacay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时间衰减、时效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性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spc="-5" dirty="0">
                          <a:latin typeface="Calibri"/>
                          <a:cs typeface="Calibri"/>
                        </a:rPr>
                        <a:t>remove seen items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100" dirty="0">
                          <a:latin typeface="宋体"/>
                          <a:cs typeface="宋体"/>
                        </a:rPr>
                        <a:t>移除可见物品、移除已知物</a:t>
                      </a:r>
                      <a:r>
                        <a:rPr sz="1100" spc="5" dirty="0">
                          <a:latin typeface="宋体"/>
                          <a:cs typeface="宋体"/>
                        </a:rPr>
                        <a:t>品</a:t>
                      </a:r>
                      <a:endParaRPr sz="1100">
                        <a:latin typeface="宋体"/>
                        <a:cs typeface="宋体"/>
                      </a:endParaRPr>
                    </a:p>
                  </a:txBody>
                  <a:tcPr marL="0" marR="0" marT="19050" marB="0">
                    <a:lnL w="9525">
                      <a:solidFill>
                        <a:srgbClr val="DEDEDE"/>
                      </a:solidFill>
                      <a:prstDash val="solid"/>
                    </a:lnL>
                    <a:lnR w="9525">
                      <a:solidFill>
                        <a:srgbClr val="DEDEDE"/>
                      </a:solidFill>
                      <a:prstDash val="solid"/>
                    </a:lnR>
                    <a:lnT w="9525">
                      <a:solidFill>
                        <a:srgbClr val="DEDEDE"/>
                      </a:solidFill>
                      <a:prstDash val="solid"/>
                    </a:lnT>
                    <a:lnB w="9525">
                      <a:solidFill>
                        <a:srgbClr val="DEDE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1384706" y="2546667"/>
            <a:ext cx="8420493" cy="4311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3436620" cy="370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3444875" cy="377190"/>
          </a:xfrm>
          <a:custGeom>
            <a:avLst/>
            <a:gdLst/>
            <a:ahLst/>
            <a:cxnLst/>
            <a:rect l="l" t="t" r="r" b="b"/>
            <a:pathLst>
              <a:path w="3444875" h="377189">
                <a:moveTo>
                  <a:pt x="3440963" y="376961"/>
                </a:moveTo>
                <a:lnTo>
                  <a:pt x="3809" y="376961"/>
                </a:lnTo>
                <a:lnTo>
                  <a:pt x="2349" y="376669"/>
                </a:lnTo>
                <a:lnTo>
                  <a:pt x="1117" y="375843"/>
                </a:lnTo>
                <a:lnTo>
                  <a:pt x="292" y="374599"/>
                </a:lnTo>
                <a:lnTo>
                  <a:pt x="0" y="373151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3440963" y="0"/>
                </a:lnTo>
                <a:lnTo>
                  <a:pt x="3442423" y="292"/>
                </a:lnTo>
                <a:lnTo>
                  <a:pt x="3443655" y="1117"/>
                </a:lnTo>
                <a:lnTo>
                  <a:pt x="3444481" y="2362"/>
                </a:lnTo>
                <a:lnTo>
                  <a:pt x="3444773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9341"/>
                </a:lnTo>
                <a:lnTo>
                  <a:pt x="3809" y="369341"/>
                </a:lnTo>
                <a:lnTo>
                  <a:pt x="7619" y="373151"/>
                </a:lnTo>
                <a:lnTo>
                  <a:pt x="3444773" y="373151"/>
                </a:lnTo>
                <a:lnTo>
                  <a:pt x="3444481" y="374599"/>
                </a:lnTo>
                <a:lnTo>
                  <a:pt x="3443655" y="375843"/>
                </a:lnTo>
                <a:lnTo>
                  <a:pt x="3442423" y="376669"/>
                </a:lnTo>
                <a:lnTo>
                  <a:pt x="3440963" y="376961"/>
                </a:lnTo>
                <a:close/>
              </a:path>
              <a:path w="3444875" h="37718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3444875" h="377189">
                <a:moveTo>
                  <a:pt x="3437153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3437153" y="3810"/>
                </a:lnTo>
                <a:lnTo>
                  <a:pt x="3437153" y="7620"/>
                </a:lnTo>
                <a:close/>
              </a:path>
              <a:path w="3444875" h="377189">
                <a:moveTo>
                  <a:pt x="3437153" y="373151"/>
                </a:moveTo>
                <a:lnTo>
                  <a:pt x="3437153" y="3810"/>
                </a:lnTo>
                <a:lnTo>
                  <a:pt x="3440963" y="7620"/>
                </a:lnTo>
                <a:lnTo>
                  <a:pt x="3444773" y="7620"/>
                </a:lnTo>
                <a:lnTo>
                  <a:pt x="3444773" y="369341"/>
                </a:lnTo>
                <a:lnTo>
                  <a:pt x="3440963" y="369341"/>
                </a:lnTo>
                <a:lnTo>
                  <a:pt x="3437153" y="373151"/>
                </a:lnTo>
                <a:close/>
              </a:path>
              <a:path w="3444875" h="377189">
                <a:moveTo>
                  <a:pt x="3444773" y="7620"/>
                </a:moveTo>
                <a:lnTo>
                  <a:pt x="3440963" y="7620"/>
                </a:lnTo>
                <a:lnTo>
                  <a:pt x="3437153" y="3810"/>
                </a:lnTo>
                <a:lnTo>
                  <a:pt x="3444773" y="3810"/>
                </a:lnTo>
                <a:lnTo>
                  <a:pt x="3444773" y="7620"/>
                </a:lnTo>
                <a:close/>
              </a:path>
              <a:path w="3444875" h="377189">
                <a:moveTo>
                  <a:pt x="7619" y="373151"/>
                </a:moveTo>
                <a:lnTo>
                  <a:pt x="3809" y="369341"/>
                </a:lnTo>
                <a:lnTo>
                  <a:pt x="7619" y="369341"/>
                </a:lnTo>
                <a:lnTo>
                  <a:pt x="7619" y="373151"/>
                </a:lnTo>
                <a:close/>
              </a:path>
              <a:path w="3444875" h="377189">
                <a:moveTo>
                  <a:pt x="3437153" y="373151"/>
                </a:moveTo>
                <a:lnTo>
                  <a:pt x="7619" y="373151"/>
                </a:lnTo>
                <a:lnTo>
                  <a:pt x="7619" y="369341"/>
                </a:lnTo>
                <a:lnTo>
                  <a:pt x="3437153" y="369341"/>
                </a:lnTo>
                <a:lnTo>
                  <a:pt x="3437153" y="373151"/>
                </a:lnTo>
                <a:close/>
              </a:path>
              <a:path w="3444875" h="377189">
                <a:moveTo>
                  <a:pt x="3444773" y="373151"/>
                </a:moveTo>
                <a:lnTo>
                  <a:pt x="3437153" y="373151"/>
                </a:lnTo>
                <a:lnTo>
                  <a:pt x="3440963" y="369341"/>
                </a:lnTo>
                <a:lnTo>
                  <a:pt x="3444773" y="369341"/>
                </a:lnTo>
                <a:lnTo>
                  <a:pt x="3444773" y="37315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296161"/>
            <a:ext cx="3436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计算物品共现度和物品相似</a:t>
            </a:r>
            <a:r>
              <a:rPr sz="1800" b="1" spc="-10" dirty="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2789" y="1947366"/>
            <a:ext cx="1004951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945" algn="just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SAR通过物品共现度确定物品间相似性，而两个物品间的共现度是它们共同出现在同一用户的次数。 我们可以这样展示所有物品间的共现度：在一个</a:t>
            </a:r>
            <a:r>
              <a:rPr sz="1800" spc="-450" dirty="0">
                <a:latin typeface="宋体"/>
                <a:cs typeface="宋体"/>
              </a:rPr>
              <a:t> </a:t>
            </a:r>
            <a:r>
              <a:rPr sz="1800" b="1" spc="-450" dirty="0">
                <a:latin typeface="宋体"/>
                <a:cs typeface="宋体"/>
              </a:rPr>
              <a:t>m</a:t>
            </a:r>
            <a:r>
              <a:rPr sz="1800" b="1" spc="-20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x</a:t>
            </a:r>
            <a:r>
              <a:rPr sz="1800" b="1" spc="-20" dirty="0">
                <a:latin typeface="宋体"/>
                <a:cs typeface="宋体"/>
              </a:rPr>
              <a:t> </a:t>
            </a:r>
            <a:r>
              <a:rPr sz="1800" b="1" spc="-450" dirty="0">
                <a:latin typeface="宋体"/>
                <a:cs typeface="宋体"/>
              </a:rPr>
              <a:t>m</a:t>
            </a:r>
            <a:r>
              <a:rPr sz="1800" spc="-450" dirty="0">
                <a:latin typeface="宋体"/>
                <a:cs typeface="宋体"/>
              </a:rPr>
              <a:t> </a:t>
            </a:r>
            <a:r>
              <a:rPr sz="1800" dirty="0">
                <a:latin typeface="宋体"/>
                <a:cs typeface="宋体"/>
              </a:rPr>
              <a:t>的矩阵</a:t>
            </a:r>
            <a:r>
              <a:rPr sz="1800" spc="-600" dirty="0">
                <a:latin typeface="宋体"/>
                <a:cs typeface="宋体"/>
              </a:rPr>
              <a:t> </a:t>
            </a:r>
            <a:r>
              <a:rPr sz="1800" b="1" spc="-600" dirty="0">
                <a:latin typeface="宋体"/>
                <a:cs typeface="宋体"/>
              </a:rPr>
              <a:t>C</a:t>
            </a:r>
            <a:r>
              <a:rPr sz="1800" spc="-600" dirty="0">
                <a:latin typeface="宋体"/>
                <a:cs typeface="宋体"/>
              </a:rPr>
              <a:t> </a:t>
            </a:r>
            <a:r>
              <a:rPr sz="1800" dirty="0">
                <a:latin typeface="宋体"/>
                <a:cs typeface="宋体"/>
              </a:rPr>
              <a:t>中，元素</a:t>
            </a:r>
            <a:r>
              <a:rPr sz="1800" spc="-180" dirty="0">
                <a:latin typeface="宋体"/>
                <a:cs typeface="宋体"/>
              </a:rPr>
              <a:t> </a:t>
            </a:r>
            <a:r>
              <a:rPr sz="1800" b="1" spc="-180" dirty="0">
                <a:latin typeface="宋体"/>
                <a:cs typeface="宋体"/>
              </a:rPr>
              <a:t>c(i,</a:t>
            </a:r>
            <a:r>
              <a:rPr sz="1800" b="1" spc="-20" dirty="0">
                <a:latin typeface="宋体"/>
                <a:cs typeface="宋体"/>
              </a:rPr>
              <a:t> </a:t>
            </a:r>
            <a:r>
              <a:rPr sz="1800" b="1" spc="-300" dirty="0">
                <a:latin typeface="宋体"/>
                <a:cs typeface="宋体"/>
              </a:rPr>
              <a:t>j)</a:t>
            </a:r>
            <a:r>
              <a:rPr sz="1800" spc="-300" dirty="0">
                <a:latin typeface="宋体"/>
                <a:cs typeface="宋体"/>
              </a:rPr>
              <a:t> </a:t>
            </a:r>
            <a:r>
              <a:rPr sz="1800" dirty="0">
                <a:latin typeface="宋体"/>
                <a:cs typeface="宋体"/>
              </a:rPr>
              <a:t>表示物品</a:t>
            </a:r>
            <a:r>
              <a:rPr sz="1800" spc="-300" dirty="0">
                <a:latin typeface="宋体"/>
                <a:cs typeface="宋体"/>
              </a:rPr>
              <a:t> </a:t>
            </a:r>
            <a:r>
              <a:rPr sz="1800" b="1" spc="-300" dirty="0">
                <a:latin typeface="宋体"/>
                <a:cs typeface="宋体"/>
              </a:rPr>
              <a:t>i</a:t>
            </a:r>
            <a:r>
              <a:rPr sz="1800" spc="-300" dirty="0">
                <a:latin typeface="宋体"/>
                <a:cs typeface="宋体"/>
              </a:rPr>
              <a:t>  </a:t>
            </a:r>
            <a:r>
              <a:rPr sz="1800" dirty="0">
                <a:latin typeface="宋体"/>
                <a:cs typeface="宋体"/>
              </a:rPr>
              <a:t>与</a:t>
            </a:r>
            <a:r>
              <a:rPr sz="1800" spc="-600" dirty="0">
                <a:latin typeface="宋体"/>
                <a:cs typeface="宋体"/>
              </a:rPr>
              <a:t> </a:t>
            </a:r>
            <a:r>
              <a:rPr sz="1800" b="1" spc="-600" dirty="0">
                <a:latin typeface="宋体"/>
                <a:cs typeface="宋体"/>
              </a:rPr>
              <a:t>j</a:t>
            </a:r>
            <a:r>
              <a:rPr sz="1800" spc="-600" dirty="0">
                <a:latin typeface="宋体"/>
                <a:cs typeface="宋体"/>
              </a:rPr>
              <a:t> </a:t>
            </a:r>
            <a:r>
              <a:rPr sz="1800" dirty="0">
                <a:latin typeface="宋体"/>
                <a:cs typeface="宋体"/>
              </a:rPr>
              <a:t>共同出现的次数。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/>
                <a:cs typeface="宋体"/>
              </a:rPr>
              <a:t>共现矩阵</a:t>
            </a:r>
            <a:r>
              <a:rPr sz="1800" spc="-600" dirty="0">
                <a:latin typeface="宋体"/>
                <a:cs typeface="宋体"/>
              </a:rPr>
              <a:t> </a:t>
            </a:r>
            <a:r>
              <a:rPr sz="1800" b="1" spc="-600" dirty="0">
                <a:latin typeface="宋体"/>
                <a:cs typeface="宋体"/>
              </a:rPr>
              <a:t>C</a:t>
            </a:r>
            <a:r>
              <a:rPr sz="1800" spc="-600" dirty="0">
                <a:latin typeface="宋体"/>
                <a:cs typeface="宋体"/>
              </a:rPr>
              <a:t> </a:t>
            </a:r>
            <a:r>
              <a:rPr sz="1800" dirty="0">
                <a:latin typeface="宋体"/>
                <a:cs typeface="宋体"/>
              </a:rPr>
              <a:t>具有如下属性：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对称性</a:t>
            </a:r>
            <a:r>
              <a:rPr sz="1800" spc="-130" dirty="0">
                <a:latin typeface="宋体"/>
                <a:cs typeface="宋体"/>
              </a:rPr>
              <a:t>—— </a:t>
            </a:r>
            <a:r>
              <a:rPr sz="1800" b="1" spc="-130" dirty="0">
                <a:latin typeface="宋体"/>
                <a:cs typeface="宋体"/>
              </a:rPr>
              <a:t>c(i,</a:t>
            </a:r>
            <a:r>
              <a:rPr sz="1800" b="1" dirty="0">
                <a:latin typeface="宋体"/>
                <a:cs typeface="宋体"/>
              </a:rPr>
              <a:t> j) =</a:t>
            </a:r>
            <a:r>
              <a:rPr sz="1800" b="1" spc="5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c(j, </a:t>
            </a:r>
            <a:r>
              <a:rPr sz="1800" b="1" spc="-5" dirty="0">
                <a:latin typeface="宋体"/>
                <a:cs typeface="宋体"/>
              </a:rPr>
              <a:t>i)</a:t>
            </a:r>
            <a:endParaRPr sz="18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非负性</a:t>
            </a:r>
            <a:r>
              <a:rPr sz="1800" spc="-130" dirty="0">
                <a:latin typeface="宋体"/>
                <a:cs typeface="宋体"/>
              </a:rPr>
              <a:t>—— </a:t>
            </a:r>
            <a:r>
              <a:rPr sz="1800" b="1" spc="-130" dirty="0">
                <a:latin typeface="宋体"/>
                <a:cs typeface="宋体"/>
              </a:rPr>
              <a:t>c(i,</a:t>
            </a:r>
            <a:r>
              <a:rPr sz="1800" b="1" dirty="0">
                <a:latin typeface="宋体"/>
                <a:cs typeface="宋体"/>
              </a:rPr>
              <a:t> j) ≥</a:t>
            </a:r>
            <a:r>
              <a:rPr sz="1800" b="1" spc="5" dirty="0">
                <a:latin typeface="宋体"/>
                <a:cs typeface="宋体"/>
              </a:rPr>
              <a:t> </a:t>
            </a:r>
            <a:r>
              <a:rPr sz="1800" b="1" spc="-10" dirty="0">
                <a:latin typeface="宋体"/>
                <a:cs typeface="宋体"/>
              </a:rPr>
              <a:t>0</a:t>
            </a:r>
            <a:endParaRPr sz="1800">
              <a:latin typeface="宋体"/>
              <a:cs typeface="宋体"/>
            </a:endParaRPr>
          </a:p>
          <a:p>
            <a:pPr marL="298450" marR="5080" indent="-285750">
              <a:lnSpc>
                <a:spcPts val="3250"/>
              </a:lnSpc>
              <a:spcBef>
                <a:spcPts val="2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对角线值最大</a:t>
            </a:r>
            <a:r>
              <a:rPr sz="1800" dirty="0">
                <a:latin typeface="宋体"/>
                <a:cs typeface="宋体"/>
              </a:rPr>
              <a:t>——两个物品的共现次数一定小于等于他们的出现次数，即</a:t>
            </a:r>
            <a:r>
              <a:rPr sz="1800" spc="-180" dirty="0">
                <a:latin typeface="宋体"/>
                <a:cs typeface="宋体"/>
              </a:rPr>
              <a:t> </a:t>
            </a:r>
            <a:r>
              <a:rPr sz="1800" b="1" spc="-180" dirty="0">
                <a:latin typeface="宋体"/>
                <a:cs typeface="宋体"/>
              </a:rPr>
              <a:t>c(i,</a:t>
            </a:r>
            <a:r>
              <a:rPr sz="1800" b="1" spc="-10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j)</a:t>
            </a:r>
            <a:r>
              <a:rPr sz="1800" b="1" spc="-10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≤</a:t>
            </a:r>
            <a:r>
              <a:rPr sz="1800" b="1" spc="-10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c(i,</a:t>
            </a:r>
            <a:r>
              <a:rPr sz="1800" b="1" spc="-5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i),  </a:t>
            </a:r>
            <a:r>
              <a:rPr sz="1800" b="1" spc="-5" dirty="0">
                <a:latin typeface="宋体"/>
                <a:cs typeface="宋体"/>
              </a:rPr>
              <a:t>(</a:t>
            </a:r>
            <a:r>
              <a:rPr sz="1800" b="1" spc="-5" dirty="0">
                <a:latin typeface="MS UI Gothic"/>
                <a:cs typeface="MS UI Gothic"/>
              </a:rPr>
              <a:t>∀ </a:t>
            </a:r>
            <a:r>
              <a:rPr sz="1800" b="1" dirty="0">
                <a:latin typeface="宋体"/>
                <a:cs typeface="宋体"/>
              </a:rPr>
              <a:t>j ≠</a:t>
            </a:r>
            <a:r>
              <a:rPr sz="1800" b="1" spc="-545" dirty="0">
                <a:latin typeface="宋体"/>
                <a:cs typeface="宋体"/>
              </a:rPr>
              <a:t> </a:t>
            </a:r>
            <a:r>
              <a:rPr sz="1800" b="1" dirty="0">
                <a:latin typeface="宋体"/>
                <a:cs typeface="宋体"/>
              </a:rPr>
              <a:t>i) </a:t>
            </a:r>
            <a:r>
              <a:rPr sz="1800" dirty="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3436620" cy="370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3444875" cy="377190"/>
          </a:xfrm>
          <a:custGeom>
            <a:avLst/>
            <a:gdLst/>
            <a:ahLst/>
            <a:cxnLst/>
            <a:rect l="l" t="t" r="r" b="b"/>
            <a:pathLst>
              <a:path w="3444875" h="377189">
                <a:moveTo>
                  <a:pt x="3440963" y="376961"/>
                </a:moveTo>
                <a:lnTo>
                  <a:pt x="3809" y="376961"/>
                </a:lnTo>
                <a:lnTo>
                  <a:pt x="2349" y="376669"/>
                </a:lnTo>
                <a:lnTo>
                  <a:pt x="1117" y="375843"/>
                </a:lnTo>
                <a:lnTo>
                  <a:pt x="292" y="374599"/>
                </a:lnTo>
                <a:lnTo>
                  <a:pt x="0" y="373151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3440963" y="0"/>
                </a:lnTo>
                <a:lnTo>
                  <a:pt x="3442423" y="292"/>
                </a:lnTo>
                <a:lnTo>
                  <a:pt x="3443655" y="1117"/>
                </a:lnTo>
                <a:lnTo>
                  <a:pt x="3444481" y="2362"/>
                </a:lnTo>
                <a:lnTo>
                  <a:pt x="3444773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9341"/>
                </a:lnTo>
                <a:lnTo>
                  <a:pt x="3809" y="369341"/>
                </a:lnTo>
                <a:lnTo>
                  <a:pt x="7619" y="373151"/>
                </a:lnTo>
                <a:lnTo>
                  <a:pt x="3444773" y="373151"/>
                </a:lnTo>
                <a:lnTo>
                  <a:pt x="3444481" y="374599"/>
                </a:lnTo>
                <a:lnTo>
                  <a:pt x="3443655" y="375843"/>
                </a:lnTo>
                <a:lnTo>
                  <a:pt x="3442423" y="376669"/>
                </a:lnTo>
                <a:lnTo>
                  <a:pt x="3440963" y="376961"/>
                </a:lnTo>
                <a:close/>
              </a:path>
              <a:path w="3444875" h="37718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3444875" h="377189">
                <a:moveTo>
                  <a:pt x="3437153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3437153" y="3810"/>
                </a:lnTo>
                <a:lnTo>
                  <a:pt x="3437153" y="7620"/>
                </a:lnTo>
                <a:close/>
              </a:path>
              <a:path w="3444875" h="377189">
                <a:moveTo>
                  <a:pt x="3437153" y="373151"/>
                </a:moveTo>
                <a:lnTo>
                  <a:pt x="3437153" y="3810"/>
                </a:lnTo>
                <a:lnTo>
                  <a:pt x="3440963" y="7620"/>
                </a:lnTo>
                <a:lnTo>
                  <a:pt x="3444773" y="7620"/>
                </a:lnTo>
                <a:lnTo>
                  <a:pt x="3444773" y="369341"/>
                </a:lnTo>
                <a:lnTo>
                  <a:pt x="3440963" y="369341"/>
                </a:lnTo>
                <a:lnTo>
                  <a:pt x="3437153" y="373151"/>
                </a:lnTo>
                <a:close/>
              </a:path>
              <a:path w="3444875" h="377189">
                <a:moveTo>
                  <a:pt x="3444773" y="7620"/>
                </a:moveTo>
                <a:lnTo>
                  <a:pt x="3440963" y="7620"/>
                </a:lnTo>
                <a:lnTo>
                  <a:pt x="3437153" y="3810"/>
                </a:lnTo>
                <a:lnTo>
                  <a:pt x="3444773" y="3810"/>
                </a:lnTo>
                <a:lnTo>
                  <a:pt x="3444773" y="7620"/>
                </a:lnTo>
                <a:close/>
              </a:path>
              <a:path w="3444875" h="377189">
                <a:moveTo>
                  <a:pt x="7619" y="373151"/>
                </a:moveTo>
                <a:lnTo>
                  <a:pt x="3809" y="369341"/>
                </a:lnTo>
                <a:lnTo>
                  <a:pt x="7619" y="369341"/>
                </a:lnTo>
                <a:lnTo>
                  <a:pt x="7619" y="373151"/>
                </a:lnTo>
                <a:close/>
              </a:path>
              <a:path w="3444875" h="377189">
                <a:moveTo>
                  <a:pt x="3437153" y="373151"/>
                </a:moveTo>
                <a:lnTo>
                  <a:pt x="7619" y="373151"/>
                </a:lnTo>
                <a:lnTo>
                  <a:pt x="7619" y="369341"/>
                </a:lnTo>
                <a:lnTo>
                  <a:pt x="3437153" y="369341"/>
                </a:lnTo>
                <a:lnTo>
                  <a:pt x="3437153" y="373151"/>
                </a:lnTo>
                <a:close/>
              </a:path>
              <a:path w="3444875" h="377189">
                <a:moveTo>
                  <a:pt x="3444773" y="373151"/>
                </a:moveTo>
                <a:lnTo>
                  <a:pt x="3437153" y="373151"/>
                </a:lnTo>
                <a:lnTo>
                  <a:pt x="3440963" y="369341"/>
                </a:lnTo>
                <a:lnTo>
                  <a:pt x="3444773" y="369341"/>
                </a:lnTo>
                <a:lnTo>
                  <a:pt x="3444773" y="37315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296161"/>
            <a:ext cx="3436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计算物品共现度和物品相似</a:t>
            </a:r>
            <a:r>
              <a:rPr sz="1800" b="1" spc="-10" dirty="0">
                <a:solidFill>
                  <a:srgbClr val="FFFFFF"/>
                </a:solidFill>
                <a:latin typeface="宋体"/>
                <a:cs typeface="宋体"/>
              </a:rPr>
              <a:t>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2789" y="1947366"/>
            <a:ext cx="9855200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79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当我们获得共现矩阵后，对共现矩阵作尺度变换，即可求得相似性矩阵，尺度变换的方式包括 Jaccard、lift、或counts（不经过尺度变换，共现矩阵即作为相似度矩阵）。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98450" marR="176530" indent="-285750">
              <a:lnSpc>
                <a:spcPct val="150000"/>
              </a:lnSpc>
              <a:spcBef>
                <a:spcPts val="117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latin typeface="宋体"/>
                <a:cs typeface="宋体"/>
              </a:rPr>
              <a:t>lift，提升度：一种描述两个数据集之间关联性的度量，通常被用于评估模型。在这里被用于 描述i、j的关联性。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1170"/>
              </a:spcBef>
            </a:pPr>
            <a:r>
              <a:rPr sz="1800" dirty="0">
                <a:latin typeface="宋体"/>
                <a:cs typeface="宋体"/>
              </a:rPr>
              <a:t>推荐系统有很多评价指标，包括：精度、覆盖度、置信度、信任度、新颖度、惊喜度、多样性、健 壮性、稳定性、可扩展性等。其中，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与文中所提</a:t>
            </a:r>
            <a:r>
              <a:rPr sz="1800" spc="-3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发现性/偶然性</a:t>
            </a:r>
            <a:r>
              <a:rPr sz="1800" spc="-3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相似的概念是</a:t>
            </a:r>
            <a:r>
              <a:rPr sz="1800" spc="-3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新颖度和惊喜度。 </a:t>
            </a:r>
            <a:r>
              <a:rPr sz="1800" dirty="0">
                <a:latin typeface="宋体"/>
                <a:cs typeface="宋体"/>
              </a:rPr>
              <a:t>值得注意的是，每个指标都不是越高越好，很多指标往往是对立的，我们需要视实际需要，灵活调 整。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1808988" cy="370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1818005" cy="377190"/>
          </a:xfrm>
          <a:custGeom>
            <a:avLst/>
            <a:gdLst/>
            <a:ahLst/>
            <a:cxnLst/>
            <a:rect l="l" t="t" r="r" b="b"/>
            <a:pathLst>
              <a:path w="1818005" h="377189">
                <a:moveTo>
                  <a:pt x="1813915" y="376961"/>
                </a:moveTo>
                <a:lnTo>
                  <a:pt x="3809" y="376961"/>
                </a:lnTo>
                <a:lnTo>
                  <a:pt x="2349" y="376669"/>
                </a:lnTo>
                <a:lnTo>
                  <a:pt x="1117" y="375843"/>
                </a:lnTo>
                <a:lnTo>
                  <a:pt x="292" y="374599"/>
                </a:lnTo>
                <a:lnTo>
                  <a:pt x="0" y="373151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813915" y="0"/>
                </a:lnTo>
                <a:lnTo>
                  <a:pt x="1815376" y="292"/>
                </a:lnTo>
                <a:lnTo>
                  <a:pt x="1816608" y="1117"/>
                </a:lnTo>
                <a:lnTo>
                  <a:pt x="1817433" y="2362"/>
                </a:lnTo>
                <a:lnTo>
                  <a:pt x="18177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9341"/>
                </a:lnTo>
                <a:lnTo>
                  <a:pt x="3809" y="369341"/>
                </a:lnTo>
                <a:lnTo>
                  <a:pt x="7619" y="373151"/>
                </a:lnTo>
                <a:lnTo>
                  <a:pt x="1817725" y="373151"/>
                </a:lnTo>
                <a:lnTo>
                  <a:pt x="1817433" y="374599"/>
                </a:lnTo>
                <a:lnTo>
                  <a:pt x="1816608" y="375843"/>
                </a:lnTo>
                <a:lnTo>
                  <a:pt x="1815376" y="376669"/>
                </a:lnTo>
                <a:lnTo>
                  <a:pt x="1813915" y="376961"/>
                </a:lnTo>
                <a:close/>
              </a:path>
              <a:path w="1818005" h="37718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818005" h="377189">
                <a:moveTo>
                  <a:pt x="18101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810105" y="3810"/>
                </a:lnTo>
                <a:lnTo>
                  <a:pt x="1810105" y="7620"/>
                </a:lnTo>
                <a:close/>
              </a:path>
              <a:path w="1818005" h="377189">
                <a:moveTo>
                  <a:pt x="1810105" y="373151"/>
                </a:moveTo>
                <a:lnTo>
                  <a:pt x="1810105" y="3810"/>
                </a:lnTo>
                <a:lnTo>
                  <a:pt x="1813915" y="7620"/>
                </a:lnTo>
                <a:lnTo>
                  <a:pt x="1817725" y="7620"/>
                </a:lnTo>
                <a:lnTo>
                  <a:pt x="1817725" y="369341"/>
                </a:lnTo>
                <a:lnTo>
                  <a:pt x="1813915" y="369341"/>
                </a:lnTo>
                <a:lnTo>
                  <a:pt x="1810105" y="373151"/>
                </a:lnTo>
                <a:close/>
              </a:path>
              <a:path w="1818005" h="377189">
                <a:moveTo>
                  <a:pt x="1817725" y="7620"/>
                </a:moveTo>
                <a:lnTo>
                  <a:pt x="1813915" y="7620"/>
                </a:lnTo>
                <a:lnTo>
                  <a:pt x="1810105" y="3810"/>
                </a:lnTo>
                <a:lnTo>
                  <a:pt x="1817725" y="3810"/>
                </a:lnTo>
                <a:lnTo>
                  <a:pt x="1817725" y="7620"/>
                </a:lnTo>
                <a:close/>
              </a:path>
              <a:path w="1818005" h="377189">
                <a:moveTo>
                  <a:pt x="7619" y="373151"/>
                </a:moveTo>
                <a:lnTo>
                  <a:pt x="3809" y="369341"/>
                </a:lnTo>
                <a:lnTo>
                  <a:pt x="7619" y="369341"/>
                </a:lnTo>
                <a:lnTo>
                  <a:pt x="7619" y="373151"/>
                </a:lnTo>
                <a:close/>
              </a:path>
              <a:path w="1818005" h="377189">
                <a:moveTo>
                  <a:pt x="1810105" y="373151"/>
                </a:moveTo>
                <a:lnTo>
                  <a:pt x="7619" y="373151"/>
                </a:lnTo>
                <a:lnTo>
                  <a:pt x="7619" y="369341"/>
                </a:lnTo>
                <a:lnTo>
                  <a:pt x="1810105" y="369341"/>
                </a:lnTo>
                <a:lnTo>
                  <a:pt x="1810105" y="373151"/>
                </a:lnTo>
                <a:close/>
              </a:path>
              <a:path w="1818005" h="377189">
                <a:moveTo>
                  <a:pt x="1817725" y="373151"/>
                </a:moveTo>
                <a:lnTo>
                  <a:pt x="1810105" y="373151"/>
                </a:lnTo>
                <a:lnTo>
                  <a:pt x="1813915" y="369341"/>
                </a:lnTo>
                <a:lnTo>
                  <a:pt x="1817725" y="369341"/>
                </a:lnTo>
                <a:lnTo>
                  <a:pt x="1817725" y="373151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296161"/>
            <a:ext cx="10048240" cy="297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计算用户喜</a:t>
            </a:r>
            <a:r>
              <a:rPr sz="1800" b="1" spc="-10" dirty="0">
                <a:solidFill>
                  <a:srgbClr val="FFFFFF"/>
                </a:solidFill>
                <a:latin typeface="宋体"/>
                <a:cs typeface="宋体"/>
              </a:rPr>
              <a:t>好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latin typeface="宋体"/>
                <a:cs typeface="宋体"/>
              </a:rPr>
              <a:t>在SAR中，喜好矩阵存储每个用户与其操作过的物品之前的关联性。用户喜好受如下两个因素影响：</a:t>
            </a:r>
            <a:endParaRPr sz="1800">
              <a:latin typeface="宋体"/>
              <a:cs typeface="宋体"/>
            </a:endParaRPr>
          </a:p>
          <a:p>
            <a:pPr marL="433705" marR="233679" indent="-342900">
              <a:lnSpc>
                <a:spcPct val="150000"/>
              </a:lnSpc>
              <a:buAutoNum type="arabicPeriod"/>
              <a:tabLst>
                <a:tab pos="434340" algn="l"/>
              </a:tabLst>
            </a:pPr>
            <a:r>
              <a:rPr sz="1800" dirty="0">
                <a:latin typeface="宋体"/>
                <a:cs typeface="宋体"/>
              </a:rPr>
              <a:t>不同事件流具有不同的权重——比如，用户对某个物品的评价行为比用户浏览该物品具有更高 的权重。</a:t>
            </a:r>
            <a:endParaRPr sz="1800">
              <a:latin typeface="宋体"/>
              <a:cs typeface="宋体"/>
            </a:endParaRPr>
          </a:p>
          <a:p>
            <a:pPr marL="433705" marR="233679" indent="-342900">
              <a:lnSpc>
                <a:spcPct val="150000"/>
              </a:lnSpc>
              <a:buAutoNum type="arabicPeriod"/>
              <a:tabLst>
                <a:tab pos="434340" algn="l"/>
              </a:tabLst>
            </a:pPr>
            <a:r>
              <a:rPr sz="1800" dirty="0">
                <a:latin typeface="宋体"/>
                <a:cs typeface="宋体"/>
              </a:rPr>
              <a:t>用户关于某个物品的操作发生时间——比如，该操作记录发生时间较久远，则此时该记录对用 户喜好的影响较少。</a:t>
            </a:r>
            <a:endParaRPr sz="1800">
              <a:latin typeface="宋体"/>
              <a:cs typeface="宋体"/>
            </a:endParaRPr>
          </a:p>
          <a:p>
            <a:pPr marL="90805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/>
                <a:cs typeface="宋体"/>
              </a:rPr>
              <a:t>考虑这两个因素后，可以得到关于用户-物品喜好的计算表达式：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08303" y="4427220"/>
            <a:ext cx="2104644" cy="571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789" y="5128818"/>
            <a:ext cx="1008380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用户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i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关于物品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j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的喜好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a(i,</a:t>
            </a:r>
            <a:r>
              <a:rPr sz="1800" spc="-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j)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是用户i关于物品j的所有事件的加权和，并使用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2</a:t>
            </a:r>
            <a:r>
              <a:rPr sz="1800" spc="-10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的幂运算 来控制时效性（每个事件对结果的影响程度随时间衰减）。假定参数</a:t>
            </a:r>
            <a:r>
              <a:rPr sz="1800" spc="-2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T</a:t>
            </a:r>
            <a:r>
              <a:rPr sz="1800" spc="-2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具有半衰期，则用</a:t>
            </a:r>
            <a:r>
              <a:rPr sz="1800" spc="-2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(1/2)^n  作为计算模型：则在事件流T中，t_0</a:t>
            </a:r>
            <a:r>
              <a:rPr sz="1800" spc="-1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之前的一个事件对运算结果的影响只有</a:t>
            </a:r>
            <a:r>
              <a:rPr sz="1800" spc="-1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t_0</a:t>
            </a:r>
            <a:r>
              <a:rPr sz="1800" spc="-15" dirty="0">
                <a:solidFill>
                  <a:srgbClr val="1A1A1A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1A1A1A"/>
                </a:solidFill>
                <a:latin typeface="宋体"/>
                <a:cs typeface="宋体"/>
              </a:rPr>
              <a:t>事件的一般。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H&amp;M</a:t>
            </a:r>
            <a:r>
              <a:rPr sz="1800" spc="-5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高分模型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SAR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8303" y="1330452"/>
            <a:ext cx="1810512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4405" y="1326197"/>
            <a:ext cx="1818005" cy="377190"/>
          </a:xfrm>
          <a:custGeom>
            <a:avLst/>
            <a:gdLst/>
            <a:ahLst/>
            <a:cxnLst/>
            <a:rect l="l" t="t" r="r" b="b"/>
            <a:pathLst>
              <a:path w="1818005" h="377189">
                <a:moveTo>
                  <a:pt x="1813928" y="376948"/>
                </a:moveTo>
                <a:lnTo>
                  <a:pt x="3810" y="376948"/>
                </a:lnTo>
                <a:lnTo>
                  <a:pt x="2349" y="376656"/>
                </a:lnTo>
                <a:lnTo>
                  <a:pt x="1117" y="375831"/>
                </a:lnTo>
                <a:lnTo>
                  <a:pt x="292" y="374599"/>
                </a:lnTo>
                <a:lnTo>
                  <a:pt x="0" y="373138"/>
                </a:lnTo>
                <a:lnTo>
                  <a:pt x="0" y="3809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10" y="0"/>
                </a:lnTo>
                <a:lnTo>
                  <a:pt x="1813928" y="0"/>
                </a:lnTo>
                <a:lnTo>
                  <a:pt x="1815376" y="292"/>
                </a:lnTo>
                <a:lnTo>
                  <a:pt x="1816620" y="1117"/>
                </a:lnTo>
                <a:lnTo>
                  <a:pt x="1817446" y="2349"/>
                </a:lnTo>
                <a:lnTo>
                  <a:pt x="1817738" y="3809"/>
                </a:lnTo>
                <a:lnTo>
                  <a:pt x="7620" y="3809"/>
                </a:lnTo>
                <a:lnTo>
                  <a:pt x="3810" y="7619"/>
                </a:lnTo>
                <a:lnTo>
                  <a:pt x="7620" y="7619"/>
                </a:lnTo>
                <a:lnTo>
                  <a:pt x="7620" y="369328"/>
                </a:lnTo>
                <a:lnTo>
                  <a:pt x="3810" y="369328"/>
                </a:lnTo>
                <a:lnTo>
                  <a:pt x="7620" y="373138"/>
                </a:lnTo>
                <a:lnTo>
                  <a:pt x="1817738" y="373138"/>
                </a:lnTo>
                <a:lnTo>
                  <a:pt x="1817446" y="374599"/>
                </a:lnTo>
                <a:lnTo>
                  <a:pt x="1816620" y="375831"/>
                </a:lnTo>
                <a:lnTo>
                  <a:pt x="1815376" y="376656"/>
                </a:lnTo>
                <a:lnTo>
                  <a:pt x="1813928" y="376948"/>
                </a:lnTo>
                <a:close/>
              </a:path>
              <a:path w="1818005" h="377189">
                <a:moveTo>
                  <a:pt x="7620" y="7619"/>
                </a:moveTo>
                <a:lnTo>
                  <a:pt x="3810" y="7619"/>
                </a:lnTo>
                <a:lnTo>
                  <a:pt x="7620" y="3809"/>
                </a:lnTo>
                <a:lnTo>
                  <a:pt x="7620" y="7619"/>
                </a:lnTo>
                <a:close/>
              </a:path>
              <a:path w="1818005" h="377189">
                <a:moveTo>
                  <a:pt x="1810118" y="7619"/>
                </a:moveTo>
                <a:lnTo>
                  <a:pt x="7620" y="7619"/>
                </a:lnTo>
                <a:lnTo>
                  <a:pt x="7620" y="3809"/>
                </a:lnTo>
                <a:lnTo>
                  <a:pt x="1810118" y="3809"/>
                </a:lnTo>
                <a:lnTo>
                  <a:pt x="1810118" y="7619"/>
                </a:lnTo>
                <a:close/>
              </a:path>
              <a:path w="1818005" h="377189">
                <a:moveTo>
                  <a:pt x="1810118" y="373138"/>
                </a:moveTo>
                <a:lnTo>
                  <a:pt x="1810118" y="3809"/>
                </a:lnTo>
                <a:lnTo>
                  <a:pt x="1813928" y="7619"/>
                </a:lnTo>
                <a:lnTo>
                  <a:pt x="1817738" y="7619"/>
                </a:lnTo>
                <a:lnTo>
                  <a:pt x="1817738" y="369328"/>
                </a:lnTo>
                <a:lnTo>
                  <a:pt x="1813928" y="369328"/>
                </a:lnTo>
                <a:lnTo>
                  <a:pt x="1810118" y="373138"/>
                </a:lnTo>
                <a:close/>
              </a:path>
              <a:path w="1818005" h="377189">
                <a:moveTo>
                  <a:pt x="1817738" y="7619"/>
                </a:moveTo>
                <a:lnTo>
                  <a:pt x="1813928" y="7619"/>
                </a:lnTo>
                <a:lnTo>
                  <a:pt x="1810118" y="3809"/>
                </a:lnTo>
                <a:lnTo>
                  <a:pt x="1817738" y="3809"/>
                </a:lnTo>
                <a:lnTo>
                  <a:pt x="1817738" y="7619"/>
                </a:lnTo>
                <a:close/>
              </a:path>
              <a:path w="1818005" h="377189">
                <a:moveTo>
                  <a:pt x="7620" y="373138"/>
                </a:moveTo>
                <a:lnTo>
                  <a:pt x="3810" y="369328"/>
                </a:lnTo>
                <a:lnTo>
                  <a:pt x="7620" y="369328"/>
                </a:lnTo>
                <a:lnTo>
                  <a:pt x="7620" y="373138"/>
                </a:lnTo>
                <a:close/>
              </a:path>
              <a:path w="1818005" h="377189">
                <a:moveTo>
                  <a:pt x="1810118" y="373138"/>
                </a:moveTo>
                <a:lnTo>
                  <a:pt x="7620" y="373138"/>
                </a:lnTo>
                <a:lnTo>
                  <a:pt x="7620" y="369328"/>
                </a:lnTo>
                <a:lnTo>
                  <a:pt x="1810118" y="369328"/>
                </a:lnTo>
                <a:lnTo>
                  <a:pt x="1810118" y="373138"/>
                </a:lnTo>
                <a:close/>
              </a:path>
              <a:path w="1818005" h="377189">
                <a:moveTo>
                  <a:pt x="1817738" y="373138"/>
                </a:moveTo>
                <a:lnTo>
                  <a:pt x="1810118" y="373138"/>
                </a:lnTo>
                <a:lnTo>
                  <a:pt x="1813928" y="369328"/>
                </a:lnTo>
                <a:lnTo>
                  <a:pt x="1817738" y="369328"/>
                </a:lnTo>
                <a:lnTo>
                  <a:pt x="1817738" y="37313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5497" y="1350327"/>
            <a:ext cx="7340600" cy="137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3.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移除已知物</a:t>
            </a:r>
            <a:r>
              <a:rPr sz="1800" b="1" spc="-10" dirty="0">
                <a:solidFill>
                  <a:srgbClr val="FFFFFF"/>
                </a:solidFill>
                <a:latin typeface="宋体"/>
                <a:cs typeface="宋体"/>
              </a:rPr>
              <a:t>品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800" dirty="0">
                <a:latin typeface="宋体"/>
                <a:cs typeface="宋体"/>
              </a:rPr>
              <a:t>我们可以选择删除已经存在于训练集中的物品，比如说：我们不可能向用 户推荐他们已经买过的商品。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3252" y="3459479"/>
            <a:ext cx="2796540" cy="3703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9124" y="3456013"/>
            <a:ext cx="2805430" cy="377190"/>
          </a:xfrm>
          <a:custGeom>
            <a:avLst/>
            <a:gdLst/>
            <a:ahLst/>
            <a:cxnLst/>
            <a:rect l="l" t="t" r="r" b="b"/>
            <a:pathLst>
              <a:path w="2805429" h="377189">
                <a:moveTo>
                  <a:pt x="2801378" y="376948"/>
                </a:moveTo>
                <a:lnTo>
                  <a:pt x="3809" y="376948"/>
                </a:lnTo>
                <a:lnTo>
                  <a:pt x="2349" y="376669"/>
                </a:lnTo>
                <a:lnTo>
                  <a:pt x="1117" y="375843"/>
                </a:lnTo>
                <a:lnTo>
                  <a:pt x="292" y="374599"/>
                </a:lnTo>
                <a:lnTo>
                  <a:pt x="0" y="373138"/>
                </a:lnTo>
                <a:lnTo>
                  <a:pt x="0" y="3810"/>
                </a:lnTo>
                <a:lnTo>
                  <a:pt x="292" y="2349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801378" y="0"/>
                </a:lnTo>
                <a:lnTo>
                  <a:pt x="2802826" y="292"/>
                </a:lnTo>
                <a:lnTo>
                  <a:pt x="2804071" y="1117"/>
                </a:lnTo>
                <a:lnTo>
                  <a:pt x="2804896" y="2349"/>
                </a:lnTo>
                <a:lnTo>
                  <a:pt x="2805188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369328"/>
                </a:lnTo>
                <a:lnTo>
                  <a:pt x="3809" y="369328"/>
                </a:lnTo>
                <a:lnTo>
                  <a:pt x="7619" y="373138"/>
                </a:lnTo>
                <a:lnTo>
                  <a:pt x="2805188" y="373138"/>
                </a:lnTo>
                <a:lnTo>
                  <a:pt x="2804896" y="374599"/>
                </a:lnTo>
                <a:lnTo>
                  <a:pt x="2804071" y="375843"/>
                </a:lnTo>
                <a:lnTo>
                  <a:pt x="2802826" y="376669"/>
                </a:lnTo>
                <a:lnTo>
                  <a:pt x="2801378" y="376948"/>
                </a:lnTo>
                <a:close/>
              </a:path>
              <a:path w="2805429" h="377189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2805429" h="377189">
                <a:moveTo>
                  <a:pt x="2797568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2797568" y="3810"/>
                </a:lnTo>
                <a:lnTo>
                  <a:pt x="2797568" y="7619"/>
                </a:lnTo>
                <a:close/>
              </a:path>
              <a:path w="2805429" h="377189">
                <a:moveTo>
                  <a:pt x="2797568" y="373138"/>
                </a:moveTo>
                <a:lnTo>
                  <a:pt x="2797568" y="3810"/>
                </a:lnTo>
                <a:lnTo>
                  <a:pt x="2801378" y="7619"/>
                </a:lnTo>
                <a:lnTo>
                  <a:pt x="2805188" y="7619"/>
                </a:lnTo>
                <a:lnTo>
                  <a:pt x="2805188" y="369328"/>
                </a:lnTo>
                <a:lnTo>
                  <a:pt x="2801378" y="369328"/>
                </a:lnTo>
                <a:lnTo>
                  <a:pt x="2797568" y="373138"/>
                </a:lnTo>
                <a:close/>
              </a:path>
              <a:path w="2805429" h="377189">
                <a:moveTo>
                  <a:pt x="2805188" y="7619"/>
                </a:moveTo>
                <a:lnTo>
                  <a:pt x="2801378" y="7619"/>
                </a:lnTo>
                <a:lnTo>
                  <a:pt x="2797568" y="3810"/>
                </a:lnTo>
                <a:lnTo>
                  <a:pt x="2805188" y="3810"/>
                </a:lnTo>
                <a:lnTo>
                  <a:pt x="2805188" y="7619"/>
                </a:lnTo>
                <a:close/>
              </a:path>
              <a:path w="2805429" h="377189">
                <a:moveTo>
                  <a:pt x="7619" y="373138"/>
                </a:moveTo>
                <a:lnTo>
                  <a:pt x="3809" y="369328"/>
                </a:lnTo>
                <a:lnTo>
                  <a:pt x="7619" y="369328"/>
                </a:lnTo>
                <a:lnTo>
                  <a:pt x="7619" y="373138"/>
                </a:lnTo>
                <a:close/>
              </a:path>
              <a:path w="2805429" h="377189">
                <a:moveTo>
                  <a:pt x="2797568" y="373138"/>
                </a:moveTo>
                <a:lnTo>
                  <a:pt x="7619" y="373138"/>
                </a:lnTo>
                <a:lnTo>
                  <a:pt x="7619" y="369328"/>
                </a:lnTo>
                <a:lnTo>
                  <a:pt x="2797568" y="369328"/>
                </a:lnTo>
                <a:lnTo>
                  <a:pt x="2797568" y="373138"/>
                </a:lnTo>
                <a:close/>
              </a:path>
              <a:path w="2805429" h="377189">
                <a:moveTo>
                  <a:pt x="2805188" y="373138"/>
                </a:moveTo>
                <a:lnTo>
                  <a:pt x="2797568" y="373138"/>
                </a:lnTo>
                <a:lnTo>
                  <a:pt x="2801378" y="369328"/>
                </a:lnTo>
                <a:lnTo>
                  <a:pt x="2805188" y="369328"/>
                </a:lnTo>
                <a:lnTo>
                  <a:pt x="2805188" y="373138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3252" y="3480142"/>
            <a:ext cx="9887585" cy="272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4.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计算评分最高的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k</a:t>
            </a:r>
            <a:r>
              <a:rPr sz="1800" b="1" dirty="0">
                <a:solidFill>
                  <a:srgbClr val="FFFFFF"/>
                </a:solidFill>
                <a:latin typeface="宋体"/>
                <a:cs typeface="宋体"/>
              </a:rPr>
              <a:t>个物</a:t>
            </a:r>
            <a:r>
              <a:rPr sz="1800" b="1" spc="-10" dirty="0">
                <a:solidFill>
                  <a:srgbClr val="FFFFFF"/>
                </a:solidFill>
                <a:latin typeface="宋体"/>
                <a:cs typeface="宋体"/>
              </a:rPr>
              <a:t>品</a:t>
            </a:r>
            <a:endParaRPr sz="1800">
              <a:latin typeface="宋体"/>
              <a:cs typeface="宋体"/>
            </a:endParaRPr>
          </a:p>
          <a:p>
            <a:pPr marL="44450" marR="5080">
              <a:lnSpc>
                <a:spcPct val="150000"/>
              </a:lnSpc>
              <a:spcBef>
                <a:spcPts val="1660"/>
              </a:spcBef>
            </a:pPr>
            <a:r>
              <a:rPr sz="1800" dirty="0">
                <a:latin typeface="宋体"/>
                <a:cs typeface="宋体"/>
              </a:rPr>
              <a:t>如前文所述，一组用户的个性化推荐是通过将用户喜好矩阵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宋体"/>
                <a:cs typeface="宋体"/>
              </a:rPr>
              <a:t>与</a:t>
            </a:r>
            <a:r>
              <a:rPr sz="1800" spc="-520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物品相似度矩阵</a:t>
            </a:r>
            <a:r>
              <a:rPr sz="1800" spc="-515" dirty="0">
                <a:latin typeface="宋体"/>
                <a:cs typeface="宋体"/>
              </a:rPr>
              <a:t> 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宋体"/>
                <a:cs typeface="宋体"/>
              </a:rPr>
              <a:t>相乘得到的。输 出结果是一个评分矩阵，行表示用户，列表示物品，每个元素表示了一个用户关于一个物品的评分</a:t>
            </a:r>
            <a:endParaRPr sz="1800">
              <a:latin typeface="宋体"/>
              <a:cs typeface="宋体"/>
            </a:endParaRPr>
          </a:p>
          <a:p>
            <a:pPr marL="4445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宋体"/>
                <a:cs typeface="宋体"/>
              </a:rPr>
              <a:t>（预测值</a:t>
            </a:r>
            <a:r>
              <a:rPr sz="1800" spc="-5" dirty="0">
                <a:latin typeface="Calibri"/>
                <a:cs typeface="Calibri"/>
              </a:rPr>
              <a:t>/</a:t>
            </a:r>
            <a:r>
              <a:rPr sz="1800" dirty="0">
                <a:latin typeface="宋体"/>
                <a:cs typeface="宋体"/>
              </a:rPr>
              <a:t>已知值），此时，分数越高，表明其越可能符合用户需求，则越优先向用户推荐。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Times New Roman"/>
              <a:cs typeface="Times New Roman"/>
            </a:endParaRPr>
          </a:p>
          <a:p>
            <a:pPr marL="44450" marR="118110">
              <a:lnSpc>
                <a:spcPct val="100000"/>
              </a:lnSpc>
              <a:spcBef>
                <a:spcPts val="5"/>
              </a:spcBef>
            </a:pP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Top-k</a:t>
            </a: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问题</a:t>
            </a:r>
            <a:r>
              <a:rPr sz="1800" b="1" spc="-10" dirty="0">
                <a:solidFill>
                  <a:srgbClr val="FF0000"/>
                </a:solidFill>
                <a:latin typeface="宋体"/>
                <a:cs typeface="宋体"/>
              </a:rPr>
              <a:t>：</a:t>
            </a:r>
            <a:r>
              <a:rPr sz="1800" b="1" spc="-58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是推荐系统中的常见问题，该问题提示我们，通常我们可以将更多的计算成本花费在 更有价值的</a:t>
            </a:r>
            <a:r>
              <a:rPr sz="1800" spc="-500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用户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物品</a:t>
            </a:r>
            <a:r>
              <a:rPr sz="1800" spc="-49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上。与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top-k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问题常放在一起思考的还有</a:t>
            </a:r>
            <a:r>
              <a:rPr sz="1800" spc="-49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长尾效应。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9544" y="1158887"/>
            <a:ext cx="3390265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Coo_matrix and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csr</a:t>
            </a:r>
            <a:r>
              <a:rPr sz="1800" b="1" spc="-2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matrix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 function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3047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FC0"/>
                </a:solidFill>
                <a:latin typeface="微软雅黑"/>
                <a:cs typeface="微软雅黑"/>
              </a:rPr>
              <a:t>Coo_matrix and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csr</a:t>
            </a:r>
            <a:r>
              <a:rPr sz="1800" spc="-2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微软雅黑"/>
                <a:cs typeface="微软雅黑"/>
              </a:rPr>
              <a:t>matrix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4672" y="1275588"/>
            <a:ext cx="1717548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0239" y="1272032"/>
            <a:ext cx="1725930" cy="375920"/>
          </a:xfrm>
          <a:custGeom>
            <a:avLst/>
            <a:gdLst/>
            <a:ahLst/>
            <a:cxnLst/>
            <a:rect l="l" t="t" r="r" b="b"/>
            <a:pathLst>
              <a:path w="1725930" h="375919">
                <a:moveTo>
                  <a:pt x="172212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722120" y="0"/>
                </a:lnTo>
                <a:lnTo>
                  <a:pt x="1723580" y="292"/>
                </a:lnTo>
                <a:lnTo>
                  <a:pt x="1724812" y="1117"/>
                </a:lnTo>
                <a:lnTo>
                  <a:pt x="1725637" y="2362"/>
                </a:lnTo>
                <a:lnTo>
                  <a:pt x="172593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1725930" y="372110"/>
                </a:lnTo>
                <a:lnTo>
                  <a:pt x="1725637" y="373570"/>
                </a:lnTo>
                <a:lnTo>
                  <a:pt x="1724812" y="374802"/>
                </a:lnTo>
                <a:lnTo>
                  <a:pt x="1723580" y="375627"/>
                </a:lnTo>
                <a:lnTo>
                  <a:pt x="1722120" y="375920"/>
                </a:lnTo>
                <a:close/>
              </a:path>
              <a:path w="172593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725930" h="375919">
                <a:moveTo>
                  <a:pt x="171831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718310" y="3810"/>
                </a:lnTo>
                <a:lnTo>
                  <a:pt x="1718310" y="7620"/>
                </a:lnTo>
                <a:close/>
              </a:path>
              <a:path w="1725930" h="375919">
                <a:moveTo>
                  <a:pt x="1718310" y="372110"/>
                </a:moveTo>
                <a:lnTo>
                  <a:pt x="1718310" y="3810"/>
                </a:lnTo>
                <a:lnTo>
                  <a:pt x="1722120" y="7620"/>
                </a:lnTo>
                <a:lnTo>
                  <a:pt x="1725930" y="7620"/>
                </a:lnTo>
                <a:lnTo>
                  <a:pt x="1725930" y="368300"/>
                </a:lnTo>
                <a:lnTo>
                  <a:pt x="1722120" y="368300"/>
                </a:lnTo>
                <a:lnTo>
                  <a:pt x="1718310" y="372110"/>
                </a:lnTo>
                <a:close/>
              </a:path>
              <a:path w="1725930" h="375919">
                <a:moveTo>
                  <a:pt x="1725930" y="7620"/>
                </a:moveTo>
                <a:lnTo>
                  <a:pt x="1722120" y="7620"/>
                </a:lnTo>
                <a:lnTo>
                  <a:pt x="1718310" y="3810"/>
                </a:lnTo>
                <a:lnTo>
                  <a:pt x="1725930" y="3810"/>
                </a:lnTo>
                <a:lnTo>
                  <a:pt x="1725930" y="7620"/>
                </a:lnTo>
                <a:close/>
              </a:path>
              <a:path w="172593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1725930" h="375919">
                <a:moveTo>
                  <a:pt x="171831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1718310" y="368300"/>
                </a:lnTo>
                <a:lnTo>
                  <a:pt x="1718310" y="372110"/>
                </a:lnTo>
                <a:close/>
              </a:path>
              <a:path w="1725930" h="375919">
                <a:moveTo>
                  <a:pt x="1725930" y="372110"/>
                </a:moveTo>
                <a:lnTo>
                  <a:pt x="1718310" y="372110"/>
                </a:lnTo>
                <a:lnTo>
                  <a:pt x="1722120" y="368300"/>
                </a:lnTo>
                <a:lnTo>
                  <a:pt x="1725930" y="368300"/>
                </a:lnTo>
                <a:lnTo>
                  <a:pt x="172593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4672" y="1303782"/>
            <a:ext cx="1717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10322" y="1347177"/>
            <a:ext cx="187794" cy="231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63992" y="1340192"/>
            <a:ext cx="1197444" cy="2957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2650" y="1951228"/>
            <a:ext cx="6120765" cy="404876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spc="-5" dirty="0">
                <a:latin typeface="宋体"/>
                <a:cs typeface="宋体"/>
              </a:rPr>
              <a:t>SAR</a:t>
            </a:r>
            <a:r>
              <a:rPr sz="1600" dirty="0">
                <a:latin typeface="宋体"/>
                <a:cs typeface="宋体"/>
              </a:rPr>
              <a:t>通过物品共现度确定物品间相似性，计算相似性之前需要构</a:t>
            </a:r>
            <a:r>
              <a:rPr sz="1600" spc="-5" dirty="0">
                <a:latin typeface="宋体"/>
                <a:cs typeface="宋体"/>
              </a:rPr>
              <a:t>建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宋体"/>
                <a:cs typeface="宋体"/>
              </a:rPr>
              <a:t>user*item</a:t>
            </a:r>
            <a:r>
              <a:rPr sz="1600" dirty="0">
                <a:latin typeface="宋体"/>
                <a:cs typeface="宋体"/>
              </a:rPr>
              <a:t>矩阵，这里主要介绍两种构建稀疏矩阵的方法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  <a:spcBef>
                <a:spcPts val="10"/>
              </a:spcBef>
            </a:pPr>
            <a:r>
              <a:rPr sz="1600" dirty="0">
                <a:latin typeface="宋体"/>
                <a:cs typeface="宋体"/>
              </a:rPr>
              <a:t>在推荐系统中通常使</a:t>
            </a:r>
            <a:r>
              <a:rPr sz="1600" spc="-5" dirty="0">
                <a:latin typeface="宋体"/>
                <a:cs typeface="宋体"/>
              </a:rPr>
              <a:t>用</a:t>
            </a:r>
            <a:r>
              <a:rPr sz="1600" spc="-365" dirty="0">
                <a:latin typeface="宋体"/>
                <a:cs typeface="宋体"/>
              </a:rPr>
              <a:t> </a:t>
            </a:r>
            <a:r>
              <a:rPr sz="1600" spc="-5" dirty="0">
                <a:latin typeface="Arial"/>
                <a:cs typeface="Arial"/>
              </a:rPr>
              <a:t>scipy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宋体"/>
                <a:cs typeface="宋体"/>
              </a:rPr>
              <a:t>稀疏矩阵，因为问题的主要核心通</a:t>
            </a:r>
            <a:r>
              <a:rPr sz="1600" spc="-5" dirty="0">
                <a:latin typeface="宋体"/>
                <a:cs typeface="宋体"/>
              </a:rPr>
              <a:t>常 </a:t>
            </a:r>
            <a:r>
              <a:rPr sz="1600" dirty="0">
                <a:latin typeface="宋体"/>
                <a:cs typeface="宋体"/>
              </a:rPr>
              <a:t>被建模为包含用户和项目的矩阵，其值表示用户是否购买（或喜欢</a:t>
            </a:r>
            <a:r>
              <a:rPr sz="1600" spc="-5" dirty="0">
                <a:latin typeface="宋体"/>
                <a:cs typeface="宋体"/>
              </a:rPr>
              <a:t>） </a:t>
            </a:r>
            <a:r>
              <a:rPr sz="1600" dirty="0">
                <a:latin typeface="宋体"/>
                <a:cs typeface="宋体"/>
              </a:rPr>
              <a:t>项目</a:t>
            </a:r>
            <a:r>
              <a:rPr sz="1600" spc="-5" dirty="0">
                <a:latin typeface="宋体"/>
                <a:cs typeface="宋体"/>
              </a:rPr>
              <a:t>。</a:t>
            </a:r>
            <a:r>
              <a:rPr sz="1600" spc="-380" dirty="0">
                <a:latin typeface="宋体"/>
                <a:cs typeface="宋体"/>
              </a:rPr>
              <a:t> </a:t>
            </a:r>
            <a:r>
              <a:rPr sz="1600" dirty="0">
                <a:latin typeface="宋体"/>
                <a:cs typeface="宋体"/>
              </a:rPr>
              <a:t>由于每个用户只购买产品目录的一小部分，这个矩阵全为</a:t>
            </a:r>
            <a:r>
              <a:rPr sz="1600" spc="-5" dirty="0">
                <a:latin typeface="宋体"/>
                <a:cs typeface="宋体"/>
              </a:rPr>
              <a:t>零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宋体"/>
                <a:cs typeface="宋体"/>
              </a:rPr>
              <a:t>（又名</a:t>
            </a:r>
            <a:r>
              <a:rPr sz="1600" spc="-5" dirty="0">
                <a:latin typeface="宋体"/>
                <a:cs typeface="宋体"/>
              </a:rPr>
              <a:t>：</a:t>
            </a:r>
            <a:r>
              <a:rPr sz="1600" spc="-5" dirty="0">
                <a:latin typeface="Arial"/>
                <a:cs typeface="Arial"/>
              </a:rPr>
              <a:t>it's sparse</a:t>
            </a:r>
            <a:r>
              <a:rPr sz="1600" spc="-5" dirty="0">
                <a:latin typeface="宋体"/>
                <a:cs typeface="宋体"/>
              </a:rPr>
              <a:t>）</a:t>
            </a:r>
            <a:endParaRPr sz="1600">
              <a:latin typeface="宋体"/>
              <a:cs typeface="宋体"/>
            </a:endParaRPr>
          </a:p>
          <a:p>
            <a:pPr marL="12700" marR="557530">
              <a:lnSpc>
                <a:spcPct val="149500"/>
              </a:lnSpc>
              <a:spcBef>
                <a:spcPts val="10"/>
              </a:spcBef>
            </a:pPr>
            <a:r>
              <a:rPr sz="1600" spc="-5" dirty="0">
                <a:latin typeface="Arial"/>
                <a:cs typeface="Arial"/>
              </a:rPr>
              <a:t>COO</a:t>
            </a:r>
            <a:r>
              <a:rPr sz="1600" dirty="0">
                <a:latin typeface="宋体"/>
                <a:cs typeface="宋体"/>
              </a:rPr>
              <a:t>矩阵是一种稀疏矩阵，它的存储格式为</a:t>
            </a:r>
            <a:r>
              <a:rPr sz="1600" spc="-5" dirty="0">
                <a:latin typeface="宋体"/>
                <a:cs typeface="宋体"/>
              </a:rPr>
              <a:t>：(row,</a:t>
            </a:r>
            <a:r>
              <a:rPr sz="1600" spc="-35" dirty="0">
                <a:latin typeface="宋体"/>
                <a:cs typeface="宋体"/>
              </a:rPr>
              <a:t> </a:t>
            </a:r>
            <a:r>
              <a:rPr sz="1600" spc="-5" dirty="0">
                <a:latin typeface="宋体"/>
                <a:cs typeface="宋体"/>
              </a:rPr>
              <a:t>column,  value) 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宋体"/>
                <a:cs typeface="宋体"/>
              </a:rPr>
              <a:t>左图是一个</a:t>
            </a:r>
            <a:r>
              <a:rPr sz="1600" spc="-5" dirty="0">
                <a:latin typeface="宋体"/>
                <a:cs typeface="宋体"/>
              </a:rPr>
              <a:t>coo</a:t>
            </a:r>
            <a:r>
              <a:rPr sz="1600" spc="-10" dirty="0">
                <a:latin typeface="宋体"/>
                <a:cs typeface="宋体"/>
              </a:rPr>
              <a:t> </a:t>
            </a:r>
            <a:r>
              <a:rPr sz="1600" spc="-5" dirty="0">
                <a:latin typeface="宋体"/>
                <a:cs typeface="宋体"/>
              </a:rPr>
              <a:t>martrics</a:t>
            </a:r>
            <a:r>
              <a:rPr sz="1600" dirty="0">
                <a:latin typeface="宋体"/>
                <a:cs typeface="宋体"/>
              </a:rPr>
              <a:t>的简单创建实</a:t>
            </a:r>
            <a:r>
              <a:rPr sz="1600" spc="-5" dirty="0">
                <a:latin typeface="宋体"/>
                <a:cs typeface="宋体"/>
              </a:rPr>
              <a:t>例</a:t>
            </a:r>
            <a:endParaRPr sz="1600">
              <a:latin typeface="宋体"/>
              <a:cs typeface="宋体"/>
            </a:endParaRPr>
          </a:p>
          <a:p>
            <a:pPr marL="12700" marR="716915">
              <a:lnSpc>
                <a:spcPct val="150000"/>
              </a:lnSpc>
            </a:pPr>
            <a:r>
              <a:rPr sz="1600" dirty="0">
                <a:latin typeface="宋体"/>
                <a:cs typeface="宋体"/>
              </a:rPr>
              <a:t>也可以通过以下链接去了解更多关于</a:t>
            </a:r>
            <a:r>
              <a:rPr sz="1600" spc="-5" dirty="0">
                <a:latin typeface="宋体"/>
                <a:cs typeface="宋体"/>
              </a:rPr>
              <a:t>coo</a:t>
            </a:r>
            <a:r>
              <a:rPr sz="1600" spc="-70" dirty="0">
                <a:latin typeface="宋体"/>
                <a:cs typeface="宋体"/>
              </a:rPr>
              <a:t> </a:t>
            </a:r>
            <a:r>
              <a:rPr sz="1600" spc="-5" dirty="0">
                <a:latin typeface="宋体"/>
                <a:cs typeface="宋体"/>
              </a:rPr>
              <a:t>martrices</a:t>
            </a:r>
            <a:r>
              <a:rPr sz="1600" dirty="0">
                <a:latin typeface="宋体"/>
                <a:cs typeface="宋体"/>
              </a:rPr>
              <a:t>的信息</a:t>
            </a:r>
            <a:r>
              <a:rPr sz="1600" spc="-5" dirty="0">
                <a:latin typeface="宋体"/>
                <a:cs typeface="宋体"/>
              </a:rPr>
              <a:t>：  </a:t>
            </a: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coo matrices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67600" y="1951228"/>
            <a:ext cx="3681984" cy="37978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3047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6FC0"/>
                </a:solidFill>
                <a:latin typeface="微软雅黑"/>
                <a:cs typeface="微软雅黑"/>
              </a:rPr>
              <a:t>Coo_matrix and </a:t>
            </a: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csr</a:t>
            </a:r>
            <a:r>
              <a:rPr sz="1800" spc="-2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微软雅黑"/>
                <a:cs typeface="微软雅黑"/>
              </a:rPr>
              <a:t>matrix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4672" y="1275588"/>
            <a:ext cx="1557528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0239" y="1272032"/>
            <a:ext cx="1565275" cy="375920"/>
          </a:xfrm>
          <a:custGeom>
            <a:avLst/>
            <a:gdLst/>
            <a:ahLst/>
            <a:cxnLst/>
            <a:rect l="l" t="t" r="r" b="b"/>
            <a:pathLst>
              <a:path w="1565275" h="375919">
                <a:moveTo>
                  <a:pt x="156146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561465" y="0"/>
                </a:lnTo>
                <a:lnTo>
                  <a:pt x="1562925" y="292"/>
                </a:lnTo>
                <a:lnTo>
                  <a:pt x="1564157" y="1117"/>
                </a:lnTo>
                <a:lnTo>
                  <a:pt x="1564982" y="2362"/>
                </a:lnTo>
                <a:lnTo>
                  <a:pt x="156527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1565275" y="372110"/>
                </a:lnTo>
                <a:lnTo>
                  <a:pt x="1564982" y="373570"/>
                </a:lnTo>
                <a:lnTo>
                  <a:pt x="1564157" y="374802"/>
                </a:lnTo>
                <a:lnTo>
                  <a:pt x="1562925" y="375627"/>
                </a:lnTo>
                <a:lnTo>
                  <a:pt x="1561465" y="375920"/>
                </a:lnTo>
                <a:close/>
              </a:path>
              <a:path w="156527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565275" h="375919">
                <a:moveTo>
                  <a:pt x="155765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557655" y="3810"/>
                </a:lnTo>
                <a:lnTo>
                  <a:pt x="1557655" y="7620"/>
                </a:lnTo>
                <a:close/>
              </a:path>
              <a:path w="1565275" h="375919">
                <a:moveTo>
                  <a:pt x="1557655" y="372110"/>
                </a:moveTo>
                <a:lnTo>
                  <a:pt x="1557655" y="3810"/>
                </a:lnTo>
                <a:lnTo>
                  <a:pt x="1561465" y="7620"/>
                </a:lnTo>
                <a:lnTo>
                  <a:pt x="1565275" y="7620"/>
                </a:lnTo>
                <a:lnTo>
                  <a:pt x="1565275" y="368300"/>
                </a:lnTo>
                <a:lnTo>
                  <a:pt x="1561465" y="368300"/>
                </a:lnTo>
                <a:lnTo>
                  <a:pt x="1557655" y="372110"/>
                </a:lnTo>
                <a:close/>
              </a:path>
              <a:path w="1565275" h="375919">
                <a:moveTo>
                  <a:pt x="1565275" y="7620"/>
                </a:moveTo>
                <a:lnTo>
                  <a:pt x="1561465" y="7620"/>
                </a:lnTo>
                <a:lnTo>
                  <a:pt x="1557655" y="3810"/>
                </a:lnTo>
                <a:lnTo>
                  <a:pt x="1565275" y="3810"/>
                </a:lnTo>
                <a:lnTo>
                  <a:pt x="1565275" y="7620"/>
                </a:lnTo>
                <a:close/>
              </a:path>
              <a:path w="156527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1565275" h="375919">
                <a:moveTo>
                  <a:pt x="155765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1557655" y="368300"/>
                </a:lnTo>
                <a:lnTo>
                  <a:pt x="1557655" y="372110"/>
                </a:lnTo>
                <a:close/>
              </a:path>
              <a:path w="1565275" h="375919">
                <a:moveTo>
                  <a:pt x="1565275" y="372110"/>
                </a:moveTo>
                <a:lnTo>
                  <a:pt x="1557655" y="372110"/>
                </a:lnTo>
                <a:lnTo>
                  <a:pt x="1561465" y="368300"/>
                </a:lnTo>
                <a:lnTo>
                  <a:pt x="1565275" y="368300"/>
                </a:lnTo>
                <a:lnTo>
                  <a:pt x="156527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4672" y="1303782"/>
            <a:ext cx="1557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10322" y="1396707"/>
            <a:ext cx="371309" cy="1820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14182" y="1340192"/>
            <a:ext cx="786599" cy="2385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2650" y="1956562"/>
            <a:ext cx="5606415" cy="418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400" dirty="0">
                <a:latin typeface="宋体"/>
                <a:cs typeface="宋体"/>
              </a:rPr>
              <a:t>压缩稀疏行</a:t>
            </a:r>
            <a:r>
              <a:rPr sz="1400" dirty="0">
                <a:latin typeface="Arial"/>
                <a:cs typeface="Arial"/>
              </a:rPr>
              <a:t>(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CSR)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或压缩行存储</a:t>
            </a:r>
            <a:r>
              <a:rPr sz="1400" spc="-5" dirty="0">
                <a:latin typeface="Arial"/>
                <a:cs typeface="Arial"/>
              </a:rPr>
              <a:t>(CRS)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或耶鲁格式表示由三个（一维</a:t>
            </a:r>
            <a:r>
              <a:rPr sz="1400" spc="5" dirty="0">
                <a:latin typeface="宋体"/>
                <a:cs typeface="宋体"/>
              </a:rPr>
              <a:t>）  </a:t>
            </a:r>
            <a:r>
              <a:rPr sz="1400" dirty="0">
                <a:latin typeface="宋体"/>
                <a:cs typeface="宋体"/>
              </a:rPr>
              <a:t>数组组成的矩阵</a:t>
            </a:r>
            <a:r>
              <a:rPr sz="1400" dirty="0">
                <a:latin typeface="Arial"/>
                <a:cs typeface="Arial"/>
              </a:rPr>
              <a:t>M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，它们分别包含非零值、行的范围和列索引。它</a:t>
            </a:r>
            <a:r>
              <a:rPr sz="1400" spc="5" dirty="0">
                <a:latin typeface="宋体"/>
                <a:cs typeface="宋体"/>
              </a:rPr>
              <a:t>类 </a:t>
            </a:r>
            <a:r>
              <a:rPr sz="1400" dirty="0">
                <a:latin typeface="宋体"/>
                <a:cs typeface="宋体"/>
              </a:rPr>
              <a:t>似</a:t>
            </a:r>
            <a:r>
              <a:rPr sz="1400" spc="5" dirty="0">
                <a:latin typeface="宋体"/>
                <a:cs typeface="宋体"/>
              </a:rPr>
              <a:t>于</a:t>
            </a:r>
            <a:r>
              <a:rPr sz="1400" spc="-340" dirty="0">
                <a:latin typeface="宋体"/>
                <a:cs typeface="宋体"/>
              </a:rPr>
              <a:t> </a:t>
            </a:r>
            <a:r>
              <a:rPr sz="1400" spc="-5" dirty="0">
                <a:latin typeface="Arial"/>
                <a:cs typeface="Arial"/>
              </a:rPr>
              <a:t>COO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但压缩了行索引，因此得名。这种格式允许快速行访问</a:t>
            </a:r>
            <a:r>
              <a:rPr sz="1400" spc="5" dirty="0">
                <a:latin typeface="宋体"/>
                <a:cs typeface="宋体"/>
              </a:rPr>
              <a:t>和 </a:t>
            </a:r>
            <a:r>
              <a:rPr sz="1400" dirty="0">
                <a:latin typeface="宋体"/>
                <a:cs typeface="宋体"/>
              </a:rPr>
              <a:t>矩阵向量乘</a:t>
            </a:r>
            <a:r>
              <a:rPr sz="1400" spc="5" dirty="0">
                <a:latin typeface="宋体"/>
                <a:cs typeface="宋体"/>
              </a:rPr>
              <a:t>法</a:t>
            </a:r>
            <a:r>
              <a:rPr sz="1400" spc="-320" dirty="0">
                <a:latin typeface="宋体"/>
                <a:cs typeface="宋体"/>
              </a:rPr>
              <a:t> 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 marR="168275">
              <a:lnSpc>
                <a:spcPct val="150000"/>
              </a:lnSpc>
            </a:pPr>
            <a:r>
              <a:rPr sz="1400" dirty="0">
                <a:latin typeface="Arial"/>
                <a:cs typeface="Arial"/>
              </a:rPr>
              <a:t>CSR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格式使用三个（一维）数组</a:t>
            </a:r>
            <a:r>
              <a:rPr sz="1400" spc="-45" dirty="0">
                <a:latin typeface="Arial"/>
                <a:cs typeface="Arial"/>
              </a:rPr>
              <a:t>(V,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COL_INDEX,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ROW_INDEX)</a:t>
            </a:r>
            <a:r>
              <a:rPr sz="1400" dirty="0">
                <a:latin typeface="宋体"/>
                <a:cs typeface="宋体"/>
              </a:rPr>
              <a:t>以</a:t>
            </a:r>
            <a:r>
              <a:rPr sz="1400" spc="5" dirty="0">
                <a:latin typeface="宋体"/>
                <a:cs typeface="宋体"/>
              </a:rPr>
              <a:t>行 </a:t>
            </a:r>
            <a:r>
              <a:rPr sz="1400" dirty="0">
                <a:latin typeface="宋体"/>
                <a:cs typeface="宋体"/>
              </a:rPr>
              <a:t>形式存储稀疏</a:t>
            </a:r>
            <a:r>
              <a:rPr sz="1400" dirty="0">
                <a:latin typeface="Arial"/>
                <a:cs typeface="Arial"/>
              </a:rPr>
              <a:t>m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Calibri"/>
                <a:cs typeface="Calibri"/>
              </a:rPr>
              <a:t>×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5" dirty="0">
                <a:latin typeface="Arial"/>
                <a:cs typeface="Arial"/>
              </a:rPr>
              <a:t>n</a:t>
            </a:r>
            <a:r>
              <a:rPr sz="1400" dirty="0">
                <a:latin typeface="宋体"/>
                <a:cs typeface="宋体"/>
              </a:rPr>
              <a:t>矩阵</a:t>
            </a:r>
            <a:r>
              <a:rPr sz="1400" spc="-10" dirty="0">
                <a:latin typeface="Arial"/>
                <a:cs typeface="Arial"/>
              </a:rPr>
              <a:t>M</a:t>
            </a:r>
            <a:r>
              <a:rPr sz="1400" dirty="0">
                <a:latin typeface="宋体"/>
                <a:cs typeface="宋体"/>
              </a:rPr>
              <a:t>。让</a:t>
            </a:r>
            <a:r>
              <a:rPr sz="1400" spc="-5" dirty="0">
                <a:latin typeface="Arial"/>
                <a:cs typeface="Arial"/>
              </a:rPr>
              <a:t>NNZ</a:t>
            </a:r>
            <a:r>
              <a:rPr sz="1400" dirty="0">
                <a:latin typeface="宋体"/>
                <a:cs typeface="宋体"/>
              </a:rPr>
              <a:t>表示</a:t>
            </a:r>
            <a:r>
              <a:rPr sz="1400" spc="-10" dirty="0">
                <a:latin typeface="Arial"/>
                <a:cs typeface="Arial"/>
              </a:rPr>
              <a:t>M</a:t>
            </a:r>
            <a:r>
              <a:rPr sz="1400" dirty="0">
                <a:latin typeface="宋体"/>
                <a:cs typeface="宋体"/>
              </a:rPr>
              <a:t>中非零条目的数量。（请</a:t>
            </a:r>
            <a:r>
              <a:rPr sz="1400" spc="5" dirty="0">
                <a:latin typeface="宋体"/>
                <a:cs typeface="宋体"/>
              </a:rPr>
              <a:t>注 </a:t>
            </a:r>
            <a:r>
              <a:rPr sz="1400" dirty="0">
                <a:latin typeface="宋体"/>
                <a:cs typeface="宋体"/>
              </a:rPr>
              <a:t>意，此处应使</a:t>
            </a:r>
            <a:r>
              <a:rPr sz="1400" spc="5" dirty="0">
                <a:latin typeface="宋体"/>
                <a:cs typeface="宋体"/>
              </a:rPr>
              <a:t>用</a:t>
            </a:r>
            <a:r>
              <a:rPr sz="1400" spc="-320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从零开始的索引。</a:t>
            </a:r>
            <a:r>
              <a:rPr sz="1400" spc="5" dirty="0">
                <a:latin typeface="宋体"/>
                <a:cs typeface="宋体"/>
              </a:rPr>
              <a:t>）</a:t>
            </a:r>
            <a:endParaRPr sz="1400">
              <a:latin typeface="宋体"/>
              <a:cs typeface="宋体"/>
            </a:endParaRPr>
          </a:p>
          <a:p>
            <a:pPr marL="12700" marR="182245">
              <a:lnSpc>
                <a:spcPct val="149700"/>
              </a:lnSpc>
              <a:spcBef>
                <a:spcPts val="10"/>
              </a:spcBef>
            </a:pPr>
            <a:r>
              <a:rPr sz="1400" dirty="0">
                <a:latin typeface="宋体"/>
                <a:cs typeface="宋体"/>
              </a:rPr>
              <a:t>数组</a:t>
            </a:r>
            <a:r>
              <a:rPr sz="1400" spc="-5" dirty="0">
                <a:latin typeface="Arial"/>
                <a:cs typeface="Arial"/>
              </a:rPr>
              <a:t>V</a:t>
            </a:r>
            <a:r>
              <a:rPr sz="1400" dirty="0">
                <a:latin typeface="宋体"/>
                <a:cs typeface="宋体"/>
              </a:rPr>
              <a:t>和</a:t>
            </a:r>
            <a:r>
              <a:rPr sz="1400" spc="-5" dirty="0">
                <a:latin typeface="Arial"/>
                <a:cs typeface="Arial"/>
              </a:rPr>
              <a:t>COL_INDEX</a:t>
            </a:r>
            <a:r>
              <a:rPr sz="1400" dirty="0">
                <a:latin typeface="宋体"/>
                <a:cs typeface="宋体"/>
              </a:rPr>
              <a:t>的长度为</a:t>
            </a:r>
            <a:r>
              <a:rPr sz="1400" spc="-5" dirty="0">
                <a:latin typeface="Arial"/>
                <a:cs typeface="Arial"/>
              </a:rPr>
              <a:t>NNZ</a:t>
            </a:r>
            <a:r>
              <a:rPr sz="1400" dirty="0">
                <a:latin typeface="宋体"/>
                <a:cs typeface="宋体"/>
              </a:rPr>
              <a:t>，分别包含非零值和这些值的列索 引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latin typeface="宋体"/>
                <a:cs typeface="宋体"/>
              </a:rPr>
              <a:t>数组</a:t>
            </a:r>
            <a:r>
              <a:rPr sz="1400" spc="-5" dirty="0">
                <a:latin typeface="Arial"/>
                <a:cs typeface="Arial"/>
              </a:rPr>
              <a:t>ROW_INDEX</a:t>
            </a:r>
            <a:r>
              <a:rPr sz="1400" dirty="0">
                <a:latin typeface="宋体"/>
                <a:cs typeface="宋体"/>
              </a:rPr>
              <a:t>的长度为</a:t>
            </a:r>
            <a:r>
              <a:rPr sz="1400" dirty="0">
                <a:latin typeface="Arial"/>
                <a:cs typeface="Arial"/>
              </a:rPr>
              <a:t>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+ 1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，并将给定行开始的</a:t>
            </a:r>
            <a:r>
              <a:rPr sz="1400" spc="-5" dirty="0">
                <a:latin typeface="Arial"/>
                <a:cs typeface="Arial"/>
              </a:rPr>
              <a:t>V</a:t>
            </a:r>
            <a:r>
              <a:rPr sz="1400" spc="5" dirty="0">
                <a:latin typeface="宋体"/>
                <a:cs typeface="宋体"/>
              </a:rPr>
              <a:t>和</a:t>
            </a:r>
            <a:endParaRPr sz="1400">
              <a:latin typeface="宋体"/>
              <a:cs typeface="宋体"/>
            </a:endParaRPr>
          </a:p>
          <a:p>
            <a:pPr marL="12700" marR="122555" algn="just">
              <a:lnSpc>
                <a:spcPct val="150000"/>
              </a:lnSpc>
            </a:pPr>
            <a:r>
              <a:rPr sz="1400" spc="-5" dirty="0">
                <a:latin typeface="Arial"/>
                <a:cs typeface="Arial"/>
              </a:rPr>
              <a:t>COL_INDEX</a:t>
            </a:r>
            <a:r>
              <a:rPr sz="1400" dirty="0">
                <a:latin typeface="宋体"/>
                <a:cs typeface="宋体"/>
              </a:rPr>
              <a:t>中的索引编码。这等效于</a:t>
            </a:r>
            <a:r>
              <a:rPr sz="1400" spc="-5" dirty="0">
                <a:latin typeface="Arial"/>
                <a:cs typeface="Arial"/>
              </a:rPr>
              <a:t>RO</a:t>
            </a:r>
            <a:r>
              <a:rPr sz="1400" spc="-10" dirty="0">
                <a:latin typeface="Arial"/>
                <a:cs typeface="Arial"/>
              </a:rPr>
              <a:t>W</a:t>
            </a:r>
            <a:r>
              <a:rPr sz="1400" spc="-5" dirty="0">
                <a:latin typeface="Arial"/>
                <a:cs typeface="Arial"/>
              </a:rPr>
              <a:t>_INDEX[j]</a:t>
            </a:r>
            <a:r>
              <a:rPr sz="1400" dirty="0">
                <a:latin typeface="宋体"/>
                <a:cs typeface="宋体"/>
              </a:rPr>
              <a:t>对第</a:t>
            </a:r>
            <a:r>
              <a:rPr sz="1400" spc="-5" dirty="0">
                <a:latin typeface="Arial"/>
                <a:cs typeface="Arial"/>
              </a:rPr>
              <a:t>j</a:t>
            </a:r>
            <a:r>
              <a:rPr sz="1400" dirty="0">
                <a:latin typeface="宋体"/>
                <a:cs typeface="宋体"/>
              </a:rPr>
              <a:t>行上方的非 零总数进行编码。最后一个元素是</a:t>
            </a:r>
            <a:r>
              <a:rPr sz="1400" spc="-5" dirty="0">
                <a:latin typeface="Arial"/>
                <a:cs typeface="Arial"/>
              </a:rPr>
              <a:t>NNZ</a:t>
            </a:r>
            <a:r>
              <a:rPr sz="1400" dirty="0">
                <a:latin typeface="宋体"/>
                <a:cs typeface="宋体"/>
              </a:rPr>
              <a:t>，即</a:t>
            </a:r>
            <a:r>
              <a:rPr sz="1400" spc="-5" dirty="0">
                <a:latin typeface="Arial"/>
                <a:cs typeface="Arial"/>
              </a:rPr>
              <a:t>V</a:t>
            </a:r>
            <a:r>
              <a:rPr sz="1400" dirty="0">
                <a:latin typeface="宋体"/>
                <a:cs typeface="宋体"/>
              </a:rPr>
              <a:t>中紧跟最后一个有效索引  </a:t>
            </a:r>
            <a:r>
              <a:rPr sz="1400" dirty="0">
                <a:latin typeface="Arial"/>
                <a:cs typeface="Arial"/>
              </a:rPr>
              <a:t>NNZ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-</a:t>
            </a:r>
            <a:r>
              <a:rPr sz="1400" spc="-5" dirty="0">
                <a:latin typeface="Arial"/>
                <a:cs typeface="Arial"/>
              </a:rPr>
              <a:t> 1</a:t>
            </a:r>
            <a:r>
              <a:rPr sz="1400" dirty="0">
                <a:latin typeface="宋体"/>
                <a:cs typeface="宋体"/>
              </a:rPr>
              <a:t>之后的虚构索引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786371" y="2142744"/>
            <a:ext cx="5170932" cy="18044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93884" y="4191000"/>
            <a:ext cx="5170932" cy="18973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178917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1797685" cy="375920"/>
          </a:xfrm>
          <a:custGeom>
            <a:avLst/>
            <a:gdLst/>
            <a:ahLst/>
            <a:cxnLst/>
            <a:rect l="l" t="t" r="r" b="b"/>
            <a:pathLst>
              <a:path w="1797685" h="375919">
                <a:moveTo>
                  <a:pt x="179387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1793875" y="0"/>
                </a:lnTo>
                <a:lnTo>
                  <a:pt x="1795335" y="292"/>
                </a:lnTo>
                <a:lnTo>
                  <a:pt x="1796567" y="1117"/>
                </a:lnTo>
                <a:lnTo>
                  <a:pt x="1797392" y="2362"/>
                </a:lnTo>
                <a:lnTo>
                  <a:pt x="179768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1797685" y="372110"/>
                </a:lnTo>
                <a:lnTo>
                  <a:pt x="1797392" y="373570"/>
                </a:lnTo>
                <a:lnTo>
                  <a:pt x="1796567" y="374802"/>
                </a:lnTo>
                <a:lnTo>
                  <a:pt x="1795335" y="375627"/>
                </a:lnTo>
                <a:lnTo>
                  <a:pt x="1793875" y="375920"/>
                </a:lnTo>
                <a:close/>
              </a:path>
              <a:path w="179768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797685" h="375919">
                <a:moveTo>
                  <a:pt x="179006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790065" y="3810"/>
                </a:lnTo>
                <a:lnTo>
                  <a:pt x="1790065" y="7620"/>
                </a:lnTo>
                <a:close/>
              </a:path>
              <a:path w="1797685" h="375919">
                <a:moveTo>
                  <a:pt x="1790065" y="372110"/>
                </a:moveTo>
                <a:lnTo>
                  <a:pt x="1790065" y="3810"/>
                </a:lnTo>
                <a:lnTo>
                  <a:pt x="1793875" y="7620"/>
                </a:lnTo>
                <a:lnTo>
                  <a:pt x="1797685" y="7620"/>
                </a:lnTo>
                <a:lnTo>
                  <a:pt x="1797685" y="368300"/>
                </a:lnTo>
                <a:lnTo>
                  <a:pt x="1793875" y="368300"/>
                </a:lnTo>
                <a:lnTo>
                  <a:pt x="1790065" y="372110"/>
                </a:lnTo>
                <a:close/>
              </a:path>
              <a:path w="1797685" h="375919">
                <a:moveTo>
                  <a:pt x="1797685" y="7620"/>
                </a:moveTo>
                <a:lnTo>
                  <a:pt x="1793875" y="7620"/>
                </a:lnTo>
                <a:lnTo>
                  <a:pt x="1790065" y="3810"/>
                </a:lnTo>
                <a:lnTo>
                  <a:pt x="1797685" y="3810"/>
                </a:lnTo>
                <a:lnTo>
                  <a:pt x="1797685" y="7620"/>
                </a:lnTo>
                <a:close/>
              </a:path>
              <a:path w="179768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1797685" h="375919">
                <a:moveTo>
                  <a:pt x="179006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1790065" y="368300"/>
                </a:lnTo>
                <a:lnTo>
                  <a:pt x="1790065" y="372110"/>
                </a:lnTo>
                <a:close/>
              </a:path>
              <a:path w="1797685" h="375919">
                <a:moveTo>
                  <a:pt x="1797685" y="372110"/>
                </a:moveTo>
                <a:lnTo>
                  <a:pt x="1790065" y="372110"/>
                </a:lnTo>
                <a:lnTo>
                  <a:pt x="1793875" y="368300"/>
                </a:lnTo>
                <a:lnTo>
                  <a:pt x="1797685" y="368300"/>
                </a:lnTo>
                <a:lnTo>
                  <a:pt x="179768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1789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7193" y="1333207"/>
            <a:ext cx="1407007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1955926"/>
            <a:ext cx="998791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b="1" dirty="0">
                <a:latin typeface="宋体"/>
                <a:cs typeface="宋体"/>
              </a:rPr>
              <a:t>损失函数</a:t>
            </a:r>
            <a:r>
              <a:rPr sz="1400" dirty="0">
                <a:latin typeface="宋体"/>
                <a:cs typeface="宋体"/>
              </a:rPr>
              <a:t>用来评价模型的预测值和真实值不一样的程度，损失函数越好，通常模型的性能越好。不同的模型用的损失函数一般也 不一样。这里就简要介绍下常用的</a:t>
            </a:r>
            <a:r>
              <a:rPr sz="1400" spc="-5" dirty="0">
                <a:latin typeface="宋体"/>
                <a:cs typeface="宋体"/>
              </a:rPr>
              <a:t>loss，</a:t>
            </a:r>
            <a:r>
              <a:rPr sz="1400" dirty="0">
                <a:latin typeface="宋体"/>
                <a:cs typeface="宋体"/>
              </a:rPr>
              <a:t>考虑到大家的基础就不一一详细介绍了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spc="-5" dirty="0">
                <a:latin typeface="Arial"/>
                <a:cs typeface="Arial"/>
              </a:rPr>
              <a:t>Gold Standard (ideal case)</a:t>
            </a:r>
            <a:r>
              <a:rPr sz="1400" spc="-5" dirty="0">
                <a:latin typeface="宋体"/>
                <a:cs typeface="宋体"/>
              </a:rPr>
              <a:t>：</a:t>
            </a:r>
            <a:r>
              <a:rPr sz="1400" spc="-5" dirty="0">
                <a:latin typeface="Arial"/>
                <a:cs typeface="Arial"/>
              </a:rPr>
              <a:t>0-1 loss,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记录分类错误的次</a:t>
            </a:r>
            <a:r>
              <a:rPr sz="1400" spc="5" dirty="0">
                <a:latin typeface="宋体"/>
                <a:cs typeface="宋体"/>
              </a:rPr>
              <a:t>数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650" y="3662679"/>
            <a:ext cx="350647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"/>
                <a:cs typeface="Arial"/>
              </a:rPr>
              <a:t>Hinge (SVM, soft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margin)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300000"/>
              </a:lnSpc>
            </a:pPr>
            <a:r>
              <a:rPr sz="1400" spc="-5" dirty="0">
                <a:latin typeface="Arial"/>
                <a:cs typeface="Arial"/>
              </a:rPr>
              <a:t>Log (logistic regression, cross entropy error)  Squared loss (linear regression)  Exponential loss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(Boosting)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57700" y="3029711"/>
            <a:ext cx="2747772" cy="5669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57700" y="4497323"/>
            <a:ext cx="2747772" cy="3931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57700" y="3854196"/>
            <a:ext cx="2747772" cy="46634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59223" y="5202935"/>
            <a:ext cx="2746248" cy="4648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57700" y="5864352"/>
            <a:ext cx="2747772" cy="3581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709672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717165" cy="375920"/>
          </a:xfrm>
          <a:custGeom>
            <a:avLst/>
            <a:gdLst/>
            <a:ahLst/>
            <a:cxnLst/>
            <a:rect l="l" t="t" r="r" b="b"/>
            <a:pathLst>
              <a:path w="2717165" h="375919">
                <a:moveTo>
                  <a:pt x="271335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713355" y="0"/>
                </a:lnTo>
                <a:lnTo>
                  <a:pt x="2714802" y="292"/>
                </a:lnTo>
                <a:lnTo>
                  <a:pt x="2716047" y="1117"/>
                </a:lnTo>
                <a:lnTo>
                  <a:pt x="2716872" y="2362"/>
                </a:lnTo>
                <a:lnTo>
                  <a:pt x="271716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717165" y="372110"/>
                </a:lnTo>
                <a:lnTo>
                  <a:pt x="2716872" y="373570"/>
                </a:lnTo>
                <a:lnTo>
                  <a:pt x="2716047" y="374802"/>
                </a:lnTo>
                <a:lnTo>
                  <a:pt x="2714802" y="375627"/>
                </a:lnTo>
                <a:lnTo>
                  <a:pt x="2713355" y="375920"/>
                </a:lnTo>
                <a:close/>
              </a:path>
              <a:path w="271716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717165" h="375919">
                <a:moveTo>
                  <a:pt x="270954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709545" y="3810"/>
                </a:lnTo>
                <a:lnTo>
                  <a:pt x="2709545" y="7620"/>
                </a:lnTo>
                <a:close/>
              </a:path>
              <a:path w="2717165" h="375919">
                <a:moveTo>
                  <a:pt x="2709545" y="372110"/>
                </a:moveTo>
                <a:lnTo>
                  <a:pt x="2709545" y="3810"/>
                </a:lnTo>
                <a:lnTo>
                  <a:pt x="2713355" y="7620"/>
                </a:lnTo>
                <a:lnTo>
                  <a:pt x="2717165" y="7620"/>
                </a:lnTo>
                <a:lnTo>
                  <a:pt x="2717165" y="368300"/>
                </a:lnTo>
                <a:lnTo>
                  <a:pt x="2713355" y="368300"/>
                </a:lnTo>
                <a:lnTo>
                  <a:pt x="2709545" y="372110"/>
                </a:lnTo>
                <a:close/>
              </a:path>
              <a:path w="2717165" h="375919">
                <a:moveTo>
                  <a:pt x="2717165" y="7620"/>
                </a:moveTo>
                <a:lnTo>
                  <a:pt x="2713355" y="7620"/>
                </a:lnTo>
                <a:lnTo>
                  <a:pt x="2709545" y="3810"/>
                </a:lnTo>
                <a:lnTo>
                  <a:pt x="2717165" y="3810"/>
                </a:lnTo>
                <a:lnTo>
                  <a:pt x="2717165" y="7620"/>
                </a:lnTo>
                <a:close/>
              </a:path>
              <a:path w="271716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717165" h="375919">
                <a:moveTo>
                  <a:pt x="270954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709545" y="368300"/>
                </a:lnTo>
                <a:lnTo>
                  <a:pt x="2709545" y="372110"/>
                </a:lnTo>
                <a:close/>
              </a:path>
              <a:path w="2717165" h="375919">
                <a:moveTo>
                  <a:pt x="2717165" y="372110"/>
                </a:moveTo>
                <a:lnTo>
                  <a:pt x="2709545" y="372110"/>
                </a:lnTo>
                <a:lnTo>
                  <a:pt x="2713355" y="368300"/>
                </a:lnTo>
                <a:lnTo>
                  <a:pt x="2717165" y="368300"/>
                </a:lnTo>
                <a:lnTo>
                  <a:pt x="271716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71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0195" y="1333207"/>
            <a:ext cx="233347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700"/>
              </a:lnSpc>
              <a:spcBef>
                <a:spcPts val="100"/>
              </a:spcBef>
            </a:pPr>
            <a:r>
              <a:rPr b="1" dirty="0">
                <a:latin typeface="宋体"/>
                <a:cs typeface="宋体"/>
              </a:rPr>
              <a:t>推荐系统领域的两个问题</a:t>
            </a:r>
            <a:r>
              <a:rPr spc="-5" dirty="0"/>
              <a:t>：</a:t>
            </a:r>
            <a:r>
              <a:rPr spc="-5" dirty="0">
                <a:latin typeface="Arial"/>
                <a:cs typeface="Arial"/>
              </a:rPr>
              <a:t>Raking</a:t>
            </a:r>
            <a:r>
              <a:rPr spc="5" dirty="0">
                <a:latin typeface="Arial"/>
                <a:cs typeface="Arial"/>
              </a:rPr>
              <a:t> </a:t>
            </a:r>
            <a:r>
              <a:rPr spc="5" dirty="0"/>
              <a:t>和</a:t>
            </a:r>
            <a:r>
              <a:rPr spc="-300" dirty="0"/>
              <a:t> </a:t>
            </a:r>
            <a:r>
              <a:rPr spc="-5" dirty="0">
                <a:latin typeface="Arial"/>
                <a:cs typeface="Arial"/>
              </a:rPr>
              <a:t>Rating</a:t>
            </a:r>
            <a:r>
              <a:rPr dirty="0"/>
              <a:t>。</a:t>
            </a:r>
            <a:r>
              <a:rPr spc="-5" dirty="0">
                <a:latin typeface="Arial"/>
                <a:cs typeface="Arial"/>
              </a:rPr>
              <a:t>Ranking</a:t>
            </a:r>
            <a:r>
              <a:rPr dirty="0"/>
              <a:t>即是</a:t>
            </a:r>
            <a:r>
              <a:rPr spc="-35" dirty="0">
                <a:latin typeface="Arial"/>
                <a:cs typeface="Arial"/>
              </a:rPr>
              <a:t>Top-K</a:t>
            </a:r>
            <a:r>
              <a:rPr dirty="0"/>
              <a:t>推荐</a:t>
            </a:r>
            <a:r>
              <a:rPr spc="-5" dirty="0"/>
              <a:t>；</a:t>
            </a:r>
            <a:r>
              <a:rPr spc="-5" dirty="0">
                <a:latin typeface="Arial"/>
                <a:cs typeface="Arial"/>
              </a:rPr>
              <a:t>Rating</a:t>
            </a:r>
            <a:r>
              <a:rPr dirty="0"/>
              <a:t>则是预测物品的打分。最新的研究都是做排序的</a:t>
            </a:r>
            <a:r>
              <a:rPr spc="5" dirty="0"/>
              <a:t>，  </a:t>
            </a:r>
            <a:r>
              <a:rPr dirty="0"/>
              <a:t>因为排序</a:t>
            </a:r>
            <a:r>
              <a:rPr dirty="0">
                <a:latin typeface="Microsoft YaHei UI"/>
                <a:cs typeface="Microsoft YaHei UI"/>
              </a:rPr>
              <a:t>⽐</a:t>
            </a:r>
            <a:r>
              <a:rPr dirty="0"/>
              <a:t>预测更贴近实际。</a:t>
            </a:r>
            <a:r>
              <a:rPr dirty="0">
                <a:latin typeface="Microsoft YaHei UI"/>
                <a:cs typeface="Microsoft YaHei UI"/>
              </a:rPr>
              <a:t>⽽</a:t>
            </a:r>
            <a:r>
              <a:rPr dirty="0"/>
              <a:t>且，评分预测最后训练的模型会遇到过拟合的问题，也就是最后预测的评分都是</a:t>
            </a:r>
            <a:r>
              <a:rPr dirty="0">
                <a:latin typeface="Microsoft YaHei UI"/>
                <a:cs typeface="Microsoft YaHei UI"/>
              </a:rPr>
              <a:t>⼀</a:t>
            </a:r>
            <a:r>
              <a:rPr dirty="0"/>
              <a:t>样的。由</a:t>
            </a:r>
            <a:r>
              <a:rPr spc="5" dirty="0"/>
              <a:t>此</a:t>
            </a:r>
          </a:p>
          <a:p>
            <a:pPr marL="12700" marR="219710">
              <a:lnSpc>
                <a:spcPct val="150000"/>
              </a:lnSpc>
            </a:pPr>
            <a:r>
              <a:rPr dirty="0"/>
              <a:t>可见，这些做评分预测的模型或多或少的是在拟合评分的分布规律。不同的问题会对应不同的损失函数，下</a:t>
            </a:r>
            <a:r>
              <a:rPr dirty="0">
                <a:latin typeface="Microsoft YaHei UI"/>
                <a:cs typeface="Microsoft YaHei UI"/>
              </a:rPr>
              <a:t>⾯</a:t>
            </a:r>
            <a:r>
              <a:rPr dirty="0"/>
              <a:t>介绍</a:t>
            </a:r>
            <a:r>
              <a:rPr dirty="0">
                <a:latin typeface="Microsoft YaHei UI"/>
                <a:cs typeface="Microsoft YaHei UI"/>
              </a:rPr>
              <a:t>⼏</a:t>
            </a:r>
            <a:r>
              <a:rPr dirty="0"/>
              <a:t>种推荐</a:t>
            </a:r>
            <a:r>
              <a:rPr spc="5" dirty="0"/>
              <a:t>系 </a:t>
            </a:r>
            <a:r>
              <a:rPr dirty="0"/>
              <a:t>统领域解决排序问题的</a:t>
            </a:r>
            <a:r>
              <a:rPr dirty="0">
                <a:latin typeface="Microsoft YaHei UI"/>
                <a:cs typeface="Microsoft YaHei UI"/>
              </a:rPr>
              <a:t>⼏</a:t>
            </a:r>
            <a:r>
              <a:rPr dirty="0"/>
              <a:t>种损失函数。和评分预测问题不同，</a:t>
            </a:r>
            <a:r>
              <a:rPr spc="-165" dirty="0">
                <a:latin typeface="Arial"/>
                <a:cs typeface="Arial"/>
              </a:rPr>
              <a:t>T</a:t>
            </a:r>
            <a:r>
              <a:rPr spc="-5" dirty="0">
                <a:latin typeface="Arial"/>
                <a:cs typeface="Arial"/>
              </a:rPr>
              <a:t>op-K</a:t>
            </a:r>
            <a:r>
              <a:rPr dirty="0"/>
              <a:t>问题</a:t>
            </a:r>
            <a:r>
              <a:rPr dirty="0">
                <a:latin typeface="Microsoft YaHei UI"/>
                <a:cs typeface="Microsoft YaHei UI"/>
              </a:rPr>
              <a:t>⼀</a:t>
            </a:r>
            <a:r>
              <a:rPr dirty="0"/>
              <a:t>般只有显式的正样本，</a:t>
            </a:r>
            <a:r>
              <a:rPr dirty="0">
                <a:latin typeface="Microsoft YaHei UI"/>
                <a:cs typeface="Microsoft YaHei UI"/>
              </a:rPr>
              <a:t>⽽</a:t>
            </a:r>
            <a:r>
              <a:rPr dirty="0"/>
              <a:t>没有显式的负样本。所以对 于排序问题，我们需要通过某种规则来定</a:t>
            </a:r>
            <a:r>
              <a:rPr spc="5" dirty="0"/>
              <a:t>义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/>
              <a:t>负样本</a:t>
            </a:r>
            <a:r>
              <a:rPr spc="5" dirty="0"/>
              <a:t>。</a:t>
            </a: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/>
              <a:t>下</a:t>
            </a:r>
            <a:r>
              <a:rPr dirty="0">
                <a:latin typeface="Microsoft YaHei UI"/>
                <a:cs typeface="Microsoft YaHei UI"/>
              </a:rPr>
              <a:t>⾯</a:t>
            </a:r>
            <a:r>
              <a:rPr dirty="0"/>
              <a:t>这些损失函数的都是基于</a:t>
            </a:r>
            <a:r>
              <a:rPr spc="-5" dirty="0">
                <a:latin typeface="Arial"/>
                <a:cs typeface="Arial"/>
              </a:rPr>
              <a:t>pairwise</a:t>
            </a:r>
            <a:r>
              <a:rPr spc="-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loss</a:t>
            </a:r>
            <a:r>
              <a:rPr dirty="0"/>
              <a:t>的思想</a:t>
            </a:r>
            <a:r>
              <a:rPr spc="5" dirty="0"/>
              <a:t>。</a:t>
            </a:r>
          </a:p>
          <a:p>
            <a:pPr marL="298450" indent="-28575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b="1" spc="-10" dirty="0">
                <a:latin typeface="Arial"/>
                <a:cs typeface="Arial"/>
              </a:rPr>
              <a:t>TOP1 </a:t>
            </a:r>
            <a:r>
              <a:rPr b="1" spc="-5" dirty="0">
                <a:latin typeface="Arial"/>
                <a:cs typeface="Arial"/>
              </a:rPr>
              <a:t>Loss</a:t>
            </a:r>
          </a:p>
          <a:p>
            <a:pPr marL="12700" marR="328295">
              <a:lnSpc>
                <a:spcPts val="2520"/>
              </a:lnSpc>
              <a:spcBef>
                <a:spcPts val="215"/>
              </a:spcBef>
            </a:pPr>
            <a:r>
              <a:rPr dirty="0"/>
              <a:t>这是</a:t>
            </a:r>
            <a:r>
              <a:rPr dirty="0">
                <a:latin typeface="Microsoft YaHei UI"/>
                <a:cs typeface="Microsoft YaHei UI"/>
              </a:rPr>
              <a:t>⼀</a:t>
            </a:r>
            <a:r>
              <a:rPr dirty="0"/>
              <a:t>种启发式的组合损失函数，由两个部分组成：第</a:t>
            </a:r>
            <a:r>
              <a:rPr dirty="0">
                <a:latin typeface="Microsoft YaHei UI"/>
                <a:cs typeface="Microsoft YaHei UI"/>
              </a:rPr>
              <a:t>⼀</a:t>
            </a:r>
            <a:r>
              <a:rPr dirty="0"/>
              <a:t>部分旨在将</a:t>
            </a:r>
            <a:r>
              <a:rPr dirty="0">
                <a:latin typeface="Microsoft YaHei UI"/>
                <a:cs typeface="Microsoft YaHei UI"/>
              </a:rPr>
              <a:t>⽬</a:t>
            </a:r>
            <a:r>
              <a:rPr dirty="0"/>
              <a:t>标分数提升到样本分数以上，</a:t>
            </a:r>
            <a:r>
              <a:rPr dirty="0">
                <a:latin typeface="Microsoft YaHei UI"/>
                <a:cs typeface="Microsoft YaHei UI"/>
              </a:rPr>
              <a:t>⽽</a:t>
            </a:r>
            <a:r>
              <a:rPr dirty="0"/>
              <a:t>第</a:t>
            </a:r>
            <a:r>
              <a:rPr dirty="0">
                <a:latin typeface="Microsoft YaHei UI"/>
                <a:cs typeface="Microsoft YaHei UI"/>
              </a:rPr>
              <a:t>⼆</a:t>
            </a:r>
            <a:r>
              <a:rPr dirty="0"/>
              <a:t>部分则将负样本的 分数降低到零。第</a:t>
            </a:r>
            <a:r>
              <a:rPr dirty="0">
                <a:latin typeface="Microsoft YaHei UI"/>
                <a:cs typeface="Microsoft YaHei UI"/>
              </a:rPr>
              <a:t>⼆</a:t>
            </a:r>
            <a:r>
              <a:rPr dirty="0"/>
              <a:t>部分其实就是</a:t>
            </a:r>
            <a:r>
              <a:rPr dirty="0">
                <a:latin typeface="Microsoft YaHei UI"/>
                <a:cs typeface="Microsoft YaHei UI"/>
              </a:rPr>
              <a:t>⼀</a:t>
            </a:r>
            <a:r>
              <a:rPr dirty="0"/>
              <a:t>个正则项，但是并没有直接约束权重，它惩罚了负样本的得分。因为所有的物品都有可</a:t>
            </a:r>
            <a:r>
              <a:rPr spc="5" dirty="0"/>
              <a:t>能</a:t>
            </a: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/>
              <a:t>作为某</a:t>
            </a:r>
            <a:r>
              <a:rPr dirty="0">
                <a:latin typeface="Microsoft YaHei UI"/>
                <a:cs typeface="Microsoft YaHei UI"/>
              </a:rPr>
              <a:t>⼀</a:t>
            </a:r>
            <a:r>
              <a:rPr dirty="0"/>
              <a:t>个</a:t>
            </a:r>
            <a:r>
              <a:rPr dirty="0">
                <a:latin typeface="Microsoft YaHei UI"/>
                <a:cs typeface="Microsoft YaHei UI"/>
              </a:rPr>
              <a:t>⽤</a:t>
            </a:r>
            <a:r>
              <a:rPr dirty="0"/>
              <a:t>户的负样本。具体公式如下</a:t>
            </a:r>
            <a:r>
              <a:rPr dirty="0">
                <a:latin typeface="Arial"/>
                <a:cs typeface="Arial"/>
              </a:rPr>
              <a:t>:</a:t>
            </a: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/>
              <a:t>这</a:t>
            </a:r>
            <a:r>
              <a:rPr dirty="0">
                <a:latin typeface="Microsoft YaHei UI"/>
                <a:cs typeface="Microsoft YaHei UI"/>
              </a:rPr>
              <a:t>⾥</a:t>
            </a:r>
            <a:r>
              <a:rPr spc="-5" dirty="0">
                <a:latin typeface="Arial"/>
                <a:cs typeface="Arial"/>
              </a:rPr>
              <a:t>j</a:t>
            </a:r>
            <a:r>
              <a:rPr dirty="0"/>
              <a:t>对应负样本（未观测到的</a:t>
            </a:r>
            <a:r>
              <a:rPr spc="-5" dirty="0"/>
              <a:t>），</a:t>
            </a:r>
            <a:r>
              <a:rPr spc="-5" dirty="0">
                <a:latin typeface="Arial"/>
                <a:cs typeface="Arial"/>
              </a:rPr>
              <a:t>i</a:t>
            </a:r>
            <a:r>
              <a:rPr dirty="0"/>
              <a:t>对应正样</a:t>
            </a:r>
            <a:r>
              <a:rPr spc="5" dirty="0"/>
              <a:t>本</a:t>
            </a:r>
          </a:p>
        </p:txBody>
      </p:sp>
      <p:sp>
        <p:nvSpPr>
          <p:cNvPr id="11" name="object 11"/>
          <p:cNvSpPr/>
          <p:nvPr/>
        </p:nvSpPr>
        <p:spPr>
          <a:xfrm>
            <a:off x="4594859" y="5364479"/>
            <a:ext cx="3002280" cy="5105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709672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717165" cy="375920"/>
          </a:xfrm>
          <a:custGeom>
            <a:avLst/>
            <a:gdLst/>
            <a:ahLst/>
            <a:cxnLst/>
            <a:rect l="l" t="t" r="r" b="b"/>
            <a:pathLst>
              <a:path w="2717165" h="375919">
                <a:moveTo>
                  <a:pt x="271335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713355" y="0"/>
                </a:lnTo>
                <a:lnTo>
                  <a:pt x="2714802" y="292"/>
                </a:lnTo>
                <a:lnTo>
                  <a:pt x="2716047" y="1117"/>
                </a:lnTo>
                <a:lnTo>
                  <a:pt x="2716872" y="2362"/>
                </a:lnTo>
                <a:lnTo>
                  <a:pt x="271716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717165" y="372110"/>
                </a:lnTo>
                <a:lnTo>
                  <a:pt x="2716872" y="373570"/>
                </a:lnTo>
                <a:lnTo>
                  <a:pt x="2716047" y="374802"/>
                </a:lnTo>
                <a:lnTo>
                  <a:pt x="2714802" y="375627"/>
                </a:lnTo>
                <a:lnTo>
                  <a:pt x="2713355" y="375920"/>
                </a:lnTo>
                <a:close/>
              </a:path>
              <a:path w="271716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717165" h="375919">
                <a:moveTo>
                  <a:pt x="270954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709545" y="3810"/>
                </a:lnTo>
                <a:lnTo>
                  <a:pt x="2709545" y="7620"/>
                </a:lnTo>
                <a:close/>
              </a:path>
              <a:path w="2717165" h="375919">
                <a:moveTo>
                  <a:pt x="2709545" y="372110"/>
                </a:moveTo>
                <a:lnTo>
                  <a:pt x="2709545" y="3810"/>
                </a:lnTo>
                <a:lnTo>
                  <a:pt x="2713355" y="7620"/>
                </a:lnTo>
                <a:lnTo>
                  <a:pt x="2717165" y="7620"/>
                </a:lnTo>
                <a:lnTo>
                  <a:pt x="2717165" y="368300"/>
                </a:lnTo>
                <a:lnTo>
                  <a:pt x="2713355" y="368300"/>
                </a:lnTo>
                <a:lnTo>
                  <a:pt x="2709545" y="372110"/>
                </a:lnTo>
                <a:close/>
              </a:path>
              <a:path w="2717165" h="375919">
                <a:moveTo>
                  <a:pt x="2717165" y="7620"/>
                </a:moveTo>
                <a:lnTo>
                  <a:pt x="2713355" y="7620"/>
                </a:lnTo>
                <a:lnTo>
                  <a:pt x="2709545" y="3810"/>
                </a:lnTo>
                <a:lnTo>
                  <a:pt x="2717165" y="3810"/>
                </a:lnTo>
                <a:lnTo>
                  <a:pt x="2717165" y="7620"/>
                </a:lnTo>
                <a:close/>
              </a:path>
              <a:path w="271716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717165" h="375919">
                <a:moveTo>
                  <a:pt x="270954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709545" y="368300"/>
                </a:lnTo>
                <a:lnTo>
                  <a:pt x="2709545" y="372110"/>
                </a:lnTo>
                <a:close/>
              </a:path>
              <a:path w="2717165" h="375919">
                <a:moveTo>
                  <a:pt x="2717165" y="372110"/>
                </a:moveTo>
                <a:lnTo>
                  <a:pt x="2709545" y="372110"/>
                </a:lnTo>
                <a:lnTo>
                  <a:pt x="2713355" y="368300"/>
                </a:lnTo>
                <a:lnTo>
                  <a:pt x="2717165" y="368300"/>
                </a:lnTo>
                <a:lnTo>
                  <a:pt x="271716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710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10195" y="1333207"/>
            <a:ext cx="233347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1929308"/>
            <a:ext cx="9821545" cy="114935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b="1" dirty="0">
                <a:latin typeface="Arial"/>
                <a:cs typeface="Arial"/>
              </a:rPr>
              <a:t>BPR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497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BPR 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dirty="0">
                <a:latin typeface="宋体"/>
                <a:cs typeface="宋体"/>
              </a:rPr>
              <a:t>是</a:t>
            </a:r>
            <a:r>
              <a:rPr sz="1400" dirty="0">
                <a:latin typeface="Microsoft YaHei UI"/>
                <a:cs typeface="Microsoft YaHei UI"/>
              </a:rPr>
              <a:t>⽤</a:t>
            </a:r>
            <a:r>
              <a:rPr sz="1400" dirty="0">
                <a:latin typeface="宋体"/>
                <a:cs typeface="宋体"/>
              </a:rPr>
              <a:t>得</a:t>
            </a:r>
            <a:r>
              <a:rPr sz="1400" dirty="0">
                <a:latin typeface="Microsoft YaHei UI"/>
                <a:cs typeface="Microsoft YaHei UI"/>
              </a:rPr>
              <a:t>⽐</a:t>
            </a:r>
            <a:r>
              <a:rPr sz="1400" dirty="0">
                <a:latin typeface="宋体"/>
                <a:cs typeface="宋体"/>
              </a:rPr>
              <a:t>较多的</a:t>
            </a:r>
            <a:r>
              <a:rPr sz="1400" dirty="0">
                <a:latin typeface="Microsoft YaHei UI"/>
                <a:cs typeface="Microsoft YaHei UI"/>
              </a:rPr>
              <a:t>⼀</a:t>
            </a:r>
            <a:r>
              <a:rPr sz="1400" dirty="0">
                <a:latin typeface="宋体"/>
                <a:cs typeface="宋体"/>
              </a:rPr>
              <a:t>种</a:t>
            </a:r>
            <a:r>
              <a:rPr sz="1400" spc="-5" dirty="0">
                <a:latin typeface="Arial"/>
                <a:cs typeface="Arial"/>
              </a:rPr>
              <a:t>raking loss</a:t>
            </a:r>
            <a:r>
              <a:rPr sz="1400" dirty="0">
                <a:latin typeface="宋体"/>
                <a:cs typeface="宋体"/>
              </a:rPr>
              <a:t>。它是基于</a:t>
            </a:r>
            <a:r>
              <a:rPr sz="1400" spc="-5" dirty="0">
                <a:latin typeface="Arial"/>
                <a:cs typeface="Arial"/>
              </a:rPr>
              <a:t>Bayesian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Personalized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Ranking</a:t>
            </a:r>
            <a:r>
              <a:rPr sz="1400" dirty="0">
                <a:latin typeface="宋体"/>
                <a:cs typeface="宋体"/>
              </a:rPr>
              <a:t>。</a:t>
            </a:r>
            <a:r>
              <a:rPr sz="1400" dirty="0">
                <a:latin typeface="Arial"/>
                <a:cs typeface="Arial"/>
              </a:rPr>
              <a:t>BPR 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的思想很简单，就是让正</a:t>
            </a:r>
            <a:r>
              <a:rPr sz="1400" spc="5" dirty="0">
                <a:latin typeface="宋体"/>
                <a:cs typeface="宋体"/>
              </a:rPr>
              <a:t>样 </a:t>
            </a:r>
            <a:r>
              <a:rPr sz="1400" dirty="0">
                <a:latin typeface="宋体"/>
                <a:cs typeface="宋体"/>
              </a:rPr>
              <a:t>本和负样本的得分之差尽可能达到最</a:t>
            </a:r>
            <a:r>
              <a:rPr sz="1400" dirty="0">
                <a:latin typeface="Microsoft YaHei UI"/>
                <a:cs typeface="Microsoft YaHei UI"/>
              </a:rPr>
              <a:t>⼤</a:t>
            </a:r>
            <a:r>
              <a:rPr sz="1400" dirty="0">
                <a:latin typeface="宋体"/>
                <a:cs typeface="宋体"/>
              </a:rPr>
              <a:t>。具体公式如下</a:t>
            </a:r>
            <a:r>
              <a:rPr sz="1400" spc="5" dirty="0">
                <a:latin typeface="宋体"/>
                <a:cs typeface="宋体"/>
              </a:rPr>
              <a:t>：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650" y="3986708"/>
            <a:ext cx="9949180" cy="146939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4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b="1" spc="-5" dirty="0">
                <a:latin typeface="Arial"/>
                <a:cs typeface="Arial"/>
              </a:rPr>
              <a:t>Cosine Contrastive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400" dirty="0">
                <a:latin typeface="宋体"/>
                <a:cs typeface="宋体"/>
              </a:rPr>
              <a:t>给定正样本用户</a:t>
            </a:r>
            <a:r>
              <a:rPr sz="1400" spc="-5" dirty="0">
                <a:latin typeface="Arial"/>
                <a:cs typeface="Arial"/>
              </a:rPr>
              <a:t>-</a:t>
            </a:r>
            <a:r>
              <a:rPr sz="1400" dirty="0">
                <a:latin typeface="宋体"/>
                <a:cs typeface="宋体"/>
              </a:rPr>
              <a:t>商品对</a:t>
            </a:r>
            <a:r>
              <a:rPr sz="1400" spc="-5" dirty="0">
                <a:latin typeface="Arial"/>
                <a:cs typeface="Arial"/>
              </a:rPr>
              <a:t>(u,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i)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和一些随机采样得到的负样本集合</a:t>
            </a:r>
            <a:r>
              <a:rPr sz="1400" spc="-5" dirty="0">
                <a:latin typeface="Arial"/>
                <a:cs typeface="Arial"/>
              </a:rPr>
              <a:t>N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spc="-5" dirty="0">
                <a:latin typeface="Arial"/>
                <a:cs typeface="Arial"/>
              </a:rPr>
              <a:t>CCL</a:t>
            </a:r>
            <a:r>
              <a:rPr sz="1400" dirty="0">
                <a:latin typeface="宋体"/>
                <a:cs typeface="宋体"/>
              </a:rPr>
              <a:t>可以表示为下式，其中</a:t>
            </a:r>
            <a:r>
              <a:rPr sz="1400" spc="-5" dirty="0">
                <a:latin typeface="Arial"/>
                <a:cs typeface="Arial"/>
              </a:rPr>
              <a:t>y</a:t>
            </a:r>
            <a:r>
              <a:rPr sz="1400" dirty="0">
                <a:latin typeface="宋体"/>
                <a:cs typeface="宋体"/>
              </a:rPr>
              <a:t>表示</a:t>
            </a:r>
            <a:r>
              <a:rPr sz="1400" spc="-5" dirty="0">
                <a:latin typeface="Arial"/>
                <a:cs typeface="Arial"/>
              </a:rPr>
              <a:t>u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spc="-5" dirty="0">
                <a:latin typeface="Arial"/>
                <a:cs typeface="Arial"/>
              </a:rPr>
              <a:t>i</a:t>
            </a:r>
            <a:r>
              <a:rPr sz="1400" dirty="0">
                <a:latin typeface="宋体"/>
                <a:cs typeface="宋体"/>
              </a:rPr>
              <a:t>表征的余弦相似度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latin typeface="Arial"/>
                <a:cs typeface="Arial"/>
              </a:rPr>
              <a:t>m</a:t>
            </a:r>
            <a:r>
              <a:rPr sz="1400" dirty="0">
                <a:latin typeface="宋体"/>
                <a:cs typeface="宋体"/>
              </a:rPr>
              <a:t>属于</a:t>
            </a:r>
            <a:r>
              <a:rPr sz="1400" spc="-5" dirty="0">
                <a:latin typeface="Arial"/>
                <a:cs typeface="Arial"/>
              </a:rPr>
              <a:t>0~1</a:t>
            </a:r>
            <a:r>
              <a:rPr sz="1400" dirty="0">
                <a:latin typeface="宋体"/>
                <a:cs typeface="宋体"/>
              </a:rPr>
              <a:t>是边距阈值，用于过滤负样本。含义</a:t>
            </a:r>
            <a:r>
              <a:rPr sz="1400" spc="-5" dirty="0">
                <a:latin typeface="宋体"/>
                <a:cs typeface="宋体"/>
              </a:rPr>
              <a:t>：</a:t>
            </a:r>
            <a:r>
              <a:rPr sz="1400" spc="-5" dirty="0">
                <a:latin typeface="Arial"/>
                <a:cs typeface="Arial"/>
              </a:rPr>
              <a:t>CCL</a:t>
            </a:r>
            <a:r>
              <a:rPr sz="1400" dirty="0">
                <a:latin typeface="宋体"/>
                <a:cs typeface="宋体"/>
              </a:rPr>
              <a:t>被优化以最大化正对之间的相似性，并最小化边距约束下的负对的相似性</a:t>
            </a:r>
            <a:r>
              <a:rPr sz="140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00" dirty="0">
                <a:latin typeface="宋体"/>
                <a:cs typeface="宋体"/>
              </a:rPr>
              <a:t>是一个超参数，用于控制正样本损失和负样本损失的相对权重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47971" y="3393947"/>
            <a:ext cx="2727960" cy="6172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24071" y="5608320"/>
            <a:ext cx="4777739" cy="7239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249424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257425" cy="375920"/>
          </a:xfrm>
          <a:custGeom>
            <a:avLst/>
            <a:gdLst/>
            <a:ahLst/>
            <a:cxnLst/>
            <a:rect l="l" t="t" r="r" b="b"/>
            <a:pathLst>
              <a:path w="2257425" h="375919">
                <a:moveTo>
                  <a:pt x="225361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253615" y="0"/>
                </a:lnTo>
                <a:lnTo>
                  <a:pt x="2255075" y="292"/>
                </a:lnTo>
                <a:lnTo>
                  <a:pt x="2256307" y="1117"/>
                </a:lnTo>
                <a:lnTo>
                  <a:pt x="2257132" y="2362"/>
                </a:lnTo>
                <a:lnTo>
                  <a:pt x="22574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257425" y="372110"/>
                </a:lnTo>
                <a:lnTo>
                  <a:pt x="2257132" y="373570"/>
                </a:lnTo>
                <a:lnTo>
                  <a:pt x="2256307" y="374802"/>
                </a:lnTo>
                <a:lnTo>
                  <a:pt x="2255075" y="375627"/>
                </a:lnTo>
                <a:lnTo>
                  <a:pt x="2253615" y="375920"/>
                </a:lnTo>
                <a:close/>
              </a:path>
              <a:path w="225742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257425" h="375919">
                <a:moveTo>
                  <a:pt x="22498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249805" y="3810"/>
                </a:lnTo>
                <a:lnTo>
                  <a:pt x="2249805" y="762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2249805" y="3810"/>
                </a:lnTo>
                <a:lnTo>
                  <a:pt x="2253615" y="7620"/>
                </a:lnTo>
                <a:lnTo>
                  <a:pt x="2257425" y="7620"/>
                </a:lnTo>
                <a:lnTo>
                  <a:pt x="2257425" y="368300"/>
                </a:lnTo>
                <a:lnTo>
                  <a:pt x="225361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7620"/>
                </a:moveTo>
                <a:lnTo>
                  <a:pt x="2253615" y="7620"/>
                </a:lnTo>
                <a:lnTo>
                  <a:pt x="2249805" y="3810"/>
                </a:lnTo>
                <a:lnTo>
                  <a:pt x="2257425" y="3810"/>
                </a:lnTo>
                <a:lnTo>
                  <a:pt x="2257425" y="7620"/>
                </a:lnTo>
                <a:close/>
              </a:path>
              <a:path w="225742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24980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372110"/>
                </a:moveTo>
                <a:lnTo>
                  <a:pt x="2249805" y="372110"/>
                </a:lnTo>
                <a:lnTo>
                  <a:pt x="2253615" y="368300"/>
                </a:lnTo>
                <a:lnTo>
                  <a:pt x="2257425" y="368300"/>
                </a:lnTo>
                <a:lnTo>
                  <a:pt x="225742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4719" y="1333207"/>
            <a:ext cx="1849221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2096769"/>
            <a:ext cx="43643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084" indent="-413384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Dice Loss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BCEWithLogitsLoss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249424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257425" cy="375920"/>
          </a:xfrm>
          <a:custGeom>
            <a:avLst/>
            <a:gdLst/>
            <a:ahLst/>
            <a:cxnLst/>
            <a:rect l="l" t="t" r="r" b="b"/>
            <a:pathLst>
              <a:path w="2257425" h="375919">
                <a:moveTo>
                  <a:pt x="225361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253615" y="0"/>
                </a:lnTo>
                <a:lnTo>
                  <a:pt x="2255075" y="292"/>
                </a:lnTo>
                <a:lnTo>
                  <a:pt x="2256307" y="1117"/>
                </a:lnTo>
                <a:lnTo>
                  <a:pt x="2257132" y="2362"/>
                </a:lnTo>
                <a:lnTo>
                  <a:pt x="22574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257425" y="372110"/>
                </a:lnTo>
                <a:lnTo>
                  <a:pt x="2257132" y="373570"/>
                </a:lnTo>
                <a:lnTo>
                  <a:pt x="2256307" y="374802"/>
                </a:lnTo>
                <a:lnTo>
                  <a:pt x="2255075" y="375627"/>
                </a:lnTo>
                <a:lnTo>
                  <a:pt x="2253615" y="375920"/>
                </a:lnTo>
                <a:close/>
              </a:path>
              <a:path w="225742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257425" h="375919">
                <a:moveTo>
                  <a:pt x="22498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249805" y="3810"/>
                </a:lnTo>
                <a:lnTo>
                  <a:pt x="2249805" y="762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2249805" y="3810"/>
                </a:lnTo>
                <a:lnTo>
                  <a:pt x="2253615" y="7620"/>
                </a:lnTo>
                <a:lnTo>
                  <a:pt x="2257425" y="7620"/>
                </a:lnTo>
                <a:lnTo>
                  <a:pt x="2257425" y="368300"/>
                </a:lnTo>
                <a:lnTo>
                  <a:pt x="225361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7620"/>
                </a:moveTo>
                <a:lnTo>
                  <a:pt x="2253615" y="7620"/>
                </a:lnTo>
                <a:lnTo>
                  <a:pt x="2249805" y="3810"/>
                </a:lnTo>
                <a:lnTo>
                  <a:pt x="2257425" y="3810"/>
                </a:lnTo>
                <a:lnTo>
                  <a:pt x="2257425" y="7620"/>
                </a:lnTo>
                <a:close/>
              </a:path>
              <a:path w="225742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24980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372110"/>
                </a:moveTo>
                <a:lnTo>
                  <a:pt x="2249805" y="372110"/>
                </a:lnTo>
                <a:lnTo>
                  <a:pt x="2253615" y="368300"/>
                </a:lnTo>
                <a:lnTo>
                  <a:pt x="2257425" y="368300"/>
                </a:lnTo>
                <a:lnTo>
                  <a:pt x="225742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4719" y="1333207"/>
            <a:ext cx="1849221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1929308"/>
            <a:ext cx="9893935" cy="210947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26084" indent="-413384">
              <a:lnSpc>
                <a:spcPct val="100000"/>
              </a:lnSpc>
              <a:spcBef>
                <a:spcPts val="1420"/>
              </a:spcBef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Dice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endParaRPr sz="2000">
              <a:latin typeface="Arial"/>
              <a:cs typeface="Arial"/>
            </a:endParaRPr>
          </a:p>
          <a:p>
            <a:pPr marL="12700" marR="228600">
              <a:lnSpc>
                <a:spcPct val="150000"/>
              </a:lnSpc>
              <a:spcBef>
                <a:spcPts val="90"/>
              </a:spcBef>
            </a:pPr>
            <a:r>
              <a:rPr sz="1400" spc="-5" dirty="0">
                <a:latin typeface="Arial"/>
                <a:cs typeface="Arial"/>
              </a:rPr>
              <a:t>Dice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dirty="0">
                <a:latin typeface="宋体"/>
                <a:cs typeface="宋体"/>
              </a:rPr>
              <a:t>是</a:t>
            </a:r>
            <a:r>
              <a:rPr sz="1400" spc="-5" dirty="0">
                <a:latin typeface="Arial"/>
                <a:cs typeface="Arial"/>
              </a:rPr>
              <a:t>Fausto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Milletari</a:t>
            </a:r>
            <a:r>
              <a:rPr sz="1400" dirty="0">
                <a:latin typeface="宋体"/>
                <a:cs typeface="宋体"/>
              </a:rPr>
              <a:t>等人在</a:t>
            </a:r>
            <a:r>
              <a:rPr sz="1400" spc="-20" dirty="0">
                <a:latin typeface="Arial"/>
                <a:cs typeface="Arial"/>
              </a:rPr>
              <a:t>V-net</a:t>
            </a:r>
            <a:r>
              <a:rPr sz="1400" dirty="0">
                <a:latin typeface="宋体"/>
                <a:cs typeface="宋体"/>
              </a:rPr>
              <a:t>中提出的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function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其源于</a:t>
            </a:r>
            <a:r>
              <a:rPr sz="1400" spc="-5" dirty="0">
                <a:latin typeface="Arial"/>
                <a:cs typeface="Arial"/>
              </a:rPr>
              <a:t>Sørensen–Dice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coefficient</a:t>
            </a:r>
            <a:r>
              <a:rPr sz="1400" spc="-10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是</a:t>
            </a:r>
            <a:r>
              <a:rPr sz="1400" spc="-5" dirty="0">
                <a:latin typeface="Arial"/>
                <a:cs typeface="Arial"/>
              </a:rPr>
              <a:t>Thorvald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Sørensen</a:t>
            </a:r>
            <a:r>
              <a:rPr sz="1400" spc="5" dirty="0">
                <a:latin typeface="宋体"/>
                <a:cs typeface="宋体"/>
              </a:rPr>
              <a:t>和 </a:t>
            </a:r>
            <a:r>
              <a:rPr sz="1400" spc="-5" dirty="0">
                <a:latin typeface="Arial"/>
                <a:cs typeface="Arial"/>
              </a:rPr>
              <a:t>Lee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Raymond Dice</a:t>
            </a:r>
            <a:r>
              <a:rPr sz="1400" dirty="0">
                <a:latin typeface="宋体"/>
                <a:cs typeface="宋体"/>
              </a:rPr>
              <a:t>于</a:t>
            </a:r>
            <a:r>
              <a:rPr sz="1400" spc="-5" dirty="0">
                <a:latin typeface="Arial"/>
                <a:cs typeface="Arial"/>
              </a:rPr>
              <a:t>1945</a:t>
            </a:r>
            <a:r>
              <a:rPr sz="1400" dirty="0">
                <a:latin typeface="宋体"/>
                <a:cs typeface="宋体"/>
              </a:rPr>
              <a:t>年发展出的统计学指标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1400" dirty="0">
                <a:latin typeface="宋体"/>
                <a:cs typeface="宋体"/>
              </a:rPr>
              <a:t>在了解</a:t>
            </a:r>
            <a:r>
              <a:rPr sz="1400" spc="-5" dirty="0">
                <a:latin typeface="宋体"/>
                <a:cs typeface="宋体"/>
              </a:rPr>
              <a:t>Dice</a:t>
            </a:r>
            <a:r>
              <a:rPr sz="1400" spc="-10" dirty="0">
                <a:latin typeface="宋体"/>
                <a:cs typeface="宋体"/>
              </a:rPr>
              <a:t> </a:t>
            </a:r>
            <a:r>
              <a:rPr sz="1400" spc="-5" dirty="0">
                <a:latin typeface="宋体"/>
                <a:cs typeface="宋体"/>
              </a:rPr>
              <a:t>loss</a:t>
            </a:r>
            <a:r>
              <a:rPr sz="1400" dirty="0">
                <a:latin typeface="宋体"/>
                <a:cs typeface="宋体"/>
              </a:rPr>
              <a:t>之前我们先看下</a:t>
            </a:r>
            <a:r>
              <a:rPr sz="1400" spc="-5" dirty="0">
                <a:latin typeface="宋体"/>
                <a:cs typeface="宋体"/>
              </a:rPr>
              <a:t>dice</a:t>
            </a:r>
            <a:r>
              <a:rPr sz="1400" dirty="0">
                <a:latin typeface="宋体"/>
                <a:cs typeface="宋体"/>
              </a:rPr>
              <a:t>系数是怎么定义的</a:t>
            </a:r>
            <a:r>
              <a:rPr sz="1400" spc="-5" dirty="0">
                <a:latin typeface="宋体"/>
                <a:cs typeface="宋体"/>
              </a:rPr>
              <a:t>，dice</a:t>
            </a:r>
            <a:r>
              <a:rPr sz="1400" dirty="0">
                <a:latin typeface="宋体"/>
                <a:cs typeface="宋体"/>
              </a:rPr>
              <a:t>系数是根据</a:t>
            </a:r>
            <a:r>
              <a:rPr sz="1400" spc="-5" dirty="0">
                <a:latin typeface="宋体"/>
                <a:cs typeface="宋体"/>
              </a:rPr>
              <a:t> Lee Raymond</a:t>
            </a:r>
            <a:r>
              <a:rPr sz="1400" spc="-10" dirty="0">
                <a:latin typeface="宋体"/>
                <a:cs typeface="宋体"/>
              </a:rPr>
              <a:t> </a:t>
            </a:r>
            <a:r>
              <a:rPr sz="1400" spc="-5" dirty="0">
                <a:latin typeface="宋体"/>
                <a:cs typeface="宋体"/>
              </a:rPr>
              <a:t>Dice </a:t>
            </a:r>
            <a:r>
              <a:rPr sz="1400" dirty="0">
                <a:latin typeface="宋体"/>
                <a:cs typeface="宋体"/>
              </a:rPr>
              <a:t>命名，是一种集合相似度度量</a:t>
            </a:r>
            <a:r>
              <a:rPr sz="1400" spc="5" dirty="0">
                <a:latin typeface="宋体"/>
                <a:cs typeface="宋体"/>
              </a:rPr>
              <a:t>函</a:t>
            </a:r>
            <a:endParaRPr sz="1400">
              <a:latin typeface="宋体"/>
              <a:cs typeface="宋体"/>
            </a:endParaRPr>
          </a:p>
          <a:p>
            <a:pPr marL="12700" marR="93980">
              <a:lnSpc>
                <a:spcPct val="149700"/>
              </a:lnSpc>
              <a:spcBef>
                <a:spcPts val="10"/>
              </a:spcBef>
            </a:pPr>
            <a:r>
              <a:rPr sz="1400" dirty="0">
                <a:latin typeface="宋体"/>
                <a:cs typeface="宋体"/>
              </a:rPr>
              <a:t>数，通常用于计算两个样本的相似度</a:t>
            </a:r>
            <a:r>
              <a:rPr sz="1400" spc="-5" dirty="0">
                <a:latin typeface="宋体"/>
                <a:cs typeface="宋体"/>
              </a:rPr>
              <a:t>(</a:t>
            </a:r>
            <a:r>
              <a:rPr sz="1400" dirty="0">
                <a:latin typeface="宋体"/>
                <a:cs typeface="宋体"/>
              </a:rPr>
              <a:t>值范围为</a:t>
            </a:r>
            <a:r>
              <a:rPr sz="1400" spc="-5" dirty="0">
                <a:latin typeface="宋体"/>
                <a:cs typeface="宋体"/>
              </a:rPr>
              <a:t> [0, 1])，|X</a:t>
            </a:r>
            <a:r>
              <a:rPr sz="1400" spc="-5" dirty="0">
                <a:latin typeface="MS UI Gothic"/>
                <a:cs typeface="MS UI Gothic"/>
              </a:rPr>
              <a:t>⋂</a:t>
            </a:r>
            <a:r>
              <a:rPr sz="1400" spc="265" dirty="0">
                <a:latin typeface="MS UI Gothic"/>
                <a:cs typeface="MS UI Gothic"/>
              </a:rPr>
              <a:t> </a:t>
            </a:r>
            <a:r>
              <a:rPr sz="1400" spc="-5" dirty="0">
                <a:latin typeface="宋体"/>
                <a:cs typeface="宋体"/>
              </a:rPr>
              <a:t>Y| - X </a:t>
            </a:r>
            <a:r>
              <a:rPr sz="1400" dirty="0">
                <a:latin typeface="宋体"/>
                <a:cs typeface="宋体"/>
              </a:rPr>
              <a:t>和</a:t>
            </a:r>
            <a:r>
              <a:rPr sz="1400" spc="-5" dirty="0">
                <a:latin typeface="宋体"/>
                <a:cs typeface="宋体"/>
              </a:rPr>
              <a:t> Y </a:t>
            </a:r>
            <a:r>
              <a:rPr sz="1400" dirty="0">
                <a:latin typeface="宋体"/>
                <a:cs typeface="宋体"/>
              </a:rPr>
              <a:t>之间的交集</a:t>
            </a:r>
            <a:r>
              <a:rPr sz="1400" spc="-5" dirty="0">
                <a:latin typeface="宋体"/>
                <a:cs typeface="宋体"/>
              </a:rPr>
              <a:t>；|X|</a:t>
            </a:r>
            <a:r>
              <a:rPr sz="1400" dirty="0">
                <a:latin typeface="宋体"/>
                <a:cs typeface="宋体"/>
              </a:rPr>
              <a:t> 和</a:t>
            </a:r>
            <a:r>
              <a:rPr sz="1400" spc="-5" dirty="0">
                <a:latin typeface="宋体"/>
                <a:cs typeface="宋体"/>
              </a:rPr>
              <a:t> |Y| </a:t>
            </a:r>
            <a:r>
              <a:rPr sz="1400" dirty="0">
                <a:latin typeface="宋体"/>
                <a:cs typeface="宋体"/>
              </a:rPr>
              <a:t>分别表示</a:t>
            </a:r>
            <a:r>
              <a:rPr sz="1400" spc="-5" dirty="0">
                <a:latin typeface="宋体"/>
                <a:cs typeface="宋体"/>
              </a:rPr>
              <a:t> X </a:t>
            </a:r>
            <a:r>
              <a:rPr sz="1400" dirty="0">
                <a:latin typeface="宋体"/>
                <a:cs typeface="宋体"/>
              </a:rPr>
              <a:t>和</a:t>
            </a:r>
            <a:r>
              <a:rPr sz="1400" spc="-5" dirty="0">
                <a:latin typeface="宋体"/>
                <a:cs typeface="宋体"/>
              </a:rPr>
              <a:t> Y </a:t>
            </a:r>
            <a:r>
              <a:rPr sz="1400" dirty="0">
                <a:latin typeface="宋体"/>
                <a:cs typeface="宋体"/>
              </a:rPr>
              <a:t>的</a:t>
            </a:r>
            <a:r>
              <a:rPr sz="1400" spc="5" dirty="0">
                <a:latin typeface="宋体"/>
                <a:cs typeface="宋体"/>
              </a:rPr>
              <a:t>元 </a:t>
            </a:r>
            <a:r>
              <a:rPr sz="1400" dirty="0">
                <a:latin typeface="宋体"/>
                <a:cs typeface="宋体"/>
              </a:rPr>
              <a:t>素个数</a:t>
            </a:r>
            <a:r>
              <a:rPr sz="1400" spc="-5" dirty="0">
                <a:latin typeface="宋体"/>
                <a:cs typeface="宋体"/>
              </a:rPr>
              <a:t>.</a:t>
            </a:r>
            <a:r>
              <a:rPr sz="1400" spc="-10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其中，分子中的系数</a:t>
            </a:r>
            <a:r>
              <a:rPr sz="1400" spc="-5" dirty="0">
                <a:latin typeface="宋体"/>
                <a:cs typeface="宋体"/>
              </a:rPr>
              <a:t> 2，</a:t>
            </a:r>
            <a:r>
              <a:rPr sz="1400" dirty="0">
                <a:latin typeface="宋体"/>
                <a:cs typeface="宋体"/>
              </a:rPr>
              <a:t>是因为分母存在重复计算</a:t>
            </a:r>
            <a:r>
              <a:rPr sz="1400" spc="-5" dirty="0">
                <a:latin typeface="宋体"/>
                <a:cs typeface="宋体"/>
              </a:rPr>
              <a:t> X </a:t>
            </a:r>
            <a:r>
              <a:rPr sz="1400" dirty="0">
                <a:latin typeface="宋体"/>
                <a:cs typeface="宋体"/>
              </a:rPr>
              <a:t>和</a:t>
            </a:r>
            <a:r>
              <a:rPr sz="1400" spc="-5" dirty="0">
                <a:latin typeface="宋体"/>
                <a:cs typeface="宋体"/>
              </a:rPr>
              <a:t> Y </a:t>
            </a:r>
            <a:r>
              <a:rPr sz="1400" dirty="0">
                <a:latin typeface="宋体"/>
                <a:cs typeface="宋体"/>
              </a:rPr>
              <a:t>之间的共同元素的原因</a:t>
            </a:r>
            <a:r>
              <a:rPr sz="1400" spc="-5" dirty="0">
                <a:latin typeface="宋体"/>
                <a:cs typeface="宋体"/>
              </a:rPr>
              <a:t>.</a:t>
            </a:r>
            <a:r>
              <a:rPr sz="1400" dirty="0">
                <a:latin typeface="宋体"/>
                <a:cs typeface="宋体"/>
              </a:rPr>
              <a:t>公式如下</a:t>
            </a:r>
            <a:r>
              <a:rPr sz="1400" spc="5" dirty="0">
                <a:latin typeface="宋体"/>
                <a:cs typeface="宋体"/>
              </a:rPr>
              <a:t>：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650" y="5399404"/>
            <a:ext cx="20707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因此</a:t>
            </a:r>
            <a:r>
              <a:rPr sz="1400" spc="-5" dirty="0">
                <a:latin typeface="宋体"/>
                <a:cs typeface="宋体"/>
              </a:rPr>
              <a:t>Dice</a:t>
            </a:r>
            <a:r>
              <a:rPr sz="1400" spc="-75" dirty="0">
                <a:latin typeface="宋体"/>
                <a:cs typeface="宋体"/>
              </a:rPr>
              <a:t> </a:t>
            </a:r>
            <a:r>
              <a:rPr sz="1400" spc="-5" dirty="0">
                <a:latin typeface="宋体"/>
                <a:cs typeface="宋体"/>
              </a:rPr>
              <a:t>loss</a:t>
            </a:r>
            <a:r>
              <a:rPr sz="1400" dirty="0">
                <a:latin typeface="宋体"/>
                <a:cs typeface="宋体"/>
              </a:rPr>
              <a:t>可以写为</a:t>
            </a:r>
            <a:r>
              <a:rPr sz="1400" spc="5" dirty="0">
                <a:latin typeface="宋体"/>
                <a:cs typeface="宋体"/>
              </a:rPr>
              <a:t>：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650" y="6359525"/>
            <a:ext cx="85604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论文链接</a:t>
            </a:r>
            <a:r>
              <a:rPr sz="1400" spc="-5" dirty="0">
                <a:latin typeface="宋体"/>
                <a:cs typeface="宋体"/>
              </a:rPr>
              <a:t>:</a:t>
            </a:r>
            <a:r>
              <a:rPr sz="1400" spc="10" dirty="0"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V-Net: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Fully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Convolutional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Neural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Networks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for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Volumetric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Medical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Image</a:t>
            </a:r>
            <a:r>
              <a:rPr sz="1400" u="sng" spc="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4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Segmentation</a:t>
            </a:r>
            <a:r>
              <a:rPr sz="1400" dirty="0">
                <a:solidFill>
                  <a:srgbClr val="0562C1"/>
                </a:solidFill>
                <a:latin typeface="宋体"/>
                <a:cs typeface="宋体"/>
              </a:rPr>
              <a:t> 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12791" y="4287011"/>
            <a:ext cx="1965960" cy="7162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56403" y="5372100"/>
            <a:ext cx="2058924" cy="684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249424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257425" cy="375920"/>
          </a:xfrm>
          <a:custGeom>
            <a:avLst/>
            <a:gdLst/>
            <a:ahLst/>
            <a:cxnLst/>
            <a:rect l="l" t="t" r="r" b="b"/>
            <a:pathLst>
              <a:path w="2257425" h="375919">
                <a:moveTo>
                  <a:pt x="225361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253615" y="0"/>
                </a:lnTo>
                <a:lnTo>
                  <a:pt x="2255075" y="292"/>
                </a:lnTo>
                <a:lnTo>
                  <a:pt x="2256307" y="1117"/>
                </a:lnTo>
                <a:lnTo>
                  <a:pt x="2257132" y="2362"/>
                </a:lnTo>
                <a:lnTo>
                  <a:pt x="22574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257425" y="372110"/>
                </a:lnTo>
                <a:lnTo>
                  <a:pt x="2257132" y="373570"/>
                </a:lnTo>
                <a:lnTo>
                  <a:pt x="2256307" y="374802"/>
                </a:lnTo>
                <a:lnTo>
                  <a:pt x="2255075" y="375627"/>
                </a:lnTo>
                <a:lnTo>
                  <a:pt x="2253615" y="375920"/>
                </a:lnTo>
                <a:close/>
              </a:path>
              <a:path w="225742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257425" h="375919">
                <a:moveTo>
                  <a:pt x="22498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249805" y="3810"/>
                </a:lnTo>
                <a:lnTo>
                  <a:pt x="2249805" y="762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2249805" y="3810"/>
                </a:lnTo>
                <a:lnTo>
                  <a:pt x="2253615" y="7620"/>
                </a:lnTo>
                <a:lnTo>
                  <a:pt x="2257425" y="7620"/>
                </a:lnTo>
                <a:lnTo>
                  <a:pt x="2257425" y="368300"/>
                </a:lnTo>
                <a:lnTo>
                  <a:pt x="225361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7620"/>
                </a:moveTo>
                <a:lnTo>
                  <a:pt x="2253615" y="7620"/>
                </a:lnTo>
                <a:lnTo>
                  <a:pt x="2249805" y="3810"/>
                </a:lnTo>
                <a:lnTo>
                  <a:pt x="2257425" y="3810"/>
                </a:lnTo>
                <a:lnTo>
                  <a:pt x="2257425" y="7620"/>
                </a:lnTo>
                <a:close/>
              </a:path>
              <a:path w="225742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24980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372110"/>
                </a:moveTo>
                <a:lnTo>
                  <a:pt x="2249805" y="372110"/>
                </a:lnTo>
                <a:lnTo>
                  <a:pt x="2253615" y="368300"/>
                </a:lnTo>
                <a:lnTo>
                  <a:pt x="2257425" y="368300"/>
                </a:lnTo>
                <a:lnTo>
                  <a:pt x="225742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4719" y="1333207"/>
            <a:ext cx="1849221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1929308"/>
            <a:ext cx="5480685" cy="242951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26084" indent="-413384">
              <a:lnSpc>
                <a:spcPct val="100000"/>
              </a:lnSpc>
              <a:spcBef>
                <a:spcPts val="1420"/>
              </a:spcBef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Dice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400" dirty="0">
                <a:latin typeface="宋体"/>
                <a:cs typeface="宋体"/>
              </a:rPr>
              <a:t>对于二分类问题，一般预测值分为以下几种</a:t>
            </a:r>
            <a:r>
              <a:rPr sz="140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49900"/>
              </a:lnSpc>
              <a:spcBef>
                <a:spcPts val="5"/>
              </a:spcBef>
            </a:pPr>
            <a:r>
              <a:rPr sz="1400" spc="-5" dirty="0">
                <a:latin typeface="Arial"/>
                <a:cs typeface="Arial"/>
              </a:rPr>
              <a:t>TP: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true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positive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真阳性，预测是阳性，预测对了，实际也是正例</a:t>
            </a:r>
            <a:r>
              <a:rPr sz="1400" spc="5" dirty="0">
                <a:latin typeface="宋体"/>
                <a:cs typeface="宋体"/>
              </a:rPr>
              <a:t>。 </a:t>
            </a:r>
            <a:r>
              <a:rPr sz="1400" spc="-5" dirty="0">
                <a:latin typeface="Arial"/>
                <a:cs typeface="Arial"/>
              </a:rPr>
              <a:t>TN: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true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negative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真阴性，预测是阴性，预测对了，实际也是负例</a:t>
            </a:r>
            <a:r>
              <a:rPr sz="1400" spc="5" dirty="0">
                <a:latin typeface="宋体"/>
                <a:cs typeface="宋体"/>
              </a:rPr>
              <a:t>。 </a:t>
            </a:r>
            <a:r>
              <a:rPr sz="1400" spc="-5" dirty="0">
                <a:latin typeface="Arial"/>
                <a:cs typeface="Arial"/>
              </a:rPr>
              <a:t>FP: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false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positive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假阳性，预测是阳性，预测错了，实际是负例</a:t>
            </a:r>
            <a:r>
              <a:rPr sz="1400" spc="5" dirty="0">
                <a:latin typeface="宋体"/>
                <a:cs typeface="宋体"/>
              </a:rPr>
              <a:t>。 </a:t>
            </a:r>
            <a:r>
              <a:rPr sz="1400" spc="-5" dirty="0">
                <a:latin typeface="Arial"/>
                <a:cs typeface="Arial"/>
              </a:rPr>
              <a:t>FN: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false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negative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假阴性，预测是阴性，预测错了，实际是正例</a:t>
            </a:r>
            <a:r>
              <a:rPr sz="1400" spc="5" dirty="0">
                <a:latin typeface="宋体"/>
                <a:cs typeface="宋体"/>
              </a:rPr>
              <a:t>。 </a:t>
            </a:r>
            <a:r>
              <a:rPr sz="1400" dirty="0">
                <a:latin typeface="宋体"/>
                <a:cs typeface="宋体"/>
              </a:rPr>
              <a:t>这里</a:t>
            </a:r>
            <a:r>
              <a:rPr sz="1400" b="1" dirty="0">
                <a:latin typeface="宋体"/>
                <a:cs typeface="宋体"/>
              </a:rPr>
              <a:t>dice</a:t>
            </a:r>
            <a:r>
              <a:rPr sz="1400" b="1" spc="-5" dirty="0">
                <a:latin typeface="宋体"/>
                <a:cs typeface="宋体"/>
              </a:rPr>
              <a:t> </a:t>
            </a:r>
            <a:r>
              <a:rPr sz="1400" b="1" dirty="0">
                <a:latin typeface="宋体"/>
                <a:cs typeface="宋体"/>
              </a:rPr>
              <a:t>coefficient</a:t>
            </a:r>
            <a:r>
              <a:rPr sz="1400" dirty="0">
                <a:latin typeface="宋体"/>
                <a:cs typeface="宋体"/>
              </a:rPr>
              <a:t>可以写成如下形式: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2650" y="5079365"/>
            <a:ext cx="1003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而我们知道: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14571" y="4402835"/>
            <a:ext cx="2567940" cy="685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94788" y="5366003"/>
            <a:ext cx="6263640" cy="14097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249424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257425" cy="375920"/>
          </a:xfrm>
          <a:custGeom>
            <a:avLst/>
            <a:gdLst/>
            <a:ahLst/>
            <a:cxnLst/>
            <a:rect l="l" t="t" r="r" b="b"/>
            <a:pathLst>
              <a:path w="2257425" h="375919">
                <a:moveTo>
                  <a:pt x="225361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253615" y="0"/>
                </a:lnTo>
                <a:lnTo>
                  <a:pt x="2255075" y="292"/>
                </a:lnTo>
                <a:lnTo>
                  <a:pt x="2256307" y="1117"/>
                </a:lnTo>
                <a:lnTo>
                  <a:pt x="2257132" y="2362"/>
                </a:lnTo>
                <a:lnTo>
                  <a:pt x="22574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257425" y="372110"/>
                </a:lnTo>
                <a:lnTo>
                  <a:pt x="2257132" y="373570"/>
                </a:lnTo>
                <a:lnTo>
                  <a:pt x="2256307" y="374802"/>
                </a:lnTo>
                <a:lnTo>
                  <a:pt x="2255075" y="375627"/>
                </a:lnTo>
                <a:lnTo>
                  <a:pt x="2253615" y="375920"/>
                </a:lnTo>
                <a:close/>
              </a:path>
              <a:path w="225742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257425" h="375919">
                <a:moveTo>
                  <a:pt x="22498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249805" y="3810"/>
                </a:lnTo>
                <a:lnTo>
                  <a:pt x="2249805" y="762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2249805" y="3810"/>
                </a:lnTo>
                <a:lnTo>
                  <a:pt x="2253615" y="7620"/>
                </a:lnTo>
                <a:lnTo>
                  <a:pt x="2257425" y="7620"/>
                </a:lnTo>
                <a:lnTo>
                  <a:pt x="2257425" y="368300"/>
                </a:lnTo>
                <a:lnTo>
                  <a:pt x="225361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7620"/>
                </a:moveTo>
                <a:lnTo>
                  <a:pt x="2253615" y="7620"/>
                </a:lnTo>
                <a:lnTo>
                  <a:pt x="2249805" y="3810"/>
                </a:lnTo>
                <a:lnTo>
                  <a:pt x="2257425" y="3810"/>
                </a:lnTo>
                <a:lnTo>
                  <a:pt x="2257425" y="7620"/>
                </a:lnTo>
                <a:close/>
              </a:path>
              <a:path w="225742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24980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372110"/>
                </a:moveTo>
                <a:lnTo>
                  <a:pt x="2249805" y="372110"/>
                </a:lnTo>
                <a:lnTo>
                  <a:pt x="2253615" y="368300"/>
                </a:lnTo>
                <a:lnTo>
                  <a:pt x="2257425" y="368300"/>
                </a:lnTo>
                <a:lnTo>
                  <a:pt x="225742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4719" y="1333207"/>
            <a:ext cx="1849221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1933292"/>
            <a:ext cx="9944735" cy="4072254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Dice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600" dirty="0">
                <a:latin typeface="宋体"/>
                <a:cs typeface="宋体"/>
              </a:rPr>
              <a:t>可见</a:t>
            </a:r>
            <a:r>
              <a:rPr sz="1600" spc="-5" dirty="0">
                <a:latin typeface="Arial"/>
                <a:cs typeface="Arial"/>
              </a:rPr>
              <a:t>dice coefficient</a:t>
            </a:r>
            <a:r>
              <a:rPr sz="1600" dirty="0">
                <a:latin typeface="宋体"/>
                <a:cs typeface="宋体"/>
              </a:rPr>
              <a:t>是等同</a:t>
            </a:r>
            <a:r>
              <a:rPr sz="1600" spc="-5" dirty="0">
                <a:latin typeface="Arial"/>
                <a:cs typeface="Arial"/>
              </a:rPr>
              <a:t>F1 score</a:t>
            </a:r>
            <a:r>
              <a:rPr sz="1600" spc="-5" dirty="0">
                <a:latin typeface="宋体"/>
                <a:cs typeface="宋体"/>
              </a:rPr>
              <a:t>，</a:t>
            </a:r>
            <a:r>
              <a:rPr sz="1600" dirty="0">
                <a:latin typeface="宋体"/>
                <a:cs typeface="宋体"/>
              </a:rPr>
              <a:t>直观上</a:t>
            </a:r>
            <a:r>
              <a:rPr sz="1600" spc="-5" dirty="0">
                <a:latin typeface="Arial"/>
                <a:cs typeface="Arial"/>
              </a:rPr>
              <a:t>dice coefficient</a:t>
            </a:r>
            <a:r>
              <a:rPr sz="1600" dirty="0">
                <a:latin typeface="宋体"/>
                <a:cs typeface="宋体"/>
              </a:rPr>
              <a:t>是计算</a:t>
            </a:r>
            <a:r>
              <a:rPr sz="1600" spc="-5" dirty="0">
                <a:latin typeface="Arial"/>
                <a:cs typeface="Arial"/>
              </a:rPr>
              <a:t>X</a:t>
            </a:r>
            <a:r>
              <a:rPr sz="1600" dirty="0">
                <a:latin typeface="宋体"/>
                <a:cs typeface="宋体"/>
              </a:rPr>
              <a:t>与</a:t>
            </a:r>
            <a:r>
              <a:rPr sz="1600" spc="-5" dirty="0">
                <a:latin typeface="Arial"/>
                <a:cs typeface="Arial"/>
              </a:rPr>
              <a:t>Y</a:t>
            </a:r>
            <a:r>
              <a:rPr sz="1600" dirty="0">
                <a:latin typeface="宋体"/>
                <a:cs typeface="宋体"/>
              </a:rPr>
              <a:t>的相似性，本质上则同时隐含</a:t>
            </a:r>
            <a:r>
              <a:rPr sz="1600" spc="-5" dirty="0">
                <a:latin typeface="Arial"/>
                <a:cs typeface="Arial"/>
              </a:rPr>
              <a:t>precision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latin typeface="宋体"/>
                <a:cs typeface="宋体"/>
              </a:rPr>
              <a:t>和</a:t>
            </a:r>
            <a:r>
              <a:rPr sz="1600" spc="-5" dirty="0">
                <a:latin typeface="Arial"/>
                <a:cs typeface="Arial"/>
              </a:rPr>
              <a:t>recall</a:t>
            </a:r>
            <a:r>
              <a:rPr sz="1600" dirty="0">
                <a:latin typeface="宋体"/>
                <a:cs typeface="宋体"/>
              </a:rPr>
              <a:t>两个指标。可见</a:t>
            </a:r>
            <a:r>
              <a:rPr sz="1600" spc="-5" dirty="0">
                <a:latin typeface="Arial"/>
                <a:cs typeface="Arial"/>
              </a:rPr>
              <a:t>dice loss</a:t>
            </a:r>
            <a:r>
              <a:rPr sz="1600" dirty="0">
                <a:latin typeface="宋体"/>
                <a:cs typeface="宋体"/>
              </a:rPr>
              <a:t>是直接优化</a:t>
            </a:r>
            <a:r>
              <a:rPr sz="1600" spc="-5" dirty="0">
                <a:latin typeface="Arial"/>
                <a:cs typeface="Arial"/>
              </a:rPr>
              <a:t>F1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score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1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dirty="0">
                <a:latin typeface="宋体"/>
                <a:cs typeface="宋体"/>
              </a:rPr>
              <a:t>优</a:t>
            </a:r>
            <a:r>
              <a:rPr sz="2000" b="1" spc="-5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940"/>
              </a:spcBef>
              <a:buChar char="•"/>
              <a:tabLst>
                <a:tab pos="297815" algn="l"/>
                <a:tab pos="298450" algn="l"/>
              </a:tabLst>
            </a:pPr>
            <a:r>
              <a:rPr sz="1400" spc="-5" dirty="0">
                <a:latin typeface="Arial"/>
                <a:cs typeface="Arial"/>
              </a:rPr>
              <a:t>Dice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 </a:t>
            </a:r>
            <a:r>
              <a:rPr sz="1400" dirty="0">
                <a:latin typeface="宋体"/>
                <a:cs typeface="宋体"/>
              </a:rPr>
              <a:t>对正负样本严重不平衡的场景有着不错的性能，训练过程中更侧重对前景区域的挖掘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298450" marR="5080" indent="-285750">
              <a:lnSpc>
                <a:spcPct val="149700"/>
              </a:lnSpc>
              <a:spcBef>
                <a:spcPts val="5"/>
              </a:spcBef>
              <a:buChar char="•"/>
              <a:tabLst>
                <a:tab pos="297815" algn="l"/>
                <a:tab pos="298450" algn="l"/>
              </a:tabLst>
            </a:pPr>
            <a:r>
              <a:rPr sz="1400" spc="-5" dirty="0">
                <a:latin typeface="Arial"/>
                <a:cs typeface="Arial"/>
              </a:rPr>
              <a:t>Dice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dirty="0">
                <a:latin typeface="宋体"/>
                <a:cs typeface="宋体"/>
              </a:rPr>
              <a:t>是一种区域相关的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spc="-5" dirty="0">
                <a:latin typeface="宋体"/>
                <a:cs typeface="宋体"/>
              </a:rPr>
              <a:t>，</a:t>
            </a:r>
            <a:r>
              <a:rPr sz="1400" dirty="0">
                <a:latin typeface="宋体"/>
                <a:cs typeface="宋体"/>
              </a:rPr>
              <a:t>点的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dirty="0">
                <a:latin typeface="宋体"/>
                <a:cs typeface="宋体"/>
              </a:rPr>
              <a:t>以及梯度值不仅和该点的</a:t>
            </a:r>
            <a:r>
              <a:rPr sz="1400" spc="-5" dirty="0">
                <a:latin typeface="Arial"/>
                <a:cs typeface="Arial"/>
              </a:rPr>
              <a:t>label</a:t>
            </a:r>
            <a:r>
              <a:rPr sz="1400" dirty="0">
                <a:latin typeface="宋体"/>
                <a:cs typeface="宋体"/>
              </a:rPr>
              <a:t>以及预测值相关，和其他点的</a:t>
            </a:r>
            <a:r>
              <a:rPr sz="1400" spc="-5" dirty="0">
                <a:latin typeface="Arial"/>
                <a:cs typeface="Arial"/>
              </a:rPr>
              <a:t>label</a:t>
            </a:r>
            <a:r>
              <a:rPr sz="1400" dirty="0">
                <a:latin typeface="宋体"/>
                <a:cs typeface="宋体"/>
              </a:rPr>
              <a:t>以及预测值也</a:t>
            </a:r>
            <a:r>
              <a:rPr sz="1400" spc="5" dirty="0">
                <a:latin typeface="宋体"/>
                <a:cs typeface="宋体"/>
              </a:rPr>
              <a:t>相 关</a:t>
            </a:r>
            <a:endParaRPr sz="14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2000" b="1" dirty="0">
                <a:latin typeface="宋体"/>
                <a:cs typeface="宋体"/>
              </a:rPr>
              <a:t>缺</a:t>
            </a:r>
            <a:r>
              <a:rPr sz="2000" b="1" spc="-5" dirty="0">
                <a:latin typeface="宋体"/>
                <a:cs typeface="宋体"/>
              </a:rPr>
              <a:t>点</a:t>
            </a:r>
            <a:endParaRPr sz="2000">
              <a:latin typeface="宋体"/>
              <a:cs typeface="宋体"/>
            </a:endParaRPr>
          </a:p>
          <a:p>
            <a:pPr marL="298450" indent="-285750">
              <a:lnSpc>
                <a:spcPct val="100000"/>
              </a:lnSpc>
              <a:spcBef>
                <a:spcPts val="94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400" dirty="0">
                <a:latin typeface="宋体"/>
                <a:cs typeface="宋体"/>
              </a:rPr>
              <a:t>训练</a:t>
            </a:r>
            <a:r>
              <a:rPr sz="1400" spc="-5" dirty="0">
                <a:latin typeface="Arial"/>
                <a:cs typeface="Arial"/>
              </a:rPr>
              <a:t>loss</a:t>
            </a:r>
            <a:r>
              <a:rPr sz="1400" dirty="0">
                <a:latin typeface="宋体"/>
                <a:cs typeface="宋体"/>
              </a:rPr>
              <a:t>容易不稳定，尤其是小目标的情况下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宋体"/>
                <a:cs typeface="宋体"/>
              </a:rPr>
              <a:t>所以我们在比赛中使用</a:t>
            </a:r>
            <a:r>
              <a:rPr sz="1400" spc="-5" dirty="0">
                <a:latin typeface="Arial"/>
                <a:cs typeface="Arial"/>
              </a:rPr>
              <a:t>BCEWithLogitsLoss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配合</a:t>
            </a:r>
            <a:r>
              <a:rPr sz="1400" spc="-5" dirty="0">
                <a:latin typeface="Arial"/>
                <a:cs typeface="Arial"/>
              </a:rPr>
              <a:t>Dice Loss</a:t>
            </a:r>
            <a:r>
              <a:rPr sz="1400" dirty="0">
                <a:latin typeface="宋体"/>
                <a:cs typeface="宋体"/>
              </a:rPr>
              <a:t>来辅助收</a:t>
            </a:r>
            <a:r>
              <a:rPr sz="1400" spc="5" dirty="0">
                <a:latin typeface="宋体"/>
                <a:cs typeface="宋体"/>
              </a:rPr>
              <a:t>敛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249424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257425" cy="375920"/>
          </a:xfrm>
          <a:custGeom>
            <a:avLst/>
            <a:gdLst/>
            <a:ahLst/>
            <a:cxnLst/>
            <a:rect l="l" t="t" r="r" b="b"/>
            <a:pathLst>
              <a:path w="2257425" h="375919">
                <a:moveTo>
                  <a:pt x="225361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253615" y="0"/>
                </a:lnTo>
                <a:lnTo>
                  <a:pt x="2255075" y="292"/>
                </a:lnTo>
                <a:lnTo>
                  <a:pt x="2256307" y="1117"/>
                </a:lnTo>
                <a:lnTo>
                  <a:pt x="2257132" y="2362"/>
                </a:lnTo>
                <a:lnTo>
                  <a:pt x="22574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257425" y="372110"/>
                </a:lnTo>
                <a:lnTo>
                  <a:pt x="2257132" y="373570"/>
                </a:lnTo>
                <a:lnTo>
                  <a:pt x="2256307" y="374802"/>
                </a:lnTo>
                <a:lnTo>
                  <a:pt x="2255075" y="375627"/>
                </a:lnTo>
                <a:lnTo>
                  <a:pt x="2253615" y="375920"/>
                </a:lnTo>
                <a:close/>
              </a:path>
              <a:path w="225742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257425" h="375919">
                <a:moveTo>
                  <a:pt x="22498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249805" y="3810"/>
                </a:lnTo>
                <a:lnTo>
                  <a:pt x="2249805" y="762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2249805" y="3810"/>
                </a:lnTo>
                <a:lnTo>
                  <a:pt x="2253615" y="7620"/>
                </a:lnTo>
                <a:lnTo>
                  <a:pt x="2257425" y="7620"/>
                </a:lnTo>
                <a:lnTo>
                  <a:pt x="2257425" y="368300"/>
                </a:lnTo>
                <a:lnTo>
                  <a:pt x="225361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7620"/>
                </a:moveTo>
                <a:lnTo>
                  <a:pt x="2253615" y="7620"/>
                </a:lnTo>
                <a:lnTo>
                  <a:pt x="2249805" y="3810"/>
                </a:lnTo>
                <a:lnTo>
                  <a:pt x="2257425" y="3810"/>
                </a:lnTo>
                <a:lnTo>
                  <a:pt x="2257425" y="7620"/>
                </a:lnTo>
                <a:close/>
              </a:path>
              <a:path w="225742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24980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372110"/>
                </a:moveTo>
                <a:lnTo>
                  <a:pt x="2249805" y="372110"/>
                </a:lnTo>
                <a:lnTo>
                  <a:pt x="2253615" y="368300"/>
                </a:lnTo>
                <a:lnTo>
                  <a:pt x="2257425" y="368300"/>
                </a:lnTo>
                <a:lnTo>
                  <a:pt x="225742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4719" y="1333207"/>
            <a:ext cx="1849221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2096769"/>
            <a:ext cx="2727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6084" indent="-413384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25450" algn="l"/>
                <a:tab pos="426084" algn="l"/>
              </a:tabLst>
            </a:pPr>
            <a:r>
              <a:rPr sz="2000" b="1" spc="-5" dirty="0">
                <a:latin typeface="Arial"/>
                <a:cs typeface="Arial"/>
              </a:rPr>
              <a:t>Dice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宋体"/>
                <a:cs typeface="宋体"/>
              </a:rPr>
              <a:t>代码实</a:t>
            </a:r>
            <a:r>
              <a:rPr sz="2000" b="1" spc="-5" dirty="0">
                <a:latin typeface="宋体"/>
                <a:cs typeface="宋体"/>
              </a:rPr>
              <a:t>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7319" y="2892551"/>
            <a:ext cx="8503920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3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1563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Loss</a:t>
            </a:r>
            <a:r>
              <a:rPr sz="1800" b="1" spc="-65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function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249424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257425" cy="375920"/>
          </a:xfrm>
          <a:custGeom>
            <a:avLst/>
            <a:gdLst/>
            <a:ahLst/>
            <a:cxnLst/>
            <a:rect l="l" t="t" r="r" b="b"/>
            <a:pathLst>
              <a:path w="2257425" h="375919">
                <a:moveTo>
                  <a:pt x="2253615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253615" y="0"/>
                </a:lnTo>
                <a:lnTo>
                  <a:pt x="2255075" y="292"/>
                </a:lnTo>
                <a:lnTo>
                  <a:pt x="2256307" y="1117"/>
                </a:lnTo>
                <a:lnTo>
                  <a:pt x="2257132" y="2362"/>
                </a:lnTo>
                <a:lnTo>
                  <a:pt x="22574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257425" y="372110"/>
                </a:lnTo>
                <a:lnTo>
                  <a:pt x="2257132" y="373570"/>
                </a:lnTo>
                <a:lnTo>
                  <a:pt x="2256307" y="374802"/>
                </a:lnTo>
                <a:lnTo>
                  <a:pt x="2255075" y="375627"/>
                </a:lnTo>
                <a:lnTo>
                  <a:pt x="2253615" y="375920"/>
                </a:lnTo>
                <a:close/>
              </a:path>
              <a:path w="2257425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257425" h="375919">
                <a:moveTo>
                  <a:pt x="22498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249805" y="3810"/>
                </a:lnTo>
                <a:lnTo>
                  <a:pt x="2249805" y="762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2249805" y="3810"/>
                </a:lnTo>
                <a:lnTo>
                  <a:pt x="2253615" y="7620"/>
                </a:lnTo>
                <a:lnTo>
                  <a:pt x="2257425" y="7620"/>
                </a:lnTo>
                <a:lnTo>
                  <a:pt x="2257425" y="368300"/>
                </a:lnTo>
                <a:lnTo>
                  <a:pt x="225361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7620"/>
                </a:moveTo>
                <a:lnTo>
                  <a:pt x="2253615" y="7620"/>
                </a:lnTo>
                <a:lnTo>
                  <a:pt x="2249805" y="3810"/>
                </a:lnTo>
                <a:lnTo>
                  <a:pt x="2257425" y="3810"/>
                </a:lnTo>
                <a:lnTo>
                  <a:pt x="2257425" y="7620"/>
                </a:lnTo>
                <a:close/>
              </a:path>
              <a:path w="2257425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257425" h="375919">
                <a:moveTo>
                  <a:pt x="2249805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249805" y="368300"/>
                </a:lnTo>
                <a:lnTo>
                  <a:pt x="2249805" y="372110"/>
                </a:lnTo>
                <a:close/>
              </a:path>
              <a:path w="2257425" h="375919">
                <a:moveTo>
                  <a:pt x="2257425" y="372110"/>
                </a:moveTo>
                <a:lnTo>
                  <a:pt x="2249805" y="372110"/>
                </a:lnTo>
                <a:lnTo>
                  <a:pt x="2253615" y="368300"/>
                </a:lnTo>
                <a:lnTo>
                  <a:pt x="2257425" y="368300"/>
                </a:lnTo>
                <a:lnTo>
                  <a:pt x="2257425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249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34719" y="1333207"/>
            <a:ext cx="1849221" cy="2658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2650" y="2096769"/>
            <a:ext cx="5013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96570" indent="-48387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95934" algn="l"/>
                <a:tab pos="496570" algn="l"/>
              </a:tabLst>
            </a:pPr>
            <a:r>
              <a:rPr sz="2000" b="1" spc="-5" dirty="0">
                <a:latin typeface="Arial"/>
                <a:cs typeface="Arial"/>
              </a:rPr>
              <a:t>Dice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Loss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+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BCEWithLogitsLoss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宋体"/>
                <a:cs typeface="宋体"/>
              </a:rPr>
              <a:t>实</a:t>
            </a:r>
            <a:r>
              <a:rPr sz="2000" b="1" spc="-5" dirty="0">
                <a:latin typeface="宋体"/>
                <a:cs typeface="宋体"/>
              </a:rPr>
              <a:t>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83508" y="2688335"/>
            <a:ext cx="4055364" cy="38465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39544" y="1158887"/>
            <a:ext cx="1694180" cy="8483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5" dirty="0">
                <a:solidFill>
                  <a:srgbClr val="006FC0"/>
                </a:solidFill>
                <a:latin typeface="微软雅黑"/>
                <a:cs typeface="微软雅黑"/>
              </a:rPr>
              <a:t>Small</a:t>
            </a:r>
            <a:r>
              <a:rPr sz="1800" b="1" spc="-70" dirty="0">
                <a:solidFill>
                  <a:srgbClr val="006FC0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tricks</a:t>
            </a:r>
            <a:endParaRPr sz="1800">
              <a:latin typeface="微软雅黑"/>
              <a:cs typeface="微软雅黑"/>
            </a:endParaRPr>
          </a:p>
          <a:p>
            <a:pPr marL="366395" indent="-353695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65760" algn="l"/>
                <a:tab pos="366395" algn="l"/>
              </a:tabLst>
            </a:pPr>
            <a:r>
              <a:rPr sz="1800" b="1" dirty="0">
                <a:solidFill>
                  <a:srgbClr val="006FC0"/>
                </a:solidFill>
                <a:latin typeface="微软雅黑"/>
                <a:cs typeface="微软雅黑"/>
              </a:rPr>
              <a:t>模型融合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spc="5" dirty="0">
                <a:solidFill>
                  <a:srgbClr val="4471C4"/>
                </a:solidFill>
                <a:latin typeface="微软雅黑"/>
                <a:cs typeface="微软雅黑"/>
              </a:rPr>
              <a:t>r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icks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95503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962910" cy="375920"/>
          </a:xfrm>
          <a:custGeom>
            <a:avLst/>
            <a:gdLst/>
            <a:ahLst/>
            <a:cxnLst/>
            <a:rect l="l" t="t" r="r" b="b"/>
            <a:pathLst>
              <a:path w="2962910" h="375919">
                <a:moveTo>
                  <a:pt x="295910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959100" y="0"/>
                </a:lnTo>
                <a:lnTo>
                  <a:pt x="2960547" y="292"/>
                </a:lnTo>
                <a:lnTo>
                  <a:pt x="2961792" y="1117"/>
                </a:lnTo>
                <a:lnTo>
                  <a:pt x="2962617" y="2362"/>
                </a:lnTo>
                <a:lnTo>
                  <a:pt x="296291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962910" y="372110"/>
                </a:lnTo>
                <a:lnTo>
                  <a:pt x="2962617" y="373570"/>
                </a:lnTo>
                <a:lnTo>
                  <a:pt x="2961792" y="374802"/>
                </a:lnTo>
                <a:lnTo>
                  <a:pt x="2960547" y="375627"/>
                </a:lnTo>
                <a:lnTo>
                  <a:pt x="2959100" y="375920"/>
                </a:lnTo>
                <a:close/>
              </a:path>
              <a:path w="296291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962910" h="375919">
                <a:moveTo>
                  <a:pt x="295529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955290" y="3810"/>
                </a:lnTo>
                <a:lnTo>
                  <a:pt x="2955290" y="762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2955290" y="3810"/>
                </a:lnTo>
                <a:lnTo>
                  <a:pt x="2959100" y="7620"/>
                </a:lnTo>
                <a:lnTo>
                  <a:pt x="2962910" y="7620"/>
                </a:lnTo>
                <a:lnTo>
                  <a:pt x="2962910" y="368300"/>
                </a:lnTo>
                <a:lnTo>
                  <a:pt x="295910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7620"/>
                </a:moveTo>
                <a:lnTo>
                  <a:pt x="2959100" y="7620"/>
                </a:lnTo>
                <a:lnTo>
                  <a:pt x="2955290" y="3810"/>
                </a:lnTo>
                <a:lnTo>
                  <a:pt x="2962910" y="3810"/>
                </a:lnTo>
                <a:lnTo>
                  <a:pt x="2962910" y="7620"/>
                </a:lnTo>
                <a:close/>
              </a:path>
              <a:path w="296291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95529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372110"/>
                </a:moveTo>
                <a:lnTo>
                  <a:pt x="2955290" y="372110"/>
                </a:lnTo>
                <a:lnTo>
                  <a:pt x="2959100" y="368300"/>
                </a:lnTo>
                <a:lnTo>
                  <a:pt x="2962910" y="368300"/>
                </a:lnTo>
                <a:lnTo>
                  <a:pt x="296291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3096" y="1332572"/>
            <a:ext cx="90961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2977" y="1363687"/>
            <a:ext cx="1654644" cy="253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2650" y="2096769"/>
            <a:ext cx="9918065" cy="3766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495934" algn="l"/>
                <a:tab pos="496570" algn="l"/>
              </a:tabLst>
            </a:pPr>
            <a:r>
              <a:rPr sz="2000" b="1" dirty="0">
                <a:latin typeface="Arial"/>
                <a:cs typeface="Arial"/>
              </a:rPr>
              <a:t>Why </a:t>
            </a:r>
            <a:r>
              <a:rPr sz="2000" b="1" spc="-5" dirty="0">
                <a:latin typeface="Arial"/>
                <a:cs typeface="Arial"/>
              </a:rPr>
              <a:t>target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encoding?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495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宋体"/>
                <a:cs typeface="宋体"/>
              </a:rPr>
              <a:t>目标编码是一种将类别编码为数字的方法，例如单热或标签编码，不同之处在于它还使用目标来创建编码</a:t>
            </a:r>
            <a:r>
              <a:rPr sz="1600" spc="-5" dirty="0">
                <a:latin typeface="宋体"/>
                <a:cs typeface="宋体"/>
              </a:rPr>
              <a:t>。 </a:t>
            </a:r>
            <a:r>
              <a:rPr sz="1600" dirty="0">
                <a:latin typeface="宋体"/>
                <a:cs typeface="宋体"/>
              </a:rPr>
              <a:t>这使它成为我们所说的监督特征工程技术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buChar char="•"/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spc="-25" dirty="0">
                <a:latin typeface="Arial"/>
                <a:cs typeface="Arial"/>
              </a:rPr>
              <a:t>Target </a:t>
            </a:r>
            <a:r>
              <a:rPr sz="1800" b="1" spc="-5" dirty="0">
                <a:latin typeface="Arial"/>
                <a:cs typeface="Arial"/>
              </a:rPr>
              <a:t>Encoding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Trick: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5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宋体"/>
                <a:cs typeface="宋体"/>
              </a:rPr>
              <a:t>目标编码的</a:t>
            </a:r>
            <a:r>
              <a:rPr sz="1600" spc="-5" dirty="0">
                <a:latin typeface="宋体"/>
                <a:cs typeface="宋体"/>
              </a:rPr>
              <a:t>trick</a:t>
            </a:r>
            <a:r>
              <a:rPr sz="1600" dirty="0">
                <a:latin typeface="宋体"/>
                <a:cs typeface="宋体"/>
              </a:rPr>
              <a:t>主要有两种</a:t>
            </a:r>
            <a:r>
              <a:rPr sz="1600" spc="-5" dirty="0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dirty="0">
                <a:latin typeface="宋体"/>
                <a:cs typeface="宋体"/>
              </a:rPr>
              <a:t>1.Smoothing</a:t>
            </a:r>
            <a:endParaRPr sz="1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dirty="0">
                <a:latin typeface="宋体"/>
                <a:cs typeface="宋体"/>
              </a:rPr>
              <a:t>2.k-random </a:t>
            </a:r>
            <a:r>
              <a:rPr sz="1600" b="1" spc="-5" dirty="0">
                <a:latin typeface="宋体"/>
                <a:cs typeface="宋体"/>
              </a:rPr>
              <a:t>folds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spc="5" dirty="0">
                <a:solidFill>
                  <a:srgbClr val="4471C4"/>
                </a:solidFill>
                <a:latin typeface="微软雅黑"/>
                <a:cs typeface="微软雅黑"/>
              </a:rPr>
              <a:t>r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icks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95503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962910" cy="375920"/>
          </a:xfrm>
          <a:custGeom>
            <a:avLst/>
            <a:gdLst/>
            <a:ahLst/>
            <a:cxnLst/>
            <a:rect l="l" t="t" r="r" b="b"/>
            <a:pathLst>
              <a:path w="2962910" h="375919">
                <a:moveTo>
                  <a:pt x="295910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959100" y="0"/>
                </a:lnTo>
                <a:lnTo>
                  <a:pt x="2960547" y="292"/>
                </a:lnTo>
                <a:lnTo>
                  <a:pt x="2961792" y="1117"/>
                </a:lnTo>
                <a:lnTo>
                  <a:pt x="2962617" y="2362"/>
                </a:lnTo>
                <a:lnTo>
                  <a:pt x="296291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962910" y="372110"/>
                </a:lnTo>
                <a:lnTo>
                  <a:pt x="2962617" y="373570"/>
                </a:lnTo>
                <a:lnTo>
                  <a:pt x="2961792" y="374802"/>
                </a:lnTo>
                <a:lnTo>
                  <a:pt x="2960547" y="375627"/>
                </a:lnTo>
                <a:lnTo>
                  <a:pt x="2959100" y="375920"/>
                </a:lnTo>
                <a:close/>
              </a:path>
              <a:path w="296291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962910" h="375919">
                <a:moveTo>
                  <a:pt x="295529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955290" y="3810"/>
                </a:lnTo>
                <a:lnTo>
                  <a:pt x="2955290" y="762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2955290" y="3810"/>
                </a:lnTo>
                <a:lnTo>
                  <a:pt x="2959100" y="7620"/>
                </a:lnTo>
                <a:lnTo>
                  <a:pt x="2962910" y="7620"/>
                </a:lnTo>
                <a:lnTo>
                  <a:pt x="2962910" y="368300"/>
                </a:lnTo>
                <a:lnTo>
                  <a:pt x="295910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7620"/>
                </a:moveTo>
                <a:lnTo>
                  <a:pt x="2959100" y="7620"/>
                </a:lnTo>
                <a:lnTo>
                  <a:pt x="2955290" y="3810"/>
                </a:lnTo>
                <a:lnTo>
                  <a:pt x="2962910" y="3810"/>
                </a:lnTo>
                <a:lnTo>
                  <a:pt x="2962910" y="7620"/>
                </a:lnTo>
                <a:close/>
              </a:path>
              <a:path w="296291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95529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372110"/>
                </a:moveTo>
                <a:lnTo>
                  <a:pt x="2955290" y="372110"/>
                </a:lnTo>
                <a:lnTo>
                  <a:pt x="2959100" y="368300"/>
                </a:lnTo>
                <a:lnTo>
                  <a:pt x="2962910" y="368300"/>
                </a:lnTo>
                <a:lnTo>
                  <a:pt x="296291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3096" y="1332572"/>
            <a:ext cx="90961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2977" y="1363687"/>
            <a:ext cx="1654644" cy="253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2650" y="2096769"/>
            <a:ext cx="16941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Smoothing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650" y="3693286"/>
            <a:ext cx="9970135" cy="2265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400" dirty="0">
                <a:latin typeface="宋体"/>
                <a:cs typeface="宋体"/>
              </a:rPr>
              <a:t>上面这种编码方式叫这种目标编码有时被称为平均编码。应用于二进制目标，也称</a:t>
            </a:r>
            <a:r>
              <a:rPr sz="1400" spc="5" dirty="0">
                <a:latin typeface="宋体"/>
                <a:cs typeface="宋体"/>
              </a:rPr>
              <a:t>为</a:t>
            </a:r>
            <a:r>
              <a:rPr sz="1400" spc="-420" dirty="0">
                <a:latin typeface="宋体"/>
                <a:cs typeface="宋体"/>
              </a:rPr>
              <a:t> </a:t>
            </a:r>
            <a:r>
              <a:rPr sz="1400" spc="-5" dirty="0">
                <a:latin typeface="Calibri"/>
                <a:cs typeface="Calibri"/>
              </a:rPr>
              <a:t>bin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宋体"/>
                <a:cs typeface="宋体"/>
              </a:rPr>
              <a:t>计数。然而，像这样的编码会带</a:t>
            </a:r>
            <a:r>
              <a:rPr sz="1400" spc="5" dirty="0">
                <a:latin typeface="宋体"/>
                <a:cs typeface="宋体"/>
              </a:rPr>
              <a:t>来 </a:t>
            </a:r>
            <a:r>
              <a:rPr sz="1400" dirty="0">
                <a:latin typeface="宋体"/>
                <a:cs typeface="宋体"/>
              </a:rPr>
              <a:t>一些问题。首先是未知类别。目标编码会产生过度拟合的特殊风险，这意味着它们需要在独立的“编码”分割上进行训练。 当您将编码加入到未来的拆分中时</a:t>
            </a:r>
            <a:r>
              <a:rPr sz="1400" spc="-10" dirty="0">
                <a:latin typeface="宋体"/>
                <a:cs typeface="宋体"/>
              </a:rPr>
              <a:t>，</a:t>
            </a:r>
            <a:r>
              <a:rPr sz="1400" spc="-10" dirty="0">
                <a:latin typeface="Calibri"/>
                <a:cs typeface="Calibri"/>
              </a:rPr>
              <a:t>Pandas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宋体"/>
                <a:cs typeface="宋体"/>
              </a:rPr>
              <a:t>将为编码拆分中不存在的任何类别填充缺失值。必须以某种方式估算这些缺</a:t>
            </a:r>
            <a:r>
              <a:rPr sz="1400" spc="5" dirty="0">
                <a:latin typeface="宋体"/>
                <a:cs typeface="宋体"/>
              </a:rPr>
              <a:t>失 </a:t>
            </a:r>
            <a:r>
              <a:rPr sz="1400" dirty="0">
                <a:latin typeface="宋体"/>
                <a:cs typeface="宋体"/>
              </a:rPr>
              <a:t>值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  <a:p>
            <a:pPr marL="355600" marR="107950" indent="-342900">
              <a:lnSpc>
                <a:spcPct val="15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400" dirty="0">
                <a:latin typeface="宋体"/>
                <a:cs typeface="宋体"/>
              </a:rPr>
              <a:t>第二种是稀有种类。当一个类别在数据集中仅出现几次时，对其组计算的任何统计数据都不太可能非常准确。在汽车数</a:t>
            </a:r>
            <a:r>
              <a:rPr sz="1400" spc="5" dirty="0">
                <a:latin typeface="宋体"/>
                <a:cs typeface="宋体"/>
              </a:rPr>
              <a:t>据 </a:t>
            </a:r>
            <a:r>
              <a:rPr sz="1400" dirty="0">
                <a:latin typeface="宋体"/>
                <a:cs typeface="宋体"/>
              </a:rPr>
              <a:t>集中</a:t>
            </a:r>
            <a:r>
              <a:rPr sz="1400" spc="-10" dirty="0">
                <a:latin typeface="宋体"/>
                <a:cs typeface="宋体"/>
              </a:rPr>
              <a:t>，</a:t>
            </a:r>
            <a:r>
              <a:rPr sz="1400" spc="-10" dirty="0">
                <a:latin typeface="Calibri"/>
                <a:cs typeface="Calibri"/>
              </a:rPr>
              <a:t>mercurcy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5" dirty="0">
                <a:latin typeface="Calibri"/>
                <a:cs typeface="Calibri"/>
              </a:rPr>
              <a:t>make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宋体"/>
                <a:cs typeface="宋体"/>
              </a:rPr>
              <a:t>只发生一次。我们计算的“平均”价格只是那辆车的价格，它可能不能很好地代表我们将来可能看</a:t>
            </a:r>
            <a:r>
              <a:rPr sz="1400" spc="5" dirty="0">
                <a:latin typeface="宋体"/>
                <a:cs typeface="宋体"/>
              </a:rPr>
              <a:t>到 </a:t>
            </a:r>
            <a:r>
              <a:rPr sz="1400" dirty="0">
                <a:latin typeface="宋体"/>
                <a:cs typeface="宋体"/>
              </a:rPr>
              <a:t>的任何水星。目标编码稀有类别会使过度拟合的可能性更大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61872" y="2569464"/>
            <a:ext cx="6896100" cy="9677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spc="5" dirty="0">
                <a:solidFill>
                  <a:srgbClr val="4471C4"/>
                </a:solidFill>
                <a:latin typeface="微软雅黑"/>
                <a:cs typeface="微软雅黑"/>
              </a:rPr>
              <a:t>r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icks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95503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962910" cy="375920"/>
          </a:xfrm>
          <a:custGeom>
            <a:avLst/>
            <a:gdLst/>
            <a:ahLst/>
            <a:cxnLst/>
            <a:rect l="l" t="t" r="r" b="b"/>
            <a:pathLst>
              <a:path w="2962910" h="375919">
                <a:moveTo>
                  <a:pt x="295910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959100" y="0"/>
                </a:lnTo>
                <a:lnTo>
                  <a:pt x="2960547" y="292"/>
                </a:lnTo>
                <a:lnTo>
                  <a:pt x="2961792" y="1117"/>
                </a:lnTo>
                <a:lnTo>
                  <a:pt x="2962617" y="2362"/>
                </a:lnTo>
                <a:lnTo>
                  <a:pt x="296291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962910" y="372110"/>
                </a:lnTo>
                <a:lnTo>
                  <a:pt x="2962617" y="373570"/>
                </a:lnTo>
                <a:lnTo>
                  <a:pt x="2961792" y="374802"/>
                </a:lnTo>
                <a:lnTo>
                  <a:pt x="2960547" y="375627"/>
                </a:lnTo>
                <a:lnTo>
                  <a:pt x="2959100" y="375920"/>
                </a:lnTo>
                <a:close/>
              </a:path>
              <a:path w="296291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962910" h="375919">
                <a:moveTo>
                  <a:pt x="295529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955290" y="3810"/>
                </a:lnTo>
                <a:lnTo>
                  <a:pt x="2955290" y="762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2955290" y="3810"/>
                </a:lnTo>
                <a:lnTo>
                  <a:pt x="2959100" y="7620"/>
                </a:lnTo>
                <a:lnTo>
                  <a:pt x="2962910" y="7620"/>
                </a:lnTo>
                <a:lnTo>
                  <a:pt x="2962910" y="368300"/>
                </a:lnTo>
                <a:lnTo>
                  <a:pt x="295910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7620"/>
                </a:moveTo>
                <a:lnTo>
                  <a:pt x="2959100" y="7620"/>
                </a:lnTo>
                <a:lnTo>
                  <a:pt x="2955290" y="3810"/>
                </a:lnTo>
                <a:lnTo>
                  <a:pt x="2962910" y="3810"/>
                </a:lnTo>
                <a:lnTo>
                  <a:pt x="2962910" y="7620"/>
                </a:lnTo>
                <a:close/>
              </a:path>
              <a:path w="296291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95529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372110"/>
                </a:moveTo>
                <a:lnTo>
                  <a:pt x="2955290" y="372110"/>
                </a:lnTo>
                <a:lnTo>
                  <a:pt x="2959100" y="368300"/>
                </a:lnTo>
                <a:lnTo>
                  <a:pt x="2962910" y="368300"/>
                </a:lnTo>
                <a:lnTo>
                  <a:pt x="296291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3096" y="1332572"/>
            <a:ext cx="90961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2977" y="1363687"/>
            <a:ext cx="1654644" cy="253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2650" y="1934889"/>
            <a:ext cx="9918065" cy="292798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Smoothing</a:t>
            </a: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50000"/>
              </a:lnSpc>
              <a:spcBef>
                <a:spcPts val="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宋体"/>
                <a:cs typeface="宋体"/>
              </a:rPr>
              <a:t>解决这些问题的方法是添加平滑。这个想法是将类别内平均值与整体平均值混合在一起。稀有类别在其类</a:t>
            </a:r>
            <a:r>
              <a:rPr sz="1600" spc="-5" dirty="0">
                <a:latin typeface="宋体"/>
                <a:cs typeface="宋体"/>
              </a:rPr>
              <a:t>别 </a:t>
            </a:r>
            <a:r>
              <a:rPr sz="1600" dirty="0">
                <a:latin typeface="宋体"/>
                <a:cs typeface="宋体"/>
              </a:rPr>
              <a:t>平均值上的权重较小，而缺失类别仅获得总体平均值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9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b="1" spc="-5" dirty="0">
                <a:latin typeface="Arial"/>
                <a:cs typeface="Arial"/>
              </a:rPr>
              <a:t>pseudocode</a:t>
            </a:r>
            <a:endParaRPr sz="1600">
              <a:latin typeface="Arial"/>
              <a:cs typeface="Arial"/>
            </a:endParaRPr>
          </a:p>
          <a:p>
            <a:pPr marL="12700" marR="251460" indent="339090">
              <a:lnSpc>
                <a:spcPct val="145300"/>
              </a:lnSpc>
              <a:spcBef>
                <a:spcPts val="90"/>
              </a:spcBef>
            </a:pPr>
            <a:r>
              <a:rPr sz="1600" b="1" spc="-5" dirty="0">
                <a:latin typeface="Arial"/>
                <a:cs typeface="Arial"/>
              </a:rPr>
              <a:t>encoding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=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weight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*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in_category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+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(1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-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weight)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*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overall(</a:t>
            </a:r>
            <a:r>
              <a:rPr sz="1400" b="1" dirty="0">
                <a:latin typeface="宋体"/>
                <a:cs typeface="宋体"/>
              </a:rPr>
              <a:t>其中权重是根据类别频率计算的介</a:t>
            </a:r>
            <a:r>
              <a:rPr sz="1400" b="1" spc="-5" dirty="0">
                <a:latin typeface="宋体"/>
                <a:cs typeface="宋体"/>
              </a:rPr>
              <a:t>于</a:t>
            </a:r>
            <a:r>
              <a:rPr sz="1400" b="1" spc="-310" dirty="0">
                <a:latin typeface="宋体"/>
                <a:cs typeface="宋体"/>
              </a:rPr>
              <a:t> </a:t>
            </a: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spc="-5" dirty="0">
                <a:latin typeface="宋体"/>
                <a:cs typeface="宋体"/>
              </a:rPr>
              <a:t>和</a:t>
            </a:r>
            <a:r>
              <a:rPr sz="1400" b="1" spc="-310" dirty="0">
                <a:latin typeface="宋体"/>
                <a:cs typeface="宋体"/>
              </a:rPr>
              <a:t> </a:t>
            </a:r>
            <a:r>
              <a:rPr sz="1400" b="1" dirty="0">
                <a:latin typeface="Arial"/>
                <a:cs typeface="Arial"/>
              </a:rPr>
              <a:t>1</a:t>
            </a:r>
            <a:r>
              <a:rPr sz="1400" b="1" spc="5" dirty="0">
                <a:latin typeface="Arial"/>
                <a:cs typeface="Arial"/>
              </a:rPr>
              <a:t> </a:t>
            </a:r>
            <a:r>
              <a:rPr sz="1400" b="1" dirty="0">
                <a:latin typeface="宋体"/>
                <a:cs typeface="宋体"/>
              </a:rPr>
              <a:t>之间</a:t>
            </a:r>
            <a:r>
              <a:rPr sz="1400" b="1" spc="-5" dirty="0">
                <a:latin typeface="宋体"/>
                <a:cs typeface="宋体"/>
              </a:rPr>
              <a:t>的 </a:t>
            </a:r>
            <a:r>
              <a:rPr sz="1400" b="1" dirty="0">
                <a:latin typeface="宋体"/>
                <a:cs typeface="宋体"/>
              </a:rPr>
              <a:t>值。</a:t>
            </a:r>
            <a:r>
              <a:rPr sz="1400" b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宋体"/>
                <a:cs typeface="宋体"/>
              </a:rPr>
              <a:t>确定权重值的一种简单方法是计</a:t>
            </a:r>
            <a:r>
              <a:rPr sz="1400" spc="5" dirty="0">
                <a:latin typeface="宋体"/>
                <a:cs typeface="宋体"/>
              </a:rPr>
              <a:t>算</a:t>
            </a:r>
            <a:r>
              <a:rPr sz="1400" spc="-320" dirty="0">
                <a:latin typeface="宋体"/>
                <a:cs typeface="宋体"/>
              </a:rPr>
              <a:t> </a:t>
            </a:r>
            <a:r>
              <a:rPr sz="1400" b="1" spc="-5" dirty="0">
                <a:latin typeface="Arial"/>
                <a:cs typeface="Arial"/>
              </a:rPr>
              <a:t>m-estimate</a:t>
            </a:r>
            <a:r>
              <a:rPr sz="1400" spc="-5" dirty="0">
                <a:latin typeface="宋体"/>
                <a:cs typeface="宋体"/>
              </a:rPr>
              <a:t>：</a:t>
            </a:r>
            <a:r>
              <a:rPr sz="1400" spc="-5" dirty="0">
                <a:latin typeface="Arial"/>
                <a:cs typeface="Arial"/>
              </a:rPr>
              <a:t>weight</a:t>
            </a:r>
            <a:r>
              <a:rPr sz="1400" dirty="0">
                <a:latin typeface="Arial"/>
                <a:cs typeface="Arial"/>
              </a:rPr>
              <a:t> = 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/ </a:t>
            </a:r>
            <a:r>
              <a:rPr sz="1400" spc="-5" dirty="0">
                <a:latin typeface="Arial"/>
                <a:cs typeface="Arial"/>
              </a:rPr>
              <a:t>(n </a:t>
            </a:r>
            <a:r>
              <a:rPr sz="1400" dirty="0">
                <a:latin typeface="Arial"/>
                <a:cs typeface="Arial"/>
              </a:rPr>
              <a:t>+ </a:t>
            </a:r>
            <a:r>
              <a:rPr sz="1400" spc="-5" dirty="0">
                <a:latin typeface="Arial"/>
                <a:cs typeface="Arial"/>
              </a:rPr>
              <a:t>m)</a:t>
            </a:r>
            <a:endParaRPr sz="14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宋体"/>
                <a:cs typeface="宋体"/>
              </a:rPr>
              <a:t>其</a:t>
            </a:r>
            <a:r>
              <a:rPr sz="1400" spc="5" dirty="0">
                <a:latin typeface="宋体"/>
                <a:cs typeface="宋体"/>
              </a:rPr>
              <a:t>中</a:t>
            </a:r>
            <a:r>
              <a:rPr sz="1400" spc="-320" dirty="0">
                <a:latin typeface="宋体"/>
                <a:cs typeface="宋体"/>
              </a:rPr>
              <a:t> </a:t>
            </a:r>
            <a:r>
              <a:rPr sz="1400" dirty="0">
                <a:latin typeface="Arial"/>
                <a:cs typeface="Arial"/>
              </a:rPr>
              <a:t>n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是该类别在数据中出现的总次数</a:t>
            </a:r>
            <a:r>
              <a:rPr sz="1400" spc="5" dirty="0">
                <a:latin typeface="宋体"/>
                <a:cs typeface="宋体"/>
              </a:rPr>
              <a:t>。</a:t>
            </a:r>
            <a:r>
              <a:rPr sz="1400" spc="-320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参</a:t>
            </a:r>
            <a:r>
              <a:rPr sz="1400" spc="5" dirty="0">
                <a:latin typeface="宋体"/>
                <a:cs typeface="宋体"/>
              </a:rPr>
              <a:t>数</a:t>
            </a:r>
            <a:r>
              <a:rPr sz="1400" spc="-315" dirty="0">
                <a:latin typeface="宋体"/>
                <a:cs typeface="宋体"/>
              </a:rPr>
              <a:t> </a:t>
            </a:r>
            <a:r>
              <a:rPr sz="1400" dirty="0">
                <a:latin typeface="Arial"/>
                <a:cs typeface="Arial"/>
              </a:rPr>
              <a:t>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确定</a:t>
            </a:r>
            <a:r>
              <a:rPr sz="1400" spc="-5" dirty="0">
                <a:latin typeface="Arial"/>
                <a:cs typeface="Arial"/>
              </a:rPr>
              <a:t>“</a:t>
            </a:r>
            <a:r>
              <a:rPr sz="1400" dirty="0">
                <a:latin typeface="宋体"/>
                <a:cs typeface="宋体"/>
              </a:rPr>
              <a:t>平滑因子</a:t>
            </a:r>
            <a:r>
              <a:rPr sz="1400" spc="-5" dirty="0">
                <a:latin typeface="Arial"/>
                <a:cs typeface="Arial"/>
              </a:rPr>
              <a:t>”</a:t>
            </a:r>
            <a:r>
              <a:rPr sz="1400" spc="5" dirty="0">
                <a:latin typeface="宋体"/>
                <a:cs typeface="宋体"/>
              </a:rPr>
              <a:t>。</a:t>
            </a:r>
            <a:r>
              <a:rPr sz="1400" spc="-315" dirty="0">
                <a:latin typeface="宋体"/>
                <a:cs typeface="宋体"/>
              </a:rPr>
              <a:t> </a:t>
            </a:r>
            <a:r>
              <a:rPr sz="1400" dirty="0">
                <a:latin typeface="Arial"/>
                <a:cs typeface="Arial"/>
              </a:rPr>
              <a:t>m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值越大，对总体估计的权重越大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9451" y="577506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spc="5" dirty="0">
                <a:solidFill>
                  <a:srgbClr val="4471C4"/>
                </a:solidFill>
                <a:latin typeface="微软雅黑"/>
                <a:cs typeface="微软雅黑"/>
              </a:rPr>
              <a:t>r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icks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4672" y="1275588"/>
            <a:ext cx="295503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0239" y="1272032"/>
            <a:ext cx="2962910" cy="375920"/>
          </a:xfrm>
          <a:custGeom>
            <a:avLst/>
            <a:gdLst/>
            <a:ahLst/>
            <a:cxnLst/>
            <a:rect l="l" t="t" r="r" b="b"/>
            <a:pathLst>
              <a:path w="2962910" h="375919">
                <a:moveTo>
                  <a:pt x="295910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959100" y="0"/>
                </a:lnTo>
                <a:lnTo>
                  <a:pt x="2960547" y="292"/>
                </a:lnTo>
                <a:lnTo>
                  <a:pt x="2961792" y="1117"/>
                </a:lnTo>
                <a:lnTo>
                  <a:pt x="2962617" y="2362"/>
                </a:lnTo>
                <a:lnTo>
                  <a:pt x="296291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962910" y="372110"/>
                </a:lnTo>
                <a:lnTo>
                  <a:pt x="2962617" y="373570"/>
                </a:lnTo>
                <a:lnTo>
                  <a:pt x="2961792" y="374802"/>
                </a:lnTo>
                <a:lnTo>
                  <a:pt x="2960547" y="375627"/>
                </a:lnTo>
                <a:lnTo>
                  <a:pt x="2959100" y="375920"/>
                </a:lnTo>
                <a:close/>
              </a:path>
              <a:path w="296291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962910" h="375919">
                <a:moveTo>
                  <a:pt x="295529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955290" y="3810"/>
                </a:lnTo>
                <a:lnTo>
                  <a:pt x="2955290" y="762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2955290" y="3810"/>
                </a:lnTo>
                <a:lnTo>
                  <a:pt x="2959100" y="7620"/>
                </a:lnTo>
                <a:lnTo>
                  <a:pt x="2962910" y="7620"/>
                </a:lnTo>
                <a:lnTo>
                  <a:pt x="2962910" y="368300"/>
                </a:lnTo>
                <a:lnTo>
                  <a:pt x="295910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7620"/>
                </a:moveTo>
                <a:lnTo>
                  <a:pt x="2959100" y="7620"/>
                </a:lnTo>
                <a:lnTo>
                  <a:pt x="2955290" y="3810"/>
                </a:lnTo>
                <a:lnTo>
                  <a:pt x="2962910" y="3810"/>
                </a:lnTo>
                <a:lnTo>
                  <a:pt x="2962910" y="7620"/>
                </a:lnTo>
                <a:close/>
              </a:path>
              <a:path w="296291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95529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372110"/>
                </a:moveTo>
                <a:lnTo>
                  <a:pt x="2955290" y="372110"/>
                </a:lnTo>
                <a:lnTo>
                  <a:pt x="2959100" y="368300"/>
                </a:lnTo>
                <a:lnTo>
                  <a:pt x="2962910" y="368300"/>
                </a:lnTo>
                <a:lnTo>
                  <a:pt x="296291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4672" y="1303782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53096" y="1332572"/>
            <a:ext cx="90961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32977" y="1363687"/>
            <a:ext cx="1654644" cy="253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2650" y="1941301"/>
            <a:ext cx="5069840" cy="429260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Smoothing</a:t>
            </a:r>
            <a:endParaRPr sz="20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100"/>
              </a:spcBef>
            </a:pPr>
            <a:r>
              <a:rPr sz="1800" b="1" spc="-10" dirty="0">
                <a:latin typeface="Calibri"/>
                <a:cs typeface="Calibri"/>
              </a:rPr>
              <a:t>m-estimate </a:t>
            </a:r>
            <a:r>
              <a:rPr sz="1800" dirty="0">
                <a:latin typeface="宋体"/>
                <a:cs typeface="宋体"/>
              </a:rPr>
              <a:t>示例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dirty="0">
                <a:latin typeface="宋体"/>
                <a:cs typeface="宋体"/>
              </a:rPr>
              <a:t>汽车数据集</a:t>
            </a:r>
            <a:r>
              <a:rPr sz="180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52200"/>
              </a:lnSpc>
              <a:spcBef>
                <a:spcPts val="30"/>
              </a:spcBef>
            </a:pPr>
            <a:r>
              <a:rPr sz="1400" dirty="0">
                <a:latin typeface="宋体"/>
                <a:cs typeface="宋体"/>
              </a:rPr>
              <a:t>在汽车数据集中，有三辆雪佛兰品牌的汽车</a:t>
            </a:r>
            <a:r>
              <a:rPr sz="1400" spc="5" dirty="0">
                <a:latin typeface="宋体"/>
                <a:cs typeface="宋体"/>
              </a:rPr>
              <a:t>。</a:t>
            </a:r>
            <a:r>
              <a:rPr sz="1400" spc="-355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如果选</a:t>
            </a:r>
            <a:r>
              <a:rPr sz="1400" spc="5" dirty="0">
                <a:latin typeface="宋体"/>
                <a:cs typeface="宋体"/>
              </a:rPr>
              <a:t>择</a:t>
            </a:r>
            <a:r>
              <a:rPr sz="1400" spc="-355" dirty="0">
                <a:latin typeface="宋体"/>
                <a:cs typeface="宋体"/>
              </a:rPr>
              <a:t> </a:t>
            </a:r>
            <a:r>
              <a:rPr sz="1400" spc="-5" dirty="0">
                <a:latin typeface="Arial"/>
                <a:cs typeface="Arial"/>
              </a:rPr>
              <a:t>m=2.0</a:t>
            </a:r>
            <a:r>
              <a:rPr sz="1400" spc="-5" dirty="0">
                <a:latin typeface="宋体"/>
                <a:cs typeface="宋体"/>
              </a:rPr>
              <a:t>，  </a:t>
            </a:r>
            <a:r>
              <a:rPr sz="1400" dirty="0">
                <a:latin typeface="宋体"/>
                <a:cs typeface="宋体"/>
              </a:rPr>
              <a:t>则雪佛兰类别将使用雪佛兰平均价格</a:t>
            </a:r>
            <a:r>
              <a:rPr sz="1400" spc="5" dirty="0">
                <a:latin typeface="宋体"/>
                <a:cs typeface="宋体"/>
              </a:rPr>
              <a:t>的</a:t>
            </a:r>
            <a:r>
              <a:rPr sz="1400" spc="-335" dirty="0">
                <a:latin typeface="宋体"/>
                <a:cs typeface="宋体"/>
              </a:rPr>
              <a:t> </a:t>
            </a:r>
            <a:r>
              <a:rPr sz="1400" spc="-5" dirty="0">
                <a:latin typeface="Arial"/>
                <a:cs typeface="Arial"/>
              </a:rPr>
              <a:t>60%</a:t>
            </a:r>
            <a:r>
              <a:rPr sz="1400" dirty="0">
                <a:latin typeface="宋体"/>
                <a:cs typeface="宋体"/>
              </a:rPr>
              <a:t>加上整体平均价</a:t>
            </a:r>
            <a:r>
              <a:rPr sz="1400" spc="5" dirty="0">
                <a:latin typeface="宋体"/>
                <a:cs typeface="宋体"/>
              </a:rPr>
              <a:t>格 的</a:t>
            </a:r>
            <a:r>
              <a:rPr sz="1400" spc="-320" dirty="0">
                <a:latin typeface="宋体"/>
                <a:cs typeface="宋体"/>
              </a:rPr>
              <a:t> </a:t>
            </a:r>
            <a:r>
              <a:rPr sz="1400" dirty="0">
                <a:latin typeface="Arial"/>
                <a:cs typeface="Arial"/>
              </a:rPr>
              <a:t>40%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进行编码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宋体"/>
                <a:cs typeface="宋体"/>
              </a:rPr>
              <a:t>如何选择m值</a:t>
            </a:r>
            <a:r>
              <a:rPr sz="1800" b="1" spc="-10" dirty="0">
                <a:latin typeface="宋体"/>
                <a:cs typeface="宋体"/>
              </a:rPr>
              <a:t>？</a:t>
            </a:r>
            <a:endParaRPr sz="1800">
              <a:latin typeface="宋体"/>
              <a:cs typeface="宋体"/>
            </a:endParaRPr>
          </a:p>
          <a:p>
            <a:pPr marL="12700" marR="71120">
              <a:lnSpc>
                <a:spcPct val="150000"/>
              </a:lnSpc>
              <a:spcBef>
                <a:spcPts val="65"/>
              </a:spcBef>
            </a:pPr>
            <a:r>
              <a:rPr sz="1400" dirty="0">
                <a:latin typeface="宋体"/>
                <a:cs typeface="宋体"/>
              </a:rPr>
              <a:t>在这个问题中，首先需要考虑期望类别的噪声程度，其次需</a:t>
            </a:r>
            <a:r>
              <a:rPr sz="1400" spc="5" dirty="0">
                <a:latin typeface="宋体"/>
                <a:cs typeface="宋体"/>
              </a:rPr>
              <a:t>要 </a:t>
            </a:r>
            <a:r>
              <a:rPr sz="1400" dirty="0">
                <a:latin typeface="宋体"/>
                <a:cs typeface="宋体"/>
              </a:rPr>
              <a:t>考虑实际问题，例如：每个品牌的车辆价格是否有很大差异？  您是否需要大量数据才能获得良好的估计？</a:t>
            </a:r>
            <a:r>
              <a:rPr sz="1400" spc="-55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如果是这样，最</a:t>
            </a:r>
            <a:r>
              <a:rPr sz="1400" spc="5" dirty="0">
                <a:latin typeface="宋体"/>
                <a:cs typeface="宋体"/>
              </a:rPr>
              <a:t>好 </a:t>
            </a:r>
            <a:r>
              <a:rPr sz="1400" dirty="0">
                <a:latin typeface="宋体"/>
                <a:cs typeface="宋体"/>
              </a:rPr>
              <a:t>为</a:t>
            </a:r>
            <a:r>
              <a:rPr sz="1400" spc="-35" dirty="0">
                <a:latin typeface="宋体"/>
                <a:cs typeface="宋体"/>
              </a:rPr>
              <a:t> </a:t>
            </a:r>
            <a:r>
              <a:rPr sz="1400" spc="-5" dirty="0">
                <a:latin typeface="宋体"/>
                <a:cs typeface="宋体"/>
              </a:rPr>
              <a:t>m</a:t>
            </a:r>
            <a:r>
              <a:rPr sz="1400" spc="-35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选择一个更大的值；</a:t>
            </a:r>
            <a:r>
              <a:rPr sz="1400" spc="-35" dirty="0">
                <a:latin typeface="宋体"/>
                <a:cs typeface="宋体"/>
              </a:rPr>
              <a:t> </a:t>
            </a:r>
            <a:r>
              <a:rPr sz="1400" dirty="0">
                <a:latin typeface="宋体"/>
                <a:cs typeface="宋体"/>
              </a:rPr>
              <a:t>如果每个品牌的平均价格相对稳定</a:t>
            </a:r>
            <a:r>
              <a:rPr sz="1400" spc="5" dirty="0">
                <a:latin typeface="宋体"/>
                <a:cs typeface="宋体"/>
              </a:rPr>
              <a:t>，  </a:t>
            </a:r>
            <a:r>
              <a:rPr sz="1400" dirty="0">
                <a:latin typeface="宋体"/>
                <a:cs typeface="宋体"/>
              </a:rPr>
              <a:t>那么较小的值可能是可以的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52615" y="2234183"/>
            <a:ext cx="5210555" cy="36865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spc="5" dirty="0">
                <a:solidFill>
                  <a:srgbClr val="4471C4"/>
                </a:solidFill>
                <a:latin typeface="微软雅黑"/>
                <a:cs typeface="微软雅黑"/>
              </a:rPr>
              <a:t>r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icks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95503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962910" cy="375920"/>
          </a:xfrm>
          <a:custGeom>
            <a:avLst/>
            <a:gdLst/>
            <a:ahLst/>
            <a:cxnLst/>
            <a:rect l="l" t="t" r="r" b="b"/>
            <a:pathLst>
              <a:path w="2962910" h="375919">
                <a:moveTo>
                  <a:pt x="295910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959100" y="0"/>
                </a:lnTo>
                <a:lnTo>
                  <a:pt x="2960547" y="292"/>
                </a:lnTo>
                <a:lnTo>
                  <a:pt x="2961792" y="1117"/>
                </a:lnTo>
                <a:lnTo>
                  <a:pt x="2962617" y="2362"/>
                </a:lnTo>
                <a:lnTo>
                  <a:pt x="296291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962910" y="372110"/>
                </a:lnTo>
                <a:lnTo>
                  <a:pt x="2962617" y="373570"/>
                </a:lnTo>
                <a:lnTo>
                  <a:pt x="2961792" y="374802"/>
                </a:lnTo>
                <a:lnTo>
                  <a:pt x="2960547" y="375627"/>
                </a:lnTo>
                <a:lnTo>
                  <a:pt x="2959100" y="375920"/>
                </a:lnTo>
                <a:close/>
              </a:path>
              <a:path w="296291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962910" h="375919">
                <a:moveTo>
                  <a:pt x="295529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955290" y="3810"/>
                </a:lnTo>
                <a:lnTo>
                  <a:pt x="2955290" y="762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2955290" y="3810"/>
                </a:lnTo>
                <a:lnTo>
                  <a:pt x="2959100" y="7620"/>
                </a:lnTo>
                <a:lnTo>
                  <a:pt x="2962910" y="7620"/>
                </a:lnTo>
                <a:lnTo>
                  <a:pt x="2962910" y="368300"/>
                </a:lnTo>
                <a:lnTo>
                  <a:pt x="295910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7620"/>
                </a:moveTo>
                <a:lnTo>
                  <a:pt x="2959100" y="7620"/>
                </a:lnTo>
                <a:lnTo>
                  <a:pt x="2955290" y="3810"/>
                </a:lnTo>
                <a:lnTo>
                  <a:pt x="2962910" y="3810"/>
                </a:lnTo>
                <a:lnTo>
                  <a:pt x="2962910" y="7620"/>
                </a:lnTo>
                <a:close/>
              </a:path>
              <a:path w="296291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95529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372110"/>
                </a:moveTo>
                <a:lnTo>
                  <a:pt x="2955290" y="372110"/>
                </a:lnTo>
                <a:lnTo>
                  <a:pt x="2959100" y="368300"/>
                </a:lnTo>
                <a:lnTo>
                  <a:pt x="2962910" y="368300"/>
                </a:lnTo>
                <a:lnTo>
                  <a:pt x="296291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3096" y="1332572"/>
            <a:ext cx="90961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2977" y="1363687"/>
            <a:ext cx="1654644" cy="253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2650" y="1941301"/>
            <a:ext cx="9918065" cy="314452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Smoothing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dirty="0">
                <a:latin typeface="宋体"/>
                <a:cs typeface="宋体"/>
              </a:rPr>
              <a:t>目标编码非常适合：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505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宋体"/>
                <a:cs typeface="宋体"/>
              </a:rPr>
              <a:t>高基数特征：具有大量类别的特征可能难以编码：一次性编码会生成太多特征，而替代方案（如标签编码</a:t>
            </a:r>
            <a:r>
              <a:rPr sz="1600" spc="-5" dirty="0">
                <a:latin typeface="宋体"/>
                <a:cs typeface="宋体"/>
              </a:rPr>
              <a:t>） </a:t>
            </a:r>
            <a:r>
              <a:rPr sz="1600" dirty="0">
                <a:latin typeface="宋体"/>
                <a:cs typeface="宋体"/>
              </a:rPr>
              <a:t>可能不适合该特征</a:t>
            </a:r>
            <a:r>
              <a:rPr sz="1600" spc="-5" dirty="0">
                <a:latin typeface="宋体"/>
                <a:cs typeface="宋体"/>
              </a:rPr>
              <a:t>。</a:t>
            </a:r>
            <a:r>
              <a:rPr sz="1600" spc="-355" dirty="0">
                <a:latin typeface="宋体"/>
                <a:cs typeface="宋体"/>
              </a:rPr>
              <a:t> </a:t>
            </a:r>
            <a:r>
              <a:rPr sz="1600" dirty="0">
                <a:latin typeface="宋体"/>
                <a:cs typeface="宋体"/>
              </a:rPr>
              <a:t>目标编码使用特征最重要的属性导出类别的数字：它与目标的关系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355600" marR="208279" indent="-342900">
              <a:lnSpc>
                <a:spcPct val="149500"/>
              </a:lnSpc>
              <a:spcBef>
                <a:spcPts val="10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宋体"/>
                <a:cs typeface="宋体"/>
              </a:rPr>
              <a:t>领域驱动的特征：根据以往的经验，您可能会怀疑分类特征应该很重要，即使它在特征度量上得分很低</a:t>
            </a:r>
            <a:r>
              <a:rPr sz="1600" spc="-5" dirty="0">
                <a:latin typeface="宋体"/>
                <a:cs typeface="宋体"/>
              </a:rPr>
              <a:t>。 </a:t>
            </a:r>
            <a:r>
              <a:rPr sz="1600" dirty="0">
                <a:latin typeface="宋体"/>
                <a:cs typeface="宋体"/>
              </a:rPr>
              <a:t>目标编码可以帮助揭示特征的真实信息量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9451" y="577506"/>
            <a:ext cx="653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spc="5" dirty="0">
                <a:solidFill>
                  <a:srgbClr val="4471C4"/>
                </a:solidFill>
                <a:latin typeface="微软雅黑"/>
                <a:cs typeface="微软雅黑"/>
              </a:rPr>
              <a:t>r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icks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4672" y="1275588"/>
            <a:ext cx="2955036" cy="368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0239" y="1272032"/>
            <a:ext cx="2962910" cy="375920"/>
          </a:xfrm>
          <a:custGeom>
            <a:avLst/>
            <a:gdLst/>
            <a:ahLst/>
            <a:cxnLst/>
            <a:rect l="l" t="t" r="r" b="b"/>
            <a:pathLst>
              <a:path w="2962910" h="375919">
                <a:moveTo>
                  <a:pt x="2959100" y="375920"/>
                </a:moveTo>
                <a:lnTo>
                  <a:pt x="3809" y="375920"/>
                </a:lnTo>
                <a:lnTo>
                  <a:pt x="2349" y="375627"/>
                </a:lnTo>
                <a:lnTo>
                  <a:pt x="1117" y="374802"/>
                </a:lnTo>
                <a:lnTo>
                  <a:pt x="292" y="373570"/>
                </a:lnTo>
                <a:lnTo>
                  <a:pt x="0" y="372110"/>
                </a:lnTo>
                <a:lnTo>
                  <a:pt x="0" y="3810"/>
                </a:lnTo>
                <a:lnTo>
                  <a:pt x="292" y="2362"/>
                </a:lnTo>
                <a:lnTo>
                  <a:pt x="1117" y="1117"/>
                </a:lnTo>
                <a:lnTo>
                  <a:pt x="2349" y="292"/>
                </a:lnTo>
                <a:lnTo>
                  <a:pt x="3809" y="0"/>
                </a:lnTo>
                <a:lnTo>
                  <a:pt x="2959100" y="0"/>
                </a:lnTo>
                <a:lnTo>
                  <a:pt x="2960547" y="292"/>
                </a:lnTo>
                <a:lnTo>
                  <a:pt x="2961792" y="1117"/>
                </a:lnTo>
                <a:lnTo>
                  <a:pt x="2962617" y="2362"/>
                </a:lnTo>
                <a:lnTo>
                  <a:pt x="2962910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368300"/>
                </a:lnTo>
                <a:lnTo>
                  <a:pt x="3809" y="368300"/>
                </a:lnTo>
                <a:lnTo>
                  <a:pt x="7619" y="372110"/>
                </a:lnTo>
                <a:lnTo>
                  <a:pt x="2962910" y="372110"/>
                </a:lnTo>
                <a:lnTo>
                  <a:pt x="2962617" y="373570"/>
                </a:lnTo>
                <a:lnTo>
                  <a:pt x="2961792" y="374802"/>
                </a:lnTo>
                <a:lnTo>
                  <a:pt x="2960547" y="375627"/>
                </a:lnTo>
                <a:lnTo>
                  <a:pt x="2959100" y="375920"/>
                </a:lnTo>
                <a:close/>
              </a:path>
              <a:path w="2962910" h="375919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2962910" h="375919">
                <a:moveTo>
                  <a:pt x="295529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2955290" y="3810"/>
                </a:lnTo>
                <a:lnTo>
                  <a:pt x="2955290" y="762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2955290" y="3810"/>
                </a:lnTo>
                <a:lnTo>
                  <a:pt x="2959100" y="7620"/>
                </a:lnTo>
                <a:lnTo>
                  <a:pt x="2962910" y="7620"/>
                </a:lnTo>
                <a:lnTo>
                  <a:pt x="2962910" y="368300"/>
                </a:lnTo>
                <a:lnTo>
                  <a:pt x="295910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7620"/>
                </a:moveTo>
                <a:lnTo>
                  <a:pt x="2959100" y="7620"/>
                </a:lnTo>
                <a:lnTo>
                  <a:pt x="2955290" y="3810"/>
                </a:lnTo>
                <a:lnTo>
                  <a:pt x="2962910" y="3810"/>
                </a:lnTo>
                <a:lnTo>
                  <a:pt x="2962910" y="7620"/>
                </a:lnTo>
                <a:close/>
              </a:path>
              <a:path w="2962910" h="375919">
                <a:moveTo>
                  <a:pt x="7619" y="372110"/>
                </a:moveTo>
                <a:lnTo>
                  <a:pt x="3809" y="368300"/>
                </a:lnTo>
                <a:lnTo>
                  <a:pt x="7619" y="368300"/>
                </a:lnTo>
                <a:lnTo>
                  <a:pt x="7619" y="372110"/>
                </a:lnTo>
                <a:close/>
              </a:path>
              <a:path w="2962910" h="375919">
                <a:moveTo>
                  <a:pt x="2955290" y="372110"/>
                </a:moveTo>
                <a:lnTo>
                  <a:pt x="7619" y="372110"/>
                </a:lnTo>
                <a:lnTo>
                  <a:pt x="7619" y="368300"/>
                </a:lnTo>
                <a:lnTo>
                  <a:pt x="2955290" y="368300"/>
                </a:lnTo>
                <a:lnTo>
                  <a:pt x="2955290" y="372110"/>
                </a:lnTo>
                <a:close/>
              </a:path>
              <a:path w="2962910" h="375919">
                <a:moveTo>
                  <a:pt x="2962910" y="372110"/>
                </a:moveTo>
                <a:lnTo>
                  <a:pt x="2955290" y="372110"/>
                </a:lnTo>
                <a:lnTo>
                  <a:pt x="2959100" y="368300"/>
                </a:lnTo>
                <a:lnTo>
                  <a:pt x="2962910" y="368300"/>
                </a:lnTo>
                <a:lnTo>
                  <a:pt x="2962910" y="37211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04672" y="1303782"/>
            <a:ext cx="2955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53096" y="1332572"/>
            <a:ext cx="909612" cy="266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032977" y="1363687"/>
            <a:ext cx="1654644" cy="253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2650" y="2096769"/>
            <a:ext cx="9908540" cy="3634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Arial"/>
                <a:cs typeface="Arial"/>
              </a:rPr>
              <a:t>Reverse </a:t>
            </a:r>
            <a:r>
              <a:rPr sz="2000" b="1" spc="-30" dirty="0">
                <a:latin typeface="Arial"/>
                <a:cs typeface="Arial"/>
              </a:rPr>
              <a:t>Target </a:t>
            </a:r>
            <a:r>
              <a:rPr sz="2000" b="1" spc="-5" dirty="0">
                <a:latin typeface="Arial"/>
                <a:cs typeface="Arial"/>
              </a:rPr>
              <a:t>and Count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Encoding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495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latin typeface="宋体"/>
                <a:cs typeface="宋体"/>
              </a:rPr>
              <a:t>对于每个客户和</a:t>
            </a:r>
            <a:r>
              <a:rPr sz="1600" spc="-5" dirty="0">
                <a:latin typeface="Arial"/>
                <a:cs typeface="Arial"/>
              </a:rPr>
              <a:t>/</a:t>
            </a:r>
            <a:r>
              <a:rPr sz="1600" dirty="0">
                <a:latin typeface="宋体"/>
                <a:cs typeface="宋体"/>
              </a:rPr>
              <a:t>或项目，我们可以通过使用</a:t>
            </a:r>
            <a:r>
              <a:rPr sz="1600" spc="-5" dirty="0">
                <a:latin typeface="Arial"/>
                <a:cs typeface="Arial"/>
              </a:rPr>
              <a:t>groupby('customer_id')orgroupby('article_id')</a:t>
            </a:r>
            <a:r>
              <a:rPr sz="1600" dirty="0">
                <a:latin typeface="宋体"/>
                <a:cs typeface="宋体"/>
              </a:rPr>
              <a:t>然后聚合一些统</a:t>
            </a:r>
            <a:r>
              <a:rPr sz="1600" spc="-5" dirty="0">
                <a:latin typeface="宋体"/>
                <a:cs typeface="宋体"/>
              </a:rPr>
              <a:t>计 </a:t>
            </a:r>
            <a:r>
              <a:rPr sz="1600" dirty="0">
                <a:latin typeface="宋体"/>
                <a:cs typeface="宋体"/>
              </a:rPr>
              <a:t>数据来创建新功能。使用此信息，我们可以添加新的候选来推荐或重新排列使用先前算法找到的推荐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69215">
              <a:lnSpc>
                <a:spcPct val="100000"/>
              </a:lnSpc>
              <a:spcBef>
                <a:spcPts val="969"/>
              </a:spcBef>
            </a:pPr>
            <a:r>
              <a:rPr sz="1600" b="1" dirty="0">
                <a:latin typeface="宋体"/>
                <a:cs typeface="宋体"/>
              </a:rPr>
              <a:t>例如</a:t>
            </a:r>
            <a:r>
              <a:rPr sz="1600" b="1" spc="-15" dirty="0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400" spc="5" dirty="0">
                <a:latin typeface="宋体"/>
                <a:cs typeface="宋体"/>
              </a:rPr>
              <a:t>表</a:t>
            </a:r>
            <a:r>
              <a:rPr sz="1400" spc="-400" dirty="0">
                <a:latin typeface="宋体"/>
                <a:cs typeface="宋体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宋体"/>
                <a:cs typeface="宋体"/>
              </a:rPr>
              <a:t>有</a:t>
            </a:r>
            <a:r>
              <a:rPr sz="1600" b="1" spc="-15" dirty="0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600" spc="-5" dirty="0">
                <a:latin typeface="Arial"/>
                <a:cs typeface="Arial"/>
              </a:rPr>
              <a:t>| UserID | ColA |..... | Col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Z|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5" dirty="0">
                <a:latin typeface="宋体"/>
                <a:cs typeface="宋体"/>
              </a:rPr>
              <a:t>表</a:t>
            </a:r>
            <a:r>
              <a:rPr sz="1600" spc="-440" dirty="0">
                <a:latin typeface="宋体"/>
                <a:cs typeface="宋体"/>
              </a:rPr>
              <a:t> </a:t>
            </a:r>
            <a:r>
              <a:rPr sz="1600" spc="-5" dirty="0">
                <a:latin typeface="Calibri"/>
                <a:cs typeface="Calibri"/>
              </a:rPr>
              <a:t>B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dirty="0">
                <a:latin typeface="宋体"/>
                <a:cs typeface="宋体"/>
              </a:rPr>
              <a:t>有</a:t>
            </a:r>
            <a:r>
              <a:rPr sz="1600" spc="-5" dirty="0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400" dirty="0">
                <a:latin typeface="Arial"/>
                <a:cs typeface="Arial"/>
              </a:rPr>
              <a:t>| </a:t>
            </a:r>
            <a:r>
              <a:rPr sz="1400" spc="-5" dirty="0">
                <a:latin typeface="Arial"/>
                <a:cs typeface="Arial"/>
              </a:rPr>
              <a:t>UserID </a:t>
            </a:r>
            <a:r>
              <a:rPr sz="1400" dirty="0">
                <a:latin typeface="Arial"/>
                <a:cs typeface="Arial"/>
              </a:rPr>
              <a:t>| </a:t>
            </a:r>
            <a:r>
              <a:rPr sz="1400" spc="-5" dirty="0">
                <a:latin typeface="Arial"/>
                <a:cs typeface="Arial"/>
              </a:rPr>
              <a:t>Col </a:t>
            </a:r>
            <a:r>
              <a:rPr sz="1400" dirty="0">
                <a:latin typeface="Arial"/>
                <a:cs typeface="Arial"/>
              </a:rPr>
              <a:t>A1 | </a:t>
            </a:r>
            <a:r>
              <a:rPr sz="1400" spc="-5" dirty="0">
                <a:latin typeface="Arial"/>
                <a:cs typeface="Arial"/>
              </a:rPr>
              <a:t>... </a:t>
            </a:r>
            <a:r>
              <a:rPr sz="1400" dirty="0">
                <a:latin typeface="Arial"/>
                <a:cs typeface="Arial"/>
              </a:rPr>
              <a:t>| </a:t>
            </a:r>
            <a:r>
              <a:rPr sz="1400" spc="-5" dirty="0">
                <a:latin typeface="Arial"/>
                <a:cs typeface="Arial"/>
              </a:rPr>
              <a:t>Col</a:t>
            </a:r>
            <a:r>
              <a:rPr sz="1400" spc="-9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Z1|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latin typeface="宋体"/>
                <a:cs typeface="宋体"/>
              </a:rPr>
              <a:t>所以在这里我们可以应用一个计数编码的特征工程，并基于相同的用户</a:t>
            </a:r>
            <a:r>
              <a:rPr sz="1400" spc="-5" dirty="0">
                <a:latin typeface="Arial"/>
                <a:cs typeface="Arial"/>
              </a:rPr>
              <a:t>ID</a:t>
            </a:r>
            <a:r>
              <a:rPr sz="1400" dirty="0">
                <a:latin typeface="宋体"/>
                <a:cs typeface="宋体"/>
              </a:rPr>
              <a:t>合并到</a:t>
            </a:r>
            <a:r>
              <a:rPr sz="1400" spc="-30" dirty="0">
                <a:latin typeface="Arial"/>
                <a:cs typeface="Arial"/>
              </a:rPr>
              <a:t>TableB</a:t>
            </a:r>
            <a:r>
              <a:rPr sz="1400" dirty="0">
                <a:latin typeface="宋体"/>
                <a:cs typeface="宋体"/>
              </a:rPr>
              <a:t>上</a:t>
            </a:r>
            <a:r>
              <a:rPr sz="1400" spc="5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348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GroupKFold 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和</a:t>
            </a:r>
            <a:r>
              <a:rPr sz="1800" spc="-70" dirty="0">
                <a:solidFill>
                  <a:srgbClr val="2D75B6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StratifiedKFold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144" y="1362455"/>
            <a:ext cx="961644" cy="5059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8095" y="1358480"/>
            <a:ext cx="968375" cy="514350"/>
          </a:xfrm>
          <a:custGeom>
            <a:avLst/>
            <a:gdLst/>
            <a:ahLst/>
            <a:cxnLst/>
            <a:rect l="l" t="t" r="r" b="b"/>
            <a:pathLst>
              <a:path w="968375" h="514350">
                <a:moveTo>
                  <a:pt x="964565" y="514350"/>
                </a:moveTo>
                <a:lnTo>
                  <a:pt x="3810" y="514350"/>
                </a:lnTo>
                <a:lnTo>
                  <a:pt x="2349" y="514070"/>
                </a:lnTo>
                <a:lnTo>
                  <a:pt x="1104" y="513245"/>
                </a:lnTo>
                <a:lnTo>
                  <a:pt x="279" y="512000"/>
                </a:lnTo>
                <a:lnTo>
                  <a:pt x="0" y="510540"/>
                </a:lnTo>
                <a:lnTo>
                  <a:pt x="0" y="3810"/>
                </a:lnTo>
                <a:lnTo>
                  <a:pt x="279" y="2362"/>
                </a:lnTo>
                <a:lnTo>
                  <a:pt x="1104" y="1117"/>
                </a:lnTo>
                <a:lnTo>
                  <a:pt x="2349" y="292"/>
                </a:lnTo>
                <a:lnTo>
                  <a:pt x="3810" y="0"/>
                </a:lnTo>
                <a:lnTo>
                  <a:pt x="964565" y="0"/>
                </a:lnTo>
                <a:lnTo>
                  <a:pt x="966012" y="292"/>
                </a:lnTo>
                <a:lnTo>
                  <a:pt x="967257" y="1117"/>
                </a:lnTo>
                <a:lnTo>
                  <a:pt x="968082" y="2362"/>
                </a:lnTo>
                <a:lnTo>
                  <a:pt x="96837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506730"/>
                </a:lnTo>
                <a:lnTo>
                  <a:pt x="3810" y="506730"/>
                </a:lnTo>
                <a:lnTo>
                  <a:pt x="7620" y="510540"/>
                </a:lnTo>
                <a:lnTo>
                  <a:pt x="968375" y="510540"/>
                </a:lnTo>
                <a:lnTo>
                  <a:pt x="968082" y="512000"/>
                </a:lnTo>
                <a:lnTo>
                  <a:pt x="967257" y="513245"/>
                </a:lnTo>
                <a:lnTo>
                  <a:pt x="966012" y="514070"/>
                </a:lnTo>
                <a:lnTo>
                  <a:pt x="964565" y="514350"/>
                </a:lnTo>
                <a:close/>
              </a:path>
              <a:path w="968375" h="51435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968375" h="514350">
                <a:moveTo>
                  <a:pt x="96075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960755" y="3810"/>
                </a:lnTo>
                <a:lnTo>
                  <a:pt x="960755" y="7620"/>
                </a:lnTo>
                <a:close/>
              </a:path>
              <a:path w="968375" h="514350">
                <a:moveTo>
                  <a:pt x="960755" y="510540"/>
                </a:moveTo>
                <a:lnTo>
                  <a:pt x="960755" y="3810"/>
                </a:lnTo>
                <a:lnTo>
                  <a:pt x="964565" y="7620"/>
                </a:lnTo>
                <a:lnTo>
                  <a:pt x="968375" y="7620"/>
                </a:lnTo>
                <a:lnTo>
                  <a:pt x="968375" y="506730"/>
                </a:lnTo>
                <a:lnTo>
                  <a:pt x="964565" y="506730"/>
                </a:lnTo>
                <a:lnTo>
                  <a:pt x="960755" y="510540"/>
                </a:lnTo>
                <a:close/>
              </a:path>
              <a:path w="968375" h="514350">
                <a:moveTo>
                  <a:pt x="968375" y="7620"/>
                </a:moveTo>
                <a:lnTo>
                  <a:pt x="964565" y="7620"/>
                </a:lnTo>
                <a:lnTo>
                  <a:pt x="960755" y="3810"/>
                </a:lnTo>
                <a:lnTo>
                  <a:pt x="968375" y="3810"/>
                </a:lnTo>
                <a:lnTo>
                  <a:pt x="968375" y="7620"/>
                </a:lnTo>
                <a:close/>
              </a:path>
              <a:path w="968375" h="514350">
                <a:moveTo>
                  <a:pt x="7620" y="510540"/>
                </a:moveTo>
                <a:lnTo>
                  <a:pt x="3810" y="506730"/>
                </a:lnTo>
                <a:lnTo>
                  <a:pt x="7620" y="506730"/>
                </a:lnTo>
                <a:lnTo>
                  <a:pt x="7620" y="510540"/>
                </a:lnTo>
                <a:close/>
              </a:path>
              <a:path w="968375" h="514350">
                <a:moveTo>
                  <a:pt x="960755" y="510540"/>
                </a:moveTo>
                <a:lnTo>
                  <a:pt x="7620" y="510540"/>
                </a:lnTo>
                <a:lnTo>
                  <a:pt x="7620" y="506730"/>
                </a:lnTo>
                <a:lnTo>
                  <a:pt x="960755" y="506730"/>
                </a:lnTo>
                <a:lnTo>
                  <a:pt x="960755" y="510540"/>
                </a:lnTo>
                <a:close/>
              </a:path>
              <a:path w="968375" h="514350">
                <a:moveTo>
                  <a:pt x="968375" y="510540"/>
                </a:moveTo>
                <a:lnTo>
                  <a:pt x="960755" y="510540"/>
                </a:lnTo>
                <a:lnTo>
                  <a:pt x="964565" y="506730"/>
                </a:lnTo>
                <a:lnTo>
                  <a:pt x="968375" y="506730"/>
                </a:lnTo>
                <a:lnTo>
                  <a:pt x="968375" y="51054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3259" y="1559356"/>
            <a:ext cx="575779" cy="2125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1288" y="1496910"/>
            <a:ext cx="5104765" cy="1523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Calibri"/>
                <a:cs typeface="Calibri"/>
              </a:rPr>
              <a:t>2.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994"/>
              </a:spcBef>
            </a:pPr>
            <a:r>
              <a:rPr sz="1600" dirty="0">
                <a:latin typeface="宋体"/>
                <a:cs typeface="宋体"/>
              </a:rPr>
              <a:t>大部分</a:t>
            </a:r>
            <a:r>
              <a:rPr sz="1600" spc="-10" dirty="0">
                <a:latin typeface="Calibri"/>
                <a:cs typeface="Calibri"/>
              </a:rPr>
              <a:t>kaggle</a:t>
            </a:r>
            <a:r>
              <a:rPr sz="1600" dirty="0">
                <a:latin typeface="宋体"/>
                <a:cs typeface="宋体"/>
              </a:rPr>
              <a:t>比赛我们都会对原始的数据做交叉验证</a:t>
            </a:r>
            <a:r>
              <a:rPr sz="1600" spc="-5" dirty="0">
                <a:latin typeface="宋体"/>
                <a:cs typeface="宋体"/>
              </a:rPr>
              <a:t>的 </a:t>
            </a:r>
            <a:r>
              <a:rPr sz="1600" dirty="0">
                <a:latin typeface="宋体"/>
                <a:cs typeface="宋体"/>
              </a:rPr>
              <a:t>切分，方便之后的模型融合。本次比赛也是一样。并</a:t>
            </a:r>
            <a:r>
              <a:rPr sz="1600" spc="-5" dirty="0">
                <a:latin typeface="宋体"/>
                <a:cs typeface="宋体"/>
              </a:rPr>
              <a:t>且 </a:t>
            </a:r>
            <a:r>
              <a:rPr sz="1600" dirty="0">
                <a:latin typeface="宋体"/>
                <a:cs typeface="宋体"/>
              </a:rPr>
              <a:t>已经有人帮我们写好了相关的代码，我们直接使用就行</a:t>
            </a:r>
            <a:r>
              <a:rPr sz="1600" spc="-5" dirty="0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473" y="3980878"/>
            <a:ext cx="5080000" cy="215519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dirty="0">
                <a:latin typeface="宋体"/>
                <a:cs typeface="宋体"/>
              </a:rPr>
              <a:t>原</a:t>
            </a:r>
            <a:r>
              <a:rPr sz="1600" spc="-5" dirty="0">
                <a:latin typeface="宋体"/>
                <a:cs typeface="宋体"/>
              </a:rPr>
              <a:t>贴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H&amp;M </a:t>
            </a:r>
            <a:r>
              <a:rPr sz="1600" u="sng" spc="-1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Personalized </a:t>
            </a:r>
            <a:r>
              <a:rPr sz="16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Fashion</a:t>
            </a:r>
            <a:r>
              <a:rPr sz="1600" u="sng" spc="2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Recommendations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33020" marR="5080">
              <a:lnSpc>
                <a:spcPct val="100000"/>
              </a:lnSpc>
            </a:pPr>
            <a:r>
              <a:rPr sz="1600" dirty="0">
                <a:latin typeface="宋体"/>
                <a:cs typeface="宋体"/>
              </a:rPr>
              <a:t>附页：如果对交叉验证和</a:t>
            </a:r>
            <a:r>
              <a:rPr sz="1600" spc="-10" dirty="0">
                <a:latin typeface="Calibri"/>
                <a:cs typeface="Calibri"/>
              </a:rPr>
              <a:t>K-Fold</a:t>
            </a:r>
            <a:r>
              <a:rPr sz="1600" dirty="0">
                <a:latin typeface="宋体"/>
                <a:cs typeface="宋体"/>
              </a:rPr>
              <a:t>不是很了</a:t>
            </a:r>
            <a:r>
              <a:rPr sz="1600" spc="-5" dirty="0">
                <a:latin typeface="宋体"/>
                <a:cs typeface="宋体"/>
              </a:rPr>
              <a:t>解</a:t>
            </a:r>
            <a:r>
              <a:rPr sz="1600" spc="-515" dirty="0">
                <a:latin typeface="宋体"/>
                <a:cs typeface="宋体"/>
              </a:rPr>
              <a:t> </a:t>
            </a:r>
            <a:r>
              <a:rPr sz="1600" dirty="0">
                <a:latin typeface="宋体"/>
                <a:cs typeface="宋体"/>
              </a:rPr>
              <a:t>，建议先看</a:t>
            </a:r>
            <a:r>
              <a:rPr sz="1600" spc="-5" dirty="0">
                <a:latin typeface="宋体"/>
                <a:cs typeface="宋体"/>
              </a:rPr>
              <a:t>这 </a:t>
            </a:r>
            <a:r>
              <a:rPr sz="1600" dirty="0">
                <a:latin typeface="宋体"/>
                <a:cs typeface="宋体"/>
              </a:rPr>
              <a:t>份资料，咱们课程不再做介</a:t>
            </a:r>
            <a:r>
              <a:rPr sz="1600" spc="-5" dirty="0">
                <a:latin typeface="宋体"/>
                <a:cs typeface="宋体"/>
              </a:rPr>
              <a:t>绍</a:t>
            </a:r>
            <a:endParaRPr sz="1600">
              <a:latin typeface="宋体"/>
              <a:cs typeface="宋体"/>
            </a:endParaRPr>
          </a:p>
          <a:p>
            <a:pPr marL="33020" marR="585470">
              <a:lnSpc>
                <a:spcPct val="100000"/>
              </a:lnSpc>
            </a:pP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sklearn</a:t>
            </a:r>
            <a:r>
              <a:rPr sz="16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函数</a:t>
            </a:r>
            <a:r>
              <a:rPr sz="16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：</a:t>
            </a:r>
            <a:r>
              <a:rPr sz="16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KFold</a:t>
            </a:r>
            <a:r>
              <a:rPr sz="16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（</a:t>
            </a:r>
            <a:r>
              <a:rPr sz="16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分割训练集和测试集</a:t>
            </a: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）</a:t>
            </a:r>
            <a:r>
              <a:rPr sz="1600" u="sng" spc="-46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 </a:t>
            </a: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-</a:t>
            </a:r>
            <a:r>
              <a:rPr sz="16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知</a:t>
            </a: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宋体"/>
                <a:cs typeface="宋体"/>
              </a:rPr>
              <a:t>乎 </a:t>
            </a:r>
            <a:r>
              <a:rPr sz="16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(zhihu.com)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57900" y="2278379"/>
            <a:ext cx="5920740" cy="31897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348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GroupKFold 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和</a:t>
            </a:r>
            <a:r>
              <a:rPr sz="1800" spc="-70" dirty="0">
                <a:solidFill>
                  <a:srgbClr val="2D75B6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StratifiedKFold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238" y="1233665"/>
            <a:ext cx="8766810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GroupKFold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sklearn.model_selection.GroupKFold</a:t>
            </a:r>
            <a:endParaRPr sz="1800">
              <a:latin typeface="Calibri"/>
              <a:cs typeface="Calibri"/>
            </a:endParaRPr>
          </a:p>
          <a:p>
            <a:pPr marL="47625" marR="5080">
              <a:lnSpc>
                <a:spcPct val="150000"/>
              </a:lnSpc>
              <a:spcBef>
                <a:spcPts val="1430"/>
              </a:spcBef>
            </a:pPr>
            <a:r>
              <a:rPr sz="1800" dirty="0">
                <a:latin typeface="宋体"/>
                <a:cs typeface="宋体"/>
              </a:rPr>
              <a:t>顾名思义，</a:t>
            </a:r>
            <a:r>
              <a:rPr sz="1800" spc="-5" dirty="0">
                <a:latin typeface="Calibri"/>
                <a:cs typeface="Calibri"/>
              </a:rPr>
              <a:t>G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up</a:t>
            </a:r>
            <a:r>
              <a:rPr sz="1800" dirty="0">
                <a:latin typeface="宋体"/>
                <a:cs typeface="宋体"/>
              </a:rPr>
              <a:t>就是先对数据进行分组，并且保证每一个</a:t>
            </a:r>
            <a:r>
              <a:rPr sz="1800" spc="-5" dirty="0">
                <a:latin typeface="Calibri"/>
                <a:cs typeface="Calibri"/>
              </a:rPr>
              <a:t>G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5" dirty="0">
                <a:latin typeface="Calibri"/>
                <a:cs typeface="Calibri"/>
              </a:rPr>
              <a:t>up</a:t>
            </a:r>
            <a:r>
              <a:rPr sz="1800" dirty="0">
                <a:latin typeface="宋体"/>
                <a:cs typeface="宋体"/>
              </a:rPr>
              <a:t>里面的数据只会同时出 现在训练集或者验证集上。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1936" y="2654807"/>
            <a:ext cx="7085075" cy="3104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348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GroupKFold 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和</a:t>
            </a:r>
            <a:r>
              <a:rPr sz="1800" spc="-70" dirty="0">
                <a:solidFill>
                  <a:srgbClr val="2D75B6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StratifiedKFold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238" y="1233665"/>
            <a:ext cx="8940800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9080" algn="l"/>
              </a:tabLst>
            </a:pPr>
            <a:r>
              <a:rPr sz="1800" spc="-10" dirty="0">
                <a:latin typeface="Calibri"/>
                <a:cs typeface="Calibri"/>
              </a:rPr>
              <a:t>StratifiedKFold	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sklearn.model_selection.StratifiedKFold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1535"/>
              </a:spcBef>
            </a:pPr>
            <a:r>
              <a:rPr sz="1800" spc="-10" dirty="0">
                <a:latin typeface="Calibri"/>
                <a:cs typeface="Calibri"/>
              </a:rPr>
              <a:t>StratifiedKFold</a:t>
            </a:r>
            <a:r>
              <a:rPr sz="1800" dirty="0">
                <a:latin typeface="宋体"/>
                <a:cs typeface="宋体"/>
              </a:rPr>
              <a:t>它会根据数据集的分布来划分，使得</a:t>
            </a:r>
            <a:r>
              <a:rPr sz="1800" spc="-509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划分后的数据集的</a:t>
            </a:r>
            <a:r>
              <a:rPr sz="1800" spc="-5" dirty="0">
                <a:latin typeface="Calibri"/>
                <a:cs typeface="Calibri"/>
              </a:rPr>
              <a:t>label</a:t>
            </a:r>
            <a:r>
              <a:rPr sz="1800" dirty="0">
                <a:latin typeface="宋体"/>
                <a:cs typeface="宋体"/>
              </a:rPr>
              <a:t>分布和原始数 据集近似，也就是构造训练集和测试集分布相同的交叉验证集。这样就能保持数据平衡。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4108" y="3099816"/>
            <a:ext cx="6533388" cy="2342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2238" y="6006312"/>
            <a:ext cx="481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在本次竞赛中，我们使用的就是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StratifiedKFold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39451" y="577506"/>
            <a:ext cx="3486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GroupKFold </a:t>
            </a:r>
            <a:r>
              <a:rPr sz="1800" dirty="0">
                <a:solidFill>
                  <a:srgbClr val="2D75B6"/>
                </a:solidFill>
                <a:latin typeface="微软雅黑"/>
                <a:cs typeface="微软雅黑"/>
              </a:rPr>
              <a:t>和</a:t>
            </a:r>
            <a:r>
              <a:rPr sz="1800" spc="-70" dirty="0">
                <a:solidFill>
                  <a:srgbClr val="2D75B6"/>
                </a:solidFill>
                <a:latin typeface="微软雅黑"/>
                <a:cs typeface="微软雅黑"/>
              </a:rPr>
              <a:t> </a:t>
            </a:r>
            <a:r>
              <a:rPr sz="1800" spc="-5" dirty="0">
                <a:solidFill>
                  <a:srgbClr val="2D75B6"/>
                </a:solidFill>
                <a:latin typeface="微软雅黑"/>
                <a:cs typeface="微软雅黑"/>
              </a:rPr>
              <a:t>StratifiedKFold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238" y="1233665"/>
            <a:ext cx="8940800" cy="1317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9080" algn="l"/>
              </a:tabLst>
            </a:pPr>
            <a:r>
              <a:rPr sz="1800" spc="-10" dirty="0">
                <a:latin typeface="Calibri"/>
                <a:cs typeface="Calibri"/>
              </a:rPr>
              <a:t>StratifiedKFold	</a:t>
            </a:r>
            <a:r>
              <a:rPr sz="1800" u="sng" spc="-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sklearn.model_selection.StratifiedKFold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1535"/>
              </a:spcBef>
            </a:pPr>
            <a:r>
              <a:rPr sz="1800" spc="-10" dirty="0">
                <a:latin typeface="Calibri"/>
                <a:cs typeface="Calibri"/>
              </a:rPr>
              <a:t>StratifiedKFold</a:t>
            </a:r>
            <a:r>
              <a:rPr sz="1800" dirty="0">
                <a:latin typeface="宋体"/>
                <a:cs typeface="宋体"/>
              </a:rPr>
              <a:t>它会根据数据集的分布来划分，使得</a:t>
            </a:r>
            <a:r>
              <a:rPr sz="1800" spc="-509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划分后的数据集的</a:t>
            </a:r>
            <a:r>
              <a:rPr sz="1800" spc="-5" dirty="0">
                <a:latin typeface="Calibri"/>
                <a:cs typeface="Calibri"/>
              </a:rPr>
              <a:t>label</a:t>
            </a:r>
            <a:r>
              <a:rPr sz="1800" dirty="0">
                <a:latin typeface="宋体"/>
                <a:cs typeface="宋体"/>
              </a:rPr>
              <a:t>分布和原始数 据集近似，也就是构造训练集和测试集分布相同的交叉验证集。这样就能保持数据平衡。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64108" y="3099816"/>
            <a:ext cx="6533388" cy="23423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2238" y="6006312"/>
            <a:ext cx="4817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在本次竞赛中，我们使用的就是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StratifiedKFold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28351" y="599097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融合方法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22688" y="1610118"/>
            <a:ext cx="156019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121212"/>
                </a:solidFill>
                <a:latin typeface="Segoe Print"/>
                <a:cs typeface="Segoe Print"/>
              </a:rPr>
              <a:t>Voting</a:t>
            </a:r>
            <a:endParaRPr sz="2400">
              <a:latin typeface="Segoe Print"/>
              <a:cs typeface="Segoe Print"/>
            </a:endParaRP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121212"/>
                </a:solidFill>
                <a:latin typeface="Segoe Print"/>
                <a:cs typeface="Segoe Print"/>
              </a:rPr>
              <a:t>Bagging</a:t>
            </a:r>
            <a:endParaRPr sz="2400">
              <a:latin typeface="Segoe Print"/>
              <a:cs typeface="Segoe Print"/>
            </a:endParaRP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121212"/>
                </a:solidFill>
                <a:latin typeface="Segoe Print"/>
                <a:cs typeface="Segoe Print"/>
              </a:rPr>
              <a:t>Boosting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2688" y="3804678"/>
            <a:ext cx="1592580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121212"/>
                </a:solidFill>
                <a:latin typeface="Segoe Print"/>
                <a:cs typeface="Segoe Print"/>
              </a:rPr>
              <a:t>Blending</a:t>
            </a:r>
            <a:endParaRPr sz="2400">
              <a:latin typeface="Segoe Print"/>
              <a:cs typeface="Segoe Print"/>
            </a:endParaRP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solidFill>
                  <a:srgbClr val="121212"/>
                </a:solidFill>
                <a:latin typeface="Segoe Print"/>
                <a:cs typeface="Segoe Print"/>
              </a:rPr>
              <a:t>Stacking</a:t>
            </a:r>
            <a:endParaRPr sz="2400">
              <a:latin typeface="Segoe Print"/>
              <a:cs typeface="Segoe Print"/>
            </a:endParaRP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121212"/>
                </a:solidFill>
                <a:latin typeface="宋体"/>
                <a:cs typeface="宋体"/>
              </a:rPr>
              <a:t>其他方法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5485" y="2315654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用的少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5485" y="4520780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用的多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28351" y="599097"/>
            <a:ext cx="785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5" dirty="0">
                <a:solidFill>
                  <a:srgbClr val="4471C4"/>
                </a:solidFill>
                <a:latin typeface="微软雅黑"/>
                <a:cs typeface="微软雅黑"/>
              </a:rPr>
              <a:t>V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o</a:t>
            </a: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i</a:t>
            </a: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n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g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0561" y="2378836"/>
            <a:ext cx="7245984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121212"/>
                </a:solidFill>
                <a:latin typeface="微软雅黑"/>
                <a:cs typeface="微软雅黑"/>
              </a:rPr>
              <a:t>Voting</a:t>
            </a:r>
            <a:r>
              <a:rPr sz="1800" dirty="0">
                <a:solidFill>
                  <a:srgbClr val="121212"/>
                </a:solidFill>
                <a:latin typeface="微软雅黑"/>
                <a:cs typeface="微软雅黑"/>
              </a:rPr>
              <a:t>可以说是一种最为简单的模型融合方式。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1800" dirty="0">
                <a:solidFill>
                  <a:srgbClr val="121212"/>
                </a:solidFill>
                <a:latin typeface="微软雅黑"/>
                <a:cs typeface="微软雅黑"/>
              </a:rPr>
              <a:t>假如对于一个二分类模型，有</a:t>
            </a:r>
            <a:r>
              <a:rPr sz="1800" spc="-5" dirty="0">
                <a:solidFill>
                  <a:srgbClr val="121212"/>
                </a:solidFill>
                <a:latin typeface="微软雅黑"/>
                <a:cs typeface="微软雅黑"/>
              </a:rPr>
              <a:t>3</a:t>
            </a:r>
            <a:r>
              <a:rPr sz="1800" dirty="0">
                <a:solidFill>
                  <a:srgbClr val="121212"/>
                </a:solidFill>
                <a:latin typeface="微软雅黑"/>
                <a:cs typeface="微软雅黑"/>
              </a:rPr>
              <a:t>个基础模型，那么就采取投票的方式，投 票多者为最终的分类。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8351" y="599097"/>
            <a:ext cx="9855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71C4"/>
                </a:solidFill>
                <a:latin typeface="微软雅黑"/>
                <a:cs typeface="微软雅黑"/>
              </a:rPr>
              <a:t>B</a:t>
            </a:r>
            <a:r>
              <a:rPr sz="1800" dirty="0">
                <a:solidFill>
                  <a:srgbClr val="4471C4"/>
                </a:solidFill>
                <a:latin typeface="微软雅黑"/>
                <a:cs typeface="微软雅黑"/>
              </a:rPr>
              <a:t>a</a:t>
            </a:r>
            <a:r>
              <a:rPr sz="1800" spc="-5" dirty="0">
                <a:solidFill>
                  <a:srgbClr val="4471C4"/>
                </a:solidFill>
                <a:latin typeface="微软雅黑"/>
                <a:cs typeface="微软雅黑"/>
              </a:rPr>
              <a:t>gg</a:t>
            </a:r>
            <a:r>
              <a:rPr sz="1800" dirty="0">
                <a:solidFill>
                  <a:srgbClr val="4471C4"/>
                </a:solidFill>
                <a:latin typeface="微软雅黑"/>
                <a:cs typeface="微软雅黑"/>
              </a:rPr>
              <a:t>i</a:t>
            </a:r>
            <a:r>
              <a:rPr sz="1800" spc="-5" dirty="0">
                <a:solidFill>
                  <a:srgbClr val="4471C4"/>
                </a:solidFill>
                <a:latin typeface="微软雅黑"/>
                <a:cs typeface="微软雅黑"/>
              </a:rPr>
              <a:t>n</a:t>
            </a:r>
            <a:r>
              <a:rPr sz="1800" dirty="0">
                <a:solidFill>
                  <a:srgbClr val="4471C4"/>
                </a:solidFill>
                <a:latin typeface="微软雅黑"/>
                <a:cs typeface="微软雅黑"/>
              </a:rPr>
              <a:t>g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5129" y="1414018"/>
            <a:ext cx="7313295" cy="1945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95"/>
              </a:spcBef>
            </a:pP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Bagg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i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ng的思想是利用抽样生成不同的训练集，进而训练不同的模型，将这些模型的输出结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果 综合（投票或平均的方式）得到最终的结果</a:t>
            </a:r>
            <a:r>
              <a:rPr sz="1400" spc="5" dirty="0">
                <a:solidFill>
                  <a:srgbClr val="121212"/>
                </a:solidFill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 marR="7620" algn="just">
              <a:lnSpc>
                <a:spcPct val="150000"/>
              </a:lnSpc>
            </a:pP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Bagg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i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ng本质上是利用了模型的多样性，改善算法整体的效果。Bagg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i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ng的重点在于不同训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练 集的生成，这里使用了一种名为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Bootstrap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的方法，即有放回的重复随机抽样，从而生成不</a:t>
            </a:r>
            <a:r>
              <a:rPr sz="1400" spc="5" dirty="0">
                <a:solidFill>
                  <a:srgbClr val="121212"/>
                </a:solidFill>
                <a:latin typeface="微软雅黑"/>
                <a:cs typeface="微软雅黑"/>
              </a:rPr>
              <a:t>同 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的数据集</a:t>
            </a:r>
            <a:r>
              <a:rPr sz="1400" spc="5" dirty="0">
                <a:solidFill>
                  <a:srgbClr val="121212"/>
                </a:solidFill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02535" y="3640835"/>
            <a:ext cx="7924800" cy="26380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8351" y="599097"/>
            <a:ext cx="1058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71C4"/>
                </a:solidFill>
                <a:latin typeface="微软雅黑"/>
                <a:cs typeface="微软雅黑"/>
              </a:rPr>
              <a:t>Boosting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3785" y="1158925"/>
            <a:ext cx="7361555" cy="178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370" algn="just">
              <a:lnSpc>
                <a:spcPct val="150000"/>
              </a:lnSpc>
              <a:spcBef>
                <a:spcPts val="100"/>
              </a:spcBef>
            </a:pP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Boost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i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ng是一种提升算法，其思想是在算法迭代过程中，每次迭代构建新的分类器，重点关注被之前分类器分类错误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的 样本，如此迭代，最终加权平均所有分类器的结果，从而提升分类精度</a:t>
            </a:r>
            <a:r>
              <a:rPr sz="1100" spc="5" dirty="0">
                <a:solidFill>
                  <a:srgbClr val="121212"/>
                </a:solidFill>
                <a:latin typeface="微软雅黑"/>
                <a:cs typeface="微软雅黑"/>
              </a:rPr>
              <a:t>。</a:t>
            </a:r>
            <a:endParaRPr sz="1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  <a:spcBef>
                <a:spcPts val="5"/>
              </a:spcBef>
            </a:pP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Boosting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与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Bagging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相比来说最大的区别就是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Boosting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是串行的，而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Bagging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中所有的分类器是可以同时生成的（分</a:t>
            </a:r>
            <a:r>
              <a:rPr sz="1100" spc="5" dirty="0">
                <a:solidFill>
                  <a:srgbClr val="121212"/>
                </a:solidFill>
                <a:latin typeface="微软雅黑"/>
                <a:cs typeface="微软雅黑"/>
              </a:rPr>
              <a:t>类 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器之间无关系），而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Boosting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中则必须先生成第一个分类器，然后依次往后进行。核心思想是通过改变训练集进行有</a:t>
            </a:r>
            <a:r>
              <a:rPr sz="1100" spc="5" dirty="0">
                <a:solidFill>
                  <a:srgbClr val="121212"/>
                </a:solidFill>
                <a:latin typeface="微软雅黑"/>
                <a:cs typeface="微软雅黑"/>
              </a:rPr>
              <a:t>针 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对性的学习，通过每次更新迭代，增加错误样本的权重，减小正确样本的权重。知错就改，逐渐变好。典型应用为</a:t>
            </a:r>
            <a:r>
              <a:rPr sz="1100" spc="5" dirty="0">
                <a:solidFill>
                  <a:srgbClr val="121212"/>
                </a:solidFill>
                <a:latin typeface="微软雅黑"/>
                <a:cs typeface="微软雅黑"/>
              </a:rPr>
              <a:t>：</a:t>
            </a:r>
            <a:endParaRPr sz="1100">
              <a:latin typeface="微软雅黑"/>
              <a:cs typeface="微软雅黑"/>
            </a:endParaRPr>
          </a:p>
          <a:p>
            <a:pPr marL="12700" algn="just">
              <a:lnSpc>
                <a:spcPct val="100000"/>
              </a:lnSpc>
              <a:spcBef>
                <a:spcPts val="660"/>
              </a:spcBef>
            </a:pP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Adaboost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、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GBDT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和</a:t>
            </a:r>
            <a:r>
              <a:rPr sz="1100" spc="-5" dirty="0">
                <a:solidFill>
                  <a:srgbClr val="121212"/>
                </a:solidFill>
                <a:latin typeface="微软雅黑"/>
                <a:cs typeface="微软雅黑"/>
              </a:rPr>
              <a:t>Xgboost</a:t>
            </a:r>
            <a:r>
              <a:rPr sz="1100" dirty="0">
                <a:solidFill>
                  <a:srgbClr val="121212"/>
                </a:solidFill>
                <a:latin typeface="微软雅黑"/>
                <a:cs typeface="微软雅黑"/>
              </a:rPr>
              <a:t>。流程图如下所示</a:t>
            </a:r>
            <a:r>
              <a:rPr sz="1100" spc="5" dirty="0">
                <a:solidFill>
                  <a:srgbClr val="121212"/>
                </a:solidFill>
                <a:latin typeface="微软雅黑"/>
                <a:cs typeface="微软雅黑"/>
              </a:rPr>
              <a:t>：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34539" y="3043427"/>
            <a:ext cx="7287767" cy="37109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95323" y="461238"/>
            <a:ext cx="9207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宋体"/>
                <a:cs typeface="宋体"/>
              </a:rPr>
              <a:t>讲义</a:t>
            </a:r>
            <a:r>
              <a:rPr sz="2800" b="1" spc="-5" dirty="0">
                <a:latin typeface="Calibri"/>
                <a:cs typeface="Calibri"/>
              </a:rPr>
              <a:t>4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8351" y="599097"/>
            <a:ext cx="1050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471C4"/>
                </a:solidFill>
                <a:latin typeface="微软雅黑"/>
                <a:cs typeface="微软雅黑"/>
              </a:rPr>
              <a:t>Blending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73591" y="1309306"/>
            <a:ext cx="635571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类似概率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voting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用不相交的数据训练不同的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Base</a:t>
            </a:r>
            <a:r>
              <a:rPr sz="1400" spc="-5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400" spc="-5" dirty="0">
                <a:solidFill>
                  <a:srgbClr val="121212"/>
                </a:solidFill>
                <a:latin typeface="微软雅黑"/>
                <a:cs typeface="微软雅黑"/>
              </a:rPr>
              <a:t>Model，</a:t>
            </a:r>
            <a:r>
              <a:rPr sz="1400" dirty="0">
                <a:solidFill>
                  <a:srgbClr val="121212"/>
                </a:solidFill>
                <a:latin typeface="微软雅黑"/>
                <a:cs typeface="微软雅黑"/>
              </a:rPr>
              <a:t>将它们的输出（概率值）取加权平均</a:t>
            </a:r>
            <a:r>
              <a:rPr sz="1400" spc="5" dirty="0">
                <a:solidFill>
                  <a:srgbClr val="121212"/>
                </a:solidFill>
                <a:latin typeface="微软雅黑"/>
                <a:cs typeface="微软雅黑"/>
              </a:rPr>
              <a:t>。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21252" y="2814827"/>
            <a:ext cx="3390900" cy="24582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65766" y="5467070"/>
            <a:ext cx="455612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0000"/>
                </a:solidFill>
                <a:latin typeface="宋体"/>
                <a:cs typeface="宋体"/>
              </a:rPr>
              <a:t>两列数据偏差越小，且方差越大，则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end</a:t>
            </a:r>
            <a:r>
              <a:rPr sz="1600" dirty="0">
                <a:solidFill>
                  <a:srgbClr val="FF0000"/>
                </a:solidFill>
                <a:latin typeface="宋体"/>
                <a:cs typeface="宋体"/>
              </a:rPr>
              <a:t>越有效</a:t>
            </a:r>
            <a:r>
              <a:rPr sz="1600" spc="-5" dirty="0">
                <a:solidFill>
                  <a:srgbClr val="FF0000"/>
                </a:solidFill>
                <a:latin typeface="宋体"/>
                <a:cs typeface="宋体"/>
              </a:rPr>
              <a:t>果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94851" y="4191304"/>
            <a:ext cx="2272030" cy="906780"/>
          </a:xfrm>
          <a:custGeom>
            <a:avLst/>
            <a:gdLst/>
            <a:ahLst/>
            <a:cxnLst/>
            <a:rect l="l" t="t" r="r" b="b"/>
            <a:pathLst>
              <a:path w="2272029" h="906779">
                <a:moveTo>
                  <a:pt x="56908" y="70878"/>
                </a:moveTo>
                <a:lnTo>
                  <a:pt x="0" y="7467"/>
                </a:lnTo>
                <a:lnTo>
                  <a:pt x="84874" y="0"/>
                </a:lnTo>
                <a:lnTo>
                  <a:pt x="75047" y="24904"/>
                </a:lnTo>
                <a:lnTo>
                  <a:pt x="54559" y="24904"/>
                </a:lnTo>
                <a:lnTo>
                  <a:pt x="51765" y="31991"/>
                </a:lnTo>
                <a:lnTo>
                  <a:pt x="69492" y="38985"/>
                </a:lnTo>
                <a:lnTo>
                  <a:pt x="56908" y="70878"/>
                </a:lnTo>
                <a:close/>
              </a:path>
              <a:path w="2272029" h="906779">
                <a:moveTo>
                  <a:pt x="69492" y="38985"/>
                </a:moveTo>
                <a:lnTo>
                  <a:pt x="51765" y="31991"/>
                </a:lnTo>
                <a:lnTo>
                  <a:pt x="54559" y="24904"/>
                </a:lnTo>
                <a:lnTo>
                  <a:pt x="72288" y="31899"/>
                </a:lnTo>
                <a:lnTo>
                  <a:pt x="69492" y="38985"/>
                </a:lnTo>
                <a:close/>
              </a:path>
              <a:path w="2272029" h="906779">
                <a:moveTo>
                  <a:pt x="72288" y="31899"/>
                </a:moveTo>
                <a:lnTo>
                  <a:pt x="54559" y="24904"/>
                </a:lnTo>
                <a:lnTo>
                  <a:pt x="75047" y="24904"/>
                </a:lnTo>
                <a:lnTo>
                  <a:pt x="72288" y="31899"/>
                </a:lnTo>
                <a:close/>
              </a:path>
              <a:path w="2272029" h="906779">
                <a:moveTo>
                  <a:pt x="2269058" y="906754"/>
                </a:moveTo>
                <a:lnTo>
                  <a:pt x="69492" y="38985"/>
                </a:lnTo>
                <a:lnTo>
                  <a:pt x="72288" y="31899"/>
                </a:lnTo>
                <a:lnTo>
                  <a:pt x="2271852" y="899667"/>
                </a:lnTo>
                <a:lnTo>
                  <a:pt x="2269058" y="90675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78495" y="2891027"/>
            <a:ext cx="1199388" cy="2194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51039" y="3000146"/>
            <a:ext cx="528320" cy="318770"/>
          </a:xfrm>
          <a:custGeom>
            <a:avLst/>
            <a:gdLst/>
            <a:ahLst/>
            <a:cxnLst/>
            <a:rect l="l" t="t" r="r" b="b"/>
            <a:pathLst>
              <a:path w="528320" h="318770">
                <a:moveTo>
                  <a:pt x="460536" y="35919"/>
                </a:moveTo>
                <a:lnTo>
                  <a:pt x="442899" y="6515"/>
                </a:lnTo>
                <a:lnTo>
                  <a:pt x="527850" y="0"/>
                </a:lnTo>
                <a:lnTo>
                  <a:pt x="511214" y="26123"/>
                </a:lnTo>
                <a:lnTo>
                  <a:pt x="476872" y="26123"/>
                </a:lnTo>
                <a:lnTo>
                  <a:pt x="460536" y="35919"/>
                </a:lnTo>
                <a:close/>
              </a:path>
              <a:path w="528320" h="318770">
                <a:moveTo>
                  <a:pt x="464454" y="42450"/>
                </a:moveTo>
                <a:lnTo>
                  <a:pt x="460536" y="35919"/>
                </a:lnTo>
                <a:lnTo>
                  <a:pt x="476872" y="26123"/>
                </a:lnTo>
                <a:lnTo>
                  <a:pt x="480796" y="32651"/>
                </a:lnTo>
                <a:lnTo>
                  <a:pt x="464454" y="42450"/>
                </a:lnTo>
                <a:close/>
              </a:path>
              <a:path w="528320" h="318770">
                <a:moveTo>
                  <a:pt x="482092" y="71856"/>
                </a:moveTo>
                <a:lnTo>
                  <a:pt x="464454" y="42450"/>
                </a:lnTo>
                <a:lnTo>
                  <a:pt x="480796" y="32651"/>
                </a:lnTo>
                <a:lnTo>
                  <a:pt x="476872" y="26123"/>
                </a:lnTo>
                <a:lnTo>
                  <a:pt x="511214" y="26123"/>
                </a:lnTo>
                <a:lnTo>
                  <a:pt x="482092" y="71856"/>
                </a:lnTo>
                <a:close/>
              </a:path>
              <a:path w="528320" h="318770">
                <a:moveTo>
                  <a:pt x="3911" y="318604"/>
                </a:moveTo>
                <a:lnTo>
                  <a:pt x="0" y="312064"/>
                </a:lnTo>
                <a:lnTo>
                  <a:pt x="460536" y="35919"/>
                </a:lnTo>
                <a:lnTo>
                  <a:pt x="464454" y="42450"/>
                </a:lnTo>
                <a:lnTo>
                  <a:pt x="3911" y="31860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639" y="3750564"/>
            <a:ext cx="3651504" cy="3444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95323" y="461238"/>
            <a:ext cx="14528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模型融</a:t>
            </a:r>
            <a:r>
              <a:rPr spc="-20" dirty="0"/>
              <a:t>合</a:t>
            </a:r>
          </a:p>
        </p:txBody>
      </p:sp>
      <p:sp>
        <p:nvSpPr>
          <p:cNvPr id="6" name="object 6"/>
          <p:cNvSpPr/>
          <p:nvPr/>
        </p:nvSpPr>
        <p:spPr>
          <a:xfrm>
            <a:off x="757986" y="417982"/>
            <a:ext cx="506869" cy="5068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28351" y="599097"/>
            <a:ext cx="1005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5" dirty="0">
                <a:solidFill>
                  <a:srgbClr val="4471C4"/>
                </a:solidFill>
                <a:latin typeface="微软雅黑"/>
                <a:cs typeface="微软雅黑"/>
              </a:rPr>
              <a:t>S</a:t>
            </a: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t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acki</a:t>
            </a:r>
            <a:r>
              <a:rPr sz="1800" b="1" spc="-5" dirty="0">
                <a:solidFill>
                  <a:srgbClr val="4471C4"/>
                </a:solidFill>
                <a:latin typeface="微软雅黑"/>
                <a:cs typeface="微软雅黑"/>
              </a:rPr>
              <a:t>n</a:t>
            </a:r>
            <a:r>
              <a:rPr sz="1800" b="1" dirty="0">
                <a:solidFill>
                  <a:srgbClr val="4471C4"/>
                </a:solidFill>
                <a:latin typeface="微软雅黑"/>
                <a:cs typeface="微软雅黑"/>
              </a:rPr>
              <a:t>g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5564" y="999451"/>
            <a:ext cx="9790430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60">
              <a:lnSpc>
                <a:spcPct val="150000"/>
              </a:lnSpc>
              <a:spcBef>
                <a:spcPts val="100"/>
              </a:spcBef>
            </a:pP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交叉验证部分：首先将训练数据分为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5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份，接下来一共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5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个迭代，每次迭代时，将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4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份数据作为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spc="-15" dirty="0">
                <a:solidFill>
                  <a:srgbClr val="121212"/>
                </a:solidFill>
                <a:latin typeface="微软雅黑"/>
                <a:cs typeface="微软雅黑"/>
              </a:rPr>
              <a:t>Training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 Set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对每个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 Base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Model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进行训练，然 后在剩下一份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Hold-out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Set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上进行预测。</a:t>
            </a:r>
            <a:r>
              <a:rPr sz="1200" b="1" dirty="0">
                <a:solidFill>
                  <a:srgbClr val="121212"/>
                </a:solidFill>
                <a:latin typeface="微软雅黑"/>
                <a:cs typeface="微软雅黑"/>
              </a:rPr>
              <a:t>同时也要将其在测试数据上的预测保存下来，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对测试数据的全部做出预测。</a:t>
            </a:r>
            <a:r>
              <a:rPr sz="1200" spc="-10" dirty="0">
                <a:solidFill>
                  <a:srgbClr val="FF0000"/>
                </a:solidFill>
                <a:latin typeface="微软雅黑"/>
                <a:cs typeface="微软雅黑"/>
              </a:rPr>
              <a:t>（test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预测矩阵1）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5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个迭代都完成以后我们就获得了一个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900" dirty="0">
                <a:solidFill>
                  <a:srgbClr val="5B9BD4"/>
                </a:solidFill>
                <a:latin typeface="微软雅黑"/>
                <a:cs typeface="微软雅黑"/>
              </a:rPr>
              <a:t>训练数据行数</a:t>
            </a:r>
            <a:r>
              <a:rPr sz="900" spc="-10" dirty="0">
                <a:solidFill>
                  <a:srgbClr val="5B9BD4"/>
                </a:solidFill>
                <a:latin typeface="微软雅黑"/>
                <a:cs typeface="微软雅黑"/>
              </a:rPr>
              <a:t> </a:t>
            </a:r>
            <a:r>
              <a:rPr sz="900" dirty="0">
                <a:solidFill>
                  <a:srgbClr val="5B9BD4"/>
                </a:solidFill>
                <a:latin typeface="微软雅黑"/>
                <a:cs typeface="微软雅黑"/>
              </a:rPr>
              <a:t>x</a:t>
            </a:r>
            <a:r>
              <a:rPr sz="900" spc="-10" dirty="0">
                <a:solidFill>
                  <a:srgbClr val="5B9BD4"/>
                </a:solidFill>
                <a:latin typeface="微软雅黑"/>
                <a:cs typeface="微软雅黑"/>
              </a:rPr>
              <a:t> </a:t>
            </a:r>
            <a:r>
              <a:rPr sz="900" spc="-5" dirty="0">
                <a:solidFill>
                  <a:srgbClr val="5B9BD4"/>
                </a:solidFill>
                <a:latin typeface="微软雅黑"/>
                <a:cs typeface="微软雅黑"/>
              </a:rPr>
              <a:t>Base</a:t>
            </a:r>
            <a:r>
              <a:rPr sz="900" spc="-10" dirty="0">
                <a:solidFill>
                  <a:srgbClr val="5B9BD4"/>
                </a:solidFill>
                <a:latin typeface="微软雅黑"/>
                <a:cs typeface="微软雅黑"/>
              </a:rPr>
              <a:t> </a:t>
            </a:r>
            <a:r>
              <a:rPr sz="900" spc="-5" dirty="0">
                <a:solidFill>
                  <a:srgbClr val="5B9BD4"/>
                </a:solidFill>
                <a:latin typeface="微软雅黑"/>
                <a:cs typeface="微软雅黑"/>
              </a:rPr>
              <a:t>Model</a:t>
            </a:r>
            <a:r>
              <a:rPr sz="900" spc="-10" dirty="0">
                <a:solidFill>
                  <a:srgbClr val="5B9BD4"/>
                </a:solidFill>
                <a:latin typeface="微软雅黑"/>
                <a:cs typeface="微软雅黑"/>
              </a:rPr>
              <a:t> </a:t>
            </a:r>
            <a:r>
              <a:rPr sz="900" dirty="0">
                <a:solidFill>
                  <a:srgbClr val="5B9BD4"/>
                </a:solidFill>
                <a:latin typeface="微软雅黑"/>
                <a:cs typeface="微软雅黑"/>
              </a:rPr>
              <a:t>数量</a:t>
            </a:r>
            <a:r>
              <a:rPr sz="900" spc="-5" dirty="0">
                <a:solidFill>
                  <a:srgbClr val="5B9BD4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的矩阵，这个矩阵接下来作为第二层的</a:t>
            </a:r>
            <a:r>
              <a:rPr sz="1200" spc="-15" dirty="0">
                <a:solidFill>
                  <a:srgbClr val="121212"/>
                </a:solidFill>
                <a:latin typeface="微软雅黑"/>
                <a:cs typeface="微软雅黑"/>
              </a:rPr>
              <a:t> </a:t>
            </a: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Model 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的训练数据，训练完以后，对</a:t>
            </a:r>
            <a:r>
              <a:rPr sz="1200" spc="-10" dirty="0">
                <a:solidFill>
                  <a:srgbClr val="121212"/>
                </a:solidFill>
                <a:latin typeface="微软雅黑"/>
                <a:cs typeface="微软雅黑"/>
              </a:rPr>
              <a:t>test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5" dirty="0">
                <a:solidFill>
                  <a:srgbClr val="121212"/>
                </a:solidFill>
                <a:latin typeface="微软雅黑"/>
                <a:cs typeface="微软雅黑"/>
              </a:rPr>
              <a:t>data</a:t>
            </a: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做预测。</a:t>
            </a:r>
            <a:r>
              <a:rPr sz="1200" spc="-10" dirty="0">
                <a:solidFill>
                  <a:srgbClr val="FF0000"/>
                </a:solidFill>
                <a:latin typeface="微软雅黑"/>
                <a:cs typeface="微软雅黑"/>
              </a:rPr>
              <a:t>（test</a:t>
            </a:r>
            <a:r>
              <a:rPr sz="1200" dirty="0">
                <a:solidFill>
                  <a:srgbClr val="FF0000"/>
                </a:solidFill>
                <a:latin typeface="微软雅黑"/>
                <a:cs typeface="微软雅黑"/>
              </a:rPr>
              <a:t>预测矩阵2）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1200" dirty="0">
                <a:solidFill>
                  <a:srgbClr val="121212"/>
                </a:solidFill>
                <a:latin typeface="微软雅黑"/>
                <a:cs typeface="微软雅黑"/>
              </a:rPr>
              <a:t>这时我们得到了两个预测矩阵，平均后就得到最后的输出。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62178" y="3062896"/>
            <a:ext cx="10867644" cy="3511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2666</Words>
  <Application>Microsoft Office PowerPoint</Application>
  <PresentationFormat>宽屏</PresentationFormat>
  <Paragraphs>456</Paragraphs>
  <Slides>59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68" baseType="lpstr">
      <vt:lpstr>Microsoft YaHei UI</vt:lpstr>
      <vt:lpstr>MS UI Gothic</vt:lpstr>
      <vt:lpstr>宋体</vt:lpstr>
      <vt:lpstr>微软雅黑</vt:lpstr>
      <vt:lpstr>Arial</vt:lpstr>
      <vt:lpstr>Calibri</vt:lpstr>
      <vt:lpstr>Segoe Print</vt:lpstr>
      <vt:lpstr>Times New Roman</vt:lpstr>
      <vt:lpstr>Office Theme</vt:lpstr>
      <vt:lpstr>PowerPoint 演示文稿</vt:lpstr>
      <vt:lpstr>PowerPoint 演示文稿</vt:lpstr>
      <vt:lpstr>理解比赛</vt:lpstr>
      <vt:lpstr>理解比赛</vt:lpstr>
      <vt:lpstr>理解比赛</vt:lpstr>
      <vt:lpstr>理解比赛</vt:lpstr>
      <vt:lpstr>理解比赛</vt:lpstr>
      <vt:lpstr>理解比赛</vt:lpstr>
      <vt:lpstr>理解比赛</vt:lpstr>
      <vt:lpstr>PowerPoint 演示文稿</vt:lpstr>
      <vt:lpstr>PowerPoint 演示文稿</vt:lpstr>
      <vt:lpstr>PowerPoint 演示文稿</vt:lpstr>
      <vt:lpstr>PowerPoint 演示文稿</vt:lpstr>
      <vt:lpstr>理解Kaggle</vt:lpstr>
      <vt:lpstr>理解Kaggle</vt:lpstr>
      <vt:lpstr>理解Kaggle</vt:lpstr>
      <vt:lpstr>PowerPoint 演示文稿</vt:lpstr>
      <vt:lpstr>H&amp;M 推荐系统比赛思路</vt:lpstr>
      <vt:lpstr>H&amp;M 推荐系统比赛思路</vt:lpstr>
      <vt:lpstr>H&amp;M 推荐系统比赛思路</vt:lpstr>
      <vt:lpstr>H&amp;M 推荐系统比赛思路</vt:lpstr>
      <vt:lpstr>H&amp;M 推荐系统比赛思路</vt:lpstr>
      <vt:lpstr>H&amp;M 高分模型 SAR</vt:lpstr>
      <vt:lpstr>H&amp;M 高分模型 SAR</vt:lpstr>
      <vt:lpstr>H&amp;M 高分模型 SAR</vt:lpstr>
      <vt:lpstr>PowerPoint 演示文稿</vt:lpstr>
      <vt:lpstr>H&amp;M 高分模型 SAR</vt:lpstr>
      <vt:lpstr>H&amp;M 高分模型 SAR</vt:lpstr>
      <vt:lpstr>H&amp;M 高分模型 SAR</vt:lpstr>
      <vt:lpstr>H&amp;M 高分模型 SAR</vt:lpstr>
      <vt:lpstr>PowerPoint 演示文稿</vt:lpstr>
      <vt:lpstr>Coo_matrix and csr matrix</vt:lpstr>
      <vt:lpstr>Coo_matrix and csr matrix</vt:lpstr>
      <vt:lpstr>Loss function</vt:lpstr>
      <vt:lpstr>Loss function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GroupKFold 和 StratifiedKFold</vt:lpstr>
      <vt:lpstr>GroupKFold 和 StratifiedKFold</vt:lpstr>
      <vt:lpstr>GroupKFold 和 StratifiedKFold</vt:lpstr>
      <vt:lpstr>GroupKFold 和 StratifiedKFold</vt:lpstr>
      <vt:lpstr>PowerPoint 演示文稿</vt:lpstr>
      <vt:lpstr>PowerPoint 演示文稿</vt:lpstr>
      <vt:lpstr>Bagging</vt:lpstr>
      <vt:lpstr>Boosting</vt:lpstr>
      <vt:lpstr>Blending</vt:lpstr>
      <vt:lpstr>模型融合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程 诗沁</cp:lastModifiedBy>
  <cp:revision>1</cp:revision>
  <dcterms:created xsi:type="dcterms:W3CDTF">2022-10-11T13:33:49Z</dcterms:created>
  <dcterms:modified xsi:type="dcterms:W3CDTF">2022-10-11T13:40:40Z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2022-04-30T00:00:00Z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2022-10-11T00:00:00Z</vt:filetime>
  </property>
</Properties>
</file>